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0" r:id="rId6"/>
  </p:sldIdLst>
  <p:sldSz cx="9906000" cy="6858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41" autoAdjust="0"/>
    <p:restoredTop sz="97201" autoAdjust="0"/>
  </p:normalViewPr>
  <p:slideViewPr>
    <p:cSldViewPr snapToGrid="0">
      <p:cViewPr varScale="1">
        <p:scale>
          <a:sx n="111" d="100"/>
          <a:sy n="111" d="100"/>
        </p:scale>
        <p:origin x="258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7:52:46.903"/>
    </inkml:context>
    <inkml:brush xml:id="br0">
      <inkml:brushProperty name="width" value="0.1" units="cm"/>
      <inkml:brushProperty name="height" value="0.2" units="cm"/>
      <inkml:brushProperty name="color" value="#86D0FE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0,'589'7'0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2:51.203"/>
    </inkml:context>
    <inkml:brush xml:id="br0">
      <inkml:brushProperty name="width" value="0.1" units="cm"/>
      <inkml:brushProperty name="height" value="0.2" units="cm"/>
      <inkml:brushProperty name="color" value="#86D0FE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0,'272'7,"45"0,-189-5,134-5,-215-2,45-3,-86 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7:53:06.674"/>
    </inkml:context>
    <inkml:brush xml:id="br0">
      <inkml:brushProperty name="width" value="0.1" units="cm"/>
      <inkml:brushProperty name="height" value="0.2" units="cm"/>
      <inkml:brushProperty name="color" value="#86D0FE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0,'1316'0'0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3:17.045"/>
    </inkml:context>
    <inkml:brush xml:id="br0">
      <inkml:brushProperty name="width" value="0.1" units="cm"/>
      <inkml:brushProperty name="height" value="0.2" units="cm"/>
      <inkml:brushProperty name="color" value="#86D0FE"/>
      <inkml:brushProperty name="tip" value="rectangle"/>
      <inkml:brushProperty name="rasterOp" value="maskPen"/>
      <inkml:brushProperty name="ignorePressure" value="1"/>
    </inkml:brush>
  </inkml:definitions>
  <inkml:trace contextRef="#ctx0" brushRef="#br0">0 9,'252'-6,"-126"3,131 6,9 4,-194-8,-61 0,-9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3:25.289"/>
    </inkml:context>
    <inkml:brush xml:id="br0">
      <inkml:brushProperty name="width" value="0.1" units="cm"/>
      <inkml:brushProperty name="height" value="0.2" units="cm"/>
      <inkml:brushProperty name="color" value="#86D0FE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0,'33'2,"0"1,37 9,-14-2,116 10,-86-7,185 0,-265-13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3:28.646"/>
    </inkml:context>
    <inkml:brush xml:id="br0">
      <inkml:brushProperty name="width" value="0.1" units="cm"/>
      <inkml:brushProperty name="height" value="0.2" units="cm"/>
      <inkml:brushProperty name="color" value="#86D0FE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1,'192'6,"-186"-6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3:33.023"/>
    </inkml:context>
    <inkml:brush xml:id="br0">
      <inkml:brushProperty name="width" value="0.1" units="cm"/>
      <inkml:brushProperty name="height" value="0.2" units="cm"/>
      <inkml:brushProperty name="color" value="#86D0FE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0,'662'7,"-477"-7,-179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3:46.825"/>
    </inkml:context>
    <inkml:brush xml:id="br0">
      <inkml:brushProperty name="width" value="0.1" units="cm"/>
      <inkml:brushProperty name="height" value="0.2" units="cm"/>
      <inkml:brushProperty name="color" value="#86D0FE"/>
      <inkml:brushProperty name="tip" value="rectangle"/>
      <inkml:brushProperty name="rasterOp" value="maskPen"/>
      <inkml:brushProperty name="ignorePressure" value="1"/>
    </inkml:brush>
  </inkml:definitions>
  <inkml:trace contextRef="#ctx0" brushRef="#br0">0 7,'550'0,"-385"-6,0 12,-39 1,106 0,-205-2,-22-4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3:57.321"/>
    </inkml:context>
    <inkml:brush xml:id="br0">
      <inkml:brushProperty name="width" value="0.1" units="cm"/>
      <inkml:brushProperty name="height" value="0.2" units="cm"/>
      <inkml:brushProperty name="color" value="#86D0FE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51,'137'2,"144"-4,-157-18,-35 8,-53 6,65-2,-59 6,-28 0,1 2,-1 0,16 2,62 24,-88-25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4:12.873"/>
    </inkml:context>
    <inkml:brush xml:id="br0">
      <inkml:brushProperty name="width" value="0.1" units="cm"/>
      <inkml:brushProperty name="height" value="0.2" units="cm"/>
      <inkml:brushProperty name="color" value="#86D0FE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1,'278'20,"867"-20,-927 13,-94-9,-61 0,74-6,15-11,-102 7,52-1,-96 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4:16.183"/>
    </inkml:context>
    <inkml:brush xml:id="br0">
      <inkml:brushProperty name="width" value="0.1" units="cm"/>
      <inkml:brushProperty name="height" value="0.2" units="cm"/>
      <inkml:brushProperty name="color" value="#86D0FE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0,'1158'0,"-992"7,19-7,-180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7:56:03.829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0,'681'7'0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7:56:05.797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0,'536'6'0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6:07.621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16,'252'-13,"-137"10,120 6,-202 3,-27-6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6:09.443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1 7,'0'0,"1"-1,-1 0,1 1,0-1,-1 1,1-1,0 1,0-1,-1 1,1 0,0-1,0 1,0 0,-1 0,1-1,0 1,0 0,0 0,0 0,0 0,-1 0,3 0,26 1,-24-1,173 6,166 1,-338-7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6:21.927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35,'845'0,"-750"-7,77-13,-161 19,37-3,0 2,50 3,54 19,-95-7,-47-9,0-1,0-1,1 0,16 1,-21-3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6:24.479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48,'550'0,"-473"-14,44 1,91 0,6 6,-151 6,71 2,-115 1,37 6,-55-7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6:45.702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0,'265'7,"-34"6,-146-15,88 4,-139 2,-21-1,1-2,0 1,0-2,0 1,0-2,-1 0,19-4,-27 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6:53.787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1,'1059'0,"-895"13,69 7,-55-14,-56-8,125 4,-159 7,57 2,-78-9,170-4,8-11,-179 6,-60 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7:04.487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1,'948'0,"-751"6,315-6,-386 7,100 6,-77 1,-7-6,138 3,996-11,-1190-14,-44 11,122-6,-159 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7:10.196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16,'132'-13,"24"11,134 4,279 6,-347-9,-157-8,-61 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7:33.607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13,'424'6,"-420"-6,271 7,-231-5,57-4,21 0,27-3,-103 0,53-3,-77 4,-17 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7:47.229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1,'246'7,"-3"-4,3 0,116 4,-241-7,11 6,-69-7,66 2,-114 3,-10-3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8:01.710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33,'155'-7,"325"7,-341-13,-20 7,-91 1,-23 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8:06.823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16,'242'-13,"84"10,-168 6,55 4,-94-7,-113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8:09.804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1,'67'1,"118"16,-159-15,-20-2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8:17.791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0,'225'7,"312"2,-321-12,-69-3,-141 6,0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7:58:21.369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0,'847'26'0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7:58:28.868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0,'2600'0'0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8:35.068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14,'138'-2,"142"4,-135 4,460 8,-450-14,-17-7,-41-1,-54 3,84-7,-122 11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7:59:11.031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0,'1250'26'0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7:59:27.292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0 6 0,'1998'-6'0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7:59:30.401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0,'2097'7'0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7:59:37.472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 0,'1476'-13'0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9:39.646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29,'130'2,"134"-4,15-11,-139 6,349-2,-290 12,-193-3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7:59:41.774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1,'1369'0,"-1363"0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0:02.171"/>
    </inkml:context>
    <inkml:brush xml:id="br0">
      <inkml:brushProperty name="width" value="0.1" units="cm"/>
      <inkml:brushProperty name="height" value="0.2" units="cm"/>
      <inkml:brushProperty name="color" value="#FEE786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41,'100'-13,"151"6,-85 1,502 6,-483-7,319 0,-343 8,71 5,56 1,655-5,-510-4,-499 1,-69 2,-176 40,271-36,0-2,-62-2,-22 1,-221 1,179-5,-603-5,-965 7,1728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8:06:24.043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0,'2494'6'0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6:25.909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7,'170'-2,"175"4,323 7,-391-11,202 2,-341-7,7 0,-139 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6:28.147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13,'81'-6,"421"6,-370-7,126 7,-252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6:31.200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14,'133'-13,"39"13,-167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6:34.911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8,'124'2,"129"-4,99-6,-227 9,-52 10,-14-2,-58-8,45 6,-45-6,-1-1,1 0,-1 0,1 1,-1-1,1 0,-1 0,1 1,-1-1,0 0,1 1,-1-1,1 1,-1-1,0 1,1-1,-1 1,0-1,0 1,1-1,-1 1,0-1,0 1,0-1,0 1,0 1,0-1,-1 0,1 0,0 1,-1-1,0 0,1 0,-1 0,0 0,1 0,-1 0,0 0,0 0,0 0,0 0,-1 0,-17 17,16-14,1-1,-1 0,-1 0,1-1,0 1,-1 0,1-1,-1 0,0 0,0 0,0 0,0-1,0 0,0 1,0-2,0 1,-7 0,-75 12,60-12,19 0,0 0,0-1,0 0,1 0,-1 0,0-1,-9-2,75-8,-31 7,54 0,-82 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6:39.561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158 1,'9'-1,"1"1,-1 1,1-1,0 1,-1 1,1 0,-1 0,0 1,17 8,-25-11,-1 0,1 1,-1-1,0 0,1 1,-1-1,0 1,1-1,-1 0,0 1,0-1,1 1,-1-1,0 1,0-1,0 1,0-1,0 1,1-1,-1 1,0-1,0 1,0-1,0 1,-1-1,1 1,0-1,0 1,0-1,0 1,-1 0,-12 21,-22 14,-58 16,152-46,-83-5,1 2,1 0,-1 2,-38 12,32-9,21-6,31-1,-9-1,-8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6:45.626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0,'1349'0,"-1217"7,193-1,-247-7,82 3,342 7,-296-12,-162 5,-29-1,1 0,-1-1,0-1,24-3,28-9,-45 9,-17 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6:49.738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14,'150'3,"157"-6,124-5,-274 9,40 13,-56-8,-70-4,76-4,-71-6,79-4,-15 6,150 6,-284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6:52.130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16,'5'-3,"0"1,0 1,0-1,1 1,-1 0,0 0,8 0,-9 1,43-3,-1 2,1 3,0 1,77 17,-60-10,105 22,-143-28,46 0,-59-4,118 7,16 6,-46-3,-71-6,44 2,93 1,936-7,-1098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6:57.135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0,'1'2,"-1"-1,0 0,1 0,-1 0,0 1,1-1,0 0,-1 0,1 0,0 0,-1 0,1 0,0 0,0 0,0 0,0 0,0-1,0 1,0 0,0-1,0 1,0-1,1 1,-1-1,0 1,0-1,0 0,1 1,1-1,51 5,-28-3,10 2,1-2,69-4,-25 0,1854 2,-1823 13,569-13,-555-7,-116 5,-5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6:57.953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14,'99'-13,"-93"13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8:07:08.158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0,'3096'92'0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1T18:07:13.985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0,'748'0'0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7:17.772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46,'1'-1,"-1"1,1-1,0 0,0 0,-1 0,1 1,0-1,0 0,0 1,0-1,0 1,0-1,0 1,0 0,0-1,0 1,0 0,0 0,0 0,1-1,31-4,-26 4,139-16,-102 11,0 3,1 1,54 5,-3 0,37-6,140 6,-121 3,-1-3,9 1,51-1,1 1,-212-4,0 0,0 0,0 0,0 0,0 0,-1 1,1-1,0 0,0 0,0 0,0 0,0 0,0 1,0-1,0 0,0 0,0 0,0 0,0 1,1-1,-1 0,0 0,0 0,0 0,0 0,0 1,0-1,0 0,0 0,0 0,0 0,1 0,-1 0,0 1,0-1,0 0,0 0,0 0,1 0,-1 0,0 0,0 0,0 0,0 0,0 0,1 0,-1 0,0 0,0 0,0 0,0 0,1 0,-1 0,0 0,0 0,0 0,0 0,1 0,-1 0,0 0,0 0,-12 5,7-4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7:18.869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1,'351'20,"-140"-14,-149-8,-40 0,0 1,1 1,-1 1,32 6,-48-6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7:24.231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1,'226'9,"-176"-6,149 20,-51-5,-109-12,21 1,78 3,-7 0,30-4,625-6,-668-6,82-1,-95 7,-99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7:27.034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262 2,'-82'-2,"-87"4,163-1,2 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7:29.316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27,'86'-11,"-20"1,-58 10,60-6,127 6,-135 7,-55-7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7:30.872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0,'33'2,"0"1,54 12,-27-3,1-6,-1-1,75-5,64 4,110 3,-208-8,-95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7:37.011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1,'278'6,"505"-3,-390-6,-114 17,157-14,-430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7:39.364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1,'222'7,"344"0,-392-8,-3-6,509 7,-573 10,-75-5,46 1,-72-7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7:39.617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0,'1'0,"2"0,1 0,1 0,1 0,-1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7:40.583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7,'595'-6,"-555"6,-35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7:42.711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0,'0'1,"0"0,1 1,-1-1,1 0,-1 0,1 0,-1 0,1-1,0 1,0 0,-1 0,1 0,0 0,0-1,0 1,0 0,0-1,0 1,0-1,0 1,0-1,0 0,0 1,0-1,0 0,0 0,1 1,-1-1,0 0,2-1,41 2,-38-1,108 3,-67 0,0-2,50-6,55-1,-55 4,842-8,-565 13,-216 4,-151-7,-2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8:06.410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40,'127'-4,"69"2,-29 15,261-6,-273-8,-19-5,-97 3,164-7,-85 8,122 4,155 5,-270-8,67-12,-47 0,-33-1,-106 14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8:10.694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3,'148'-2,"153"4,162 18,359-20,-669-13,51 6,-171 7,-28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8:12.555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1 49,'195'8,"-105"-3,132-5,61-13,-160 0,-35 4,52-2,76 4,313-1,-318 10,-66 5,-139-7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8:15.477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1,'1413'0,"-1202"13,-2 0,158-6,689-7,-868 13,76 0,195-6,-313-7,-140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8:21.360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82,'133'-6,"-106"5,0-1,0-1,39-10,38 2,-87 8,0 1,32-1,20-3,-39 1,59 0,110-1,39-1,-78 1,-33 3,135 6,-63 17,204-14,-330-6,19 14,-79-13,-7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8:24.016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13,'493'7,"-258"-1,-134-7,105 2,680 14,-592-17,-105 9,-57-5,137-4,-144-11,-46-1,60-4,-133 17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8:25.242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1,'788'0,"-696"6,-86-6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09:58.249"/>
    </inkml:context>
    <inkml:brush xml:id="br0">
      <inkml:brushProperty name="width" value="0.1" units="cm"/>
      <inkml:brushProperty name="height" value="0.2" units="cm"/>
      <inkml:brushProperty name="color" value="#ACC7FE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27,'509'6,"-376"-14,-80 3,-8 1,107-5,22 2,51 14,112 6,-46 0,-99-6,-130-7,-37-1,-1 1,0 1,0 1,31 7,-51-8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10:02.965"/>
    </inkml:context>
    <inkml:brush xml:id="br0">
      <inkml:brushProperty name="width" value="0.1" units="cm"/>
      <inkml:brushProperty name="height" value="0.2" units="cm"/>
      <inkml:brushProperty name="color" value="#ACC7FE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27,'98'2,"102"-5,38-10,-236 13,201-13,-153 14,78 10,-122-10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11:18.641"/>
    </inkml:context>
    <inkml:brush xml:id="br0">
      <inkml:brushProperty name="width" value="0.1" units="cm"/>
      <inkml:brushProperty name="height" value="0.2" units="cm"/>
      <inkml:brushProperty name="color" value="#ACC7FE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0,'1034'0,"-896"7,14 7,79-8,-215-2,-12-3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11:20.901"/>
    </inkml:context>
    <inkml:brush xml:id="br0">
      <inkml:brushProperty name="width" value="0.1" units="cm"/>
      <inkml:brushProperty name="height" value="0.2" units="cm"/>
      <inkml:brushProperty name="color" value="#ACC7FE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0,'311'0,"-305"0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11:23.182"/>
    </inkml:context>
    <inkml:brush xml:id="br0">
      <inkml:brushProperty name="width" value="0.1" units="cm"/>
      <inkml:brushProperty name="height" value="0.2" units="cm"/>
      <inkml:brushProperty name="color" value="#ACC7FE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19,'33'1,"0"-3,33-5,-19 2,0 1,0 2,51 5,0 0,134-3,-226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11:39.314"/>
    </inkml:context>
    <inkml:brush xml:id="br0">
      <inkml:brushProperty name="width" value="0.1" units="cm"/>
      <inkml:brushProperty name="height" value="0.2" units="cm"/>
      <inkml:brushProperty name="color" value="#ACC7FE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1,'757'0,"-750"0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11:41.905"/>
    </inkml:context>
    <inkml:brush xml:id="br0">
      <inkml:brushProperty name="width" value="0.1" units="cm"/>
      <inkml:brushProperty name="height" value="0.2" units="cm"/>
      <inkml:brushProperty name="color" value="#ACC7FE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0,'404'7,"-226"-7,-172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11:44.517"/>
    </inkml:context>
    <inkml:brush xml:id="br0">
      <inkml:brushProperty name="width" value="0.1" units="cm"/>
      <inkml:brushProperty name="height" value="0.2" units="cm"/>
      <inkml:brushProperty name="color" value="#ACC7FE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15,'314'-7,"208"0,-339 8,-178-1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11:49.268"/>
    </inkml:context>
    <inkml:brush xml:id="br0">
      <inkml:brushProperty name="width" value="0.1" units="cm"/>
      <inkml:brushProperty name="height" value="0.2" units="cm"/>
      <inkml:brushProperty name="color" value="#ACC7FE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1,'212'6,"-61"-4,35 3,49 2,-199-7,-30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11:56.539"/>
    </inkml:context>
    <inkml:brush xml:id="br0">
      <inkml:brushProperty name="width" value="0.1" units="cm"/>
      <inkml:brushProperty name="height" value="0.2" units="cm"/>
      <inkml:brushProperty name="color" value="#ACC7FE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33,'424'0,"-285"-6,-24 8,120-5,-72 0,-2 0,24-11,-99 8,-80 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11:59.047"/>
    </inkml:context>
    <inkml:brush xml:id="br0">
      <inkml:brushProperty name="width" value="0.1" units="cm"/>
      <inkml:brushProperty name="height" value="0.2" units="cm"/>
      <inkml:brushProperty name="color" value="#ACC7FE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1,'655'0,"-503"13,7 1,-97-9,154 9,-38-7,5 5,-174-12,324 8,-223-8,-4-14,46 1,-141 11,-7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1T18:12:16.465"/>
    </inkml:context>
    <inkml:brush xml:id="br0">
      <inkml:brushProperty name="width" value="0.1" units="cm"/>
      <inkml:brushProperty name="height" value="0.2" units="cm"/>
      <inkml:brushProperty name="color" value="#ACC7FE"/>
      <inkml:brushProperty name="tip" value="rectangle"/>
      <inkml:brushProperty name="rasterOp" value="maskPen"/>
      <inkml:brushProperty name="ignorePressure" value="1"/>
    </inkml:brush>
  </inkml:definitions>
  <inkml:trace contextRef="#ctx0" brushRef="#br0">0 79,'212'-19,"-112"12,26 0,79 1,263-2,-292 9,-117 1,53-3,58-20,180 8,-344 13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5:06:02.400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1,'222'7,"344"0,-392-8,-3-6,509 7,-573 10,-75-5,46 1,-72-7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5:06:02.401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0,'1'0,"2"0,1 0,1 0,1 0,-1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5:06:02.402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7,'595'-6,"-555"6,-35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5:06:02.403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0,'0'1,"0"0,1 1,-1-1,1 0,-1 0,1 0,-1 0,1-1,0 1,0 0,-1 0,1 0,0 0,0-1,0 1,0 0,0-1,0 1,0-1,0 1,0-1,0 0,0 1,0-1,0 0,0 0,1 1,-1-1,0 0,2-1,41 2,-38-1,108 3,-67 0,0-2,50-6,55-1,-55 4,842-8,-565 13,-216 4,-151-7,-2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5:06:53.377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1,'3929'0,"-3470"95,-430-95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8:54:00.699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0,'681'7'0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8:54:00.700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0,'536'6'0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8:54:00.701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16,'252'-13,"-137"10,120 6,-202 3,-27-6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8:54:00.702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1 7,'0'0,"1"-1,-1 0,1 1,0-1,-1 1,1-1,0 1,0-1,-1 1,1 0,0-1,0 1,0 0,-1 0,1-1,0 1,0 0,0 0,0 0,0 0,-1 0,3 0,26 1,-24-1,173 6,166 1,-338-7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5:06:02.400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1,'222'7,"344"0,-392-8,-3-6,509 7,-573 10,-75-5,46 1,-72-7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5:06:02.401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0,'1'0,"2"0,1 0,1 0,1 0,-1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5:06:02.402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7,'595'-6,"-555"6,-35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5:06:02.403"/>
    </inkml:context>
    <inkml:brush xml:id="br0">
      <inkml:brushProperty name="width" value="0.1" units="cm"/>
      <inkml:brushProperty name="height" value="0.2" units="cm"/>
      <inkml:brushProperty name="color" value="#C0B7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0,'0'1,"0"0,1 1,-1-1,1 0,-1 0,1 0,-1 0,1-1,0 1,0 0,-1 0,1 0,0 0,0-1,0 1,0 0,0-1,0 1,0-1,0 1,0-1,0 0,0 1,0-1,0 0,0 0,1 1,-1-1,0 0,2-1,41 2,-38-1,108 3,-67 0,0-2,50-6,55-1,-55 4,842-8,-565 13,-216 4,-151-7,-2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5:06:53.377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1,'3929'0,"-3470"95,-430-95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8:54:00.699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0,'681'7'0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8:54:00.700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0,'536'6'0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8:54:00.701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16,'252'-13,"-137"10,120 6,-202 3,-27-6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3T18:54:00.702"/>
    </inkml:context>
    <inkml:brush xml:id="br0">
      <inkml:brushProperty name="width" value="0.1" units="cm"/>
      <inkml:brushProperty name="height" value="0.2" units="cm"/>
      <inkml:brushProperty name="color" value="#AFFC88"/>
      <inkml:brushProperty name="tip" value="rectangle"/>
      <inkml:brushProperty name="rasterOp" value="maskPen"/>
      <inkml:brushProperty name="ignorePressure" value="1"/>
    </inkml:brush>
  </inkml:definitions>
  <inkml:trace contextRef="#ctx0" brushRef="#br0">1 7,'0'0,"1"-1,-1 0,1 1,0-1,-1 1,1-1,0 1,0-1,-1 1,1 0,0-1,0 1,0 0,-1 0,1-1,0 1,0 0,0 0,0 0,0 0,-1 0,3 0,26 1,-24-1,173 6,166 1,-338-7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7046AA-5340-4203-89D5-2188A8481FF2}" type="datetimeFigureOut">
              <a:rPr lang="en-DE" smtClean="0"/>
              <a:t>04/02/2026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1243013"/>
            <a:ext cx="4848225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40541-221E-40E2-9A22-1248D4E7964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39343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04888" y="1243013"/>
            <a:ext cx="4848225" cy="33575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40541-221E-40E2-9A22-1248D4E79644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68365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5B24-7A6F-4975-BDA7-E2E2811C64EA}" type="datetimeFigureOut">
              <a:rPr lang="en-DE" smtClean="0"/>
              <a:t>04/02/2026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E6E3-EBA9-4510-97AE-AB347E3B15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2109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5B24-7A6F-4975-BDA7-E2E2811C64EA}" type="datetimeFigureOut">
              <a:rPr lang="en-DE" smtClean="0"/>
              <a:t>04/02/2026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E6E3-EBA9-4510-97AE-AB347E3B15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6248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5B24-7A6F-4975-BDA7-E2E2811C64EA}" type="datetimeFigureOut">
              <a:rPr lang="en-DE" smtClean="0"/>
              <a:t>04/02/2026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E6E3-EBA9-4510-97AE-AB347E3B15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5263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5B24-7A6F-4975-BDA7-E2E2811C64EA}" type="datetimeFigureOut">
              <a:rPr lang="en-DE" smtClean="0"/>
              <a:t>04/02/2026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E6E3-EBA9-4510-97AE-AB347E3B15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29920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5B24-7A6F-4975-BDA7-E2E2811C64EA}" type="datetimeFigureOut">
              <a:rPr lang="en-DE" smtClean="0"/>
              <a:t>04/02/2026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E6E3-EBA9-4510-97AE-AB347E3B15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49642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5B24-7A6F-4975-BDA7-E2E2811C64EA}" type="datetimeFigureOut">
              <a:rPr lang="en-DE" smtClean="0"/>
              <a:t>04/02/2026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E6E3-EBA9-4510-97AE-AB347E3B15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3308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5B24-7A6F-4975-BDA7-E2E2811C64EA}" type="datetimeFigureOut">
              <a:rPr lang="en-DE" smtClean="0"/>
              <a:t>04/02/2026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E6E3-EBA9-4510-97AE-AB347E3B15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85365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5B24-7A6F-4975-BDA7-E2E2811C64EA}" type="datetimeFigureOut">
              <a:rPr lang="en-DE" smtClean="0"/>
              <a:t>04/02/2026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E6E3-EBA9-4510-97AE-AB347E3B15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4506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5B24-7A6F-4975-BDA7-E2E2811C64EA}" type="datetimeFigureOut">
              <a:rPr lang="en-DE" smtClean="0"/>
              <a:t>04/02/2026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E6E3-EBA9-4510-97AE-AB347E3B15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3874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5B24-7A6F-4975-BDA7-E2E2811C64EA}" type="datetimeFigureOut">
              <a:rPr lang="en-DE" smtClean="0"/>
              <a:t>04/02/2026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E6E3-EBA9-4510-97AE-AB347E3B15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42093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25B24-7A6F-4975-BDA7-E2E2811C64EA}" type="datetimeFigureOut">
              <a:rPr lang="en-DE" smtClean="0"/>
              <a:t>04/02/2026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0E6E3-EBA9-4510-97AE-AB347E3B15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7870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25B24-7A6F-4975-BDA7-E2E2811C64EA}" type="datetimeFigureOut">
              <a:rPr lang="en-DE" smtClean="0"/>
              <a:t>04/02/2026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0E6E3-EBA9-4510-97AE-AB347E3B15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592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.xml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63" Type="http://schemas.openxmlformats.org/officeDocument/2006/relationships/image" Target="../media/image61.png"/><Relationship Id="rId84" Type="http://schemas.openxmlformats.org/officeDocument/2006/relationships/image" Target="../media/image73.png"/><Relationship Id="rId138" Type="http://schemas.openxmlformats.org/officeDocument/2006/relationships/image" Target="../media/image100.png"/><Relationship Id="rId159" Type="http://schemas.openxmlformats.org/officeDocument/2006/relationships/customXml" Target="../ink/ink47.xml"/><Relationship Id="rId170" Type="http://schemas.openxmlformats.org/officeDocument/2006/relationships/image" Target="../media/image116.png"/><Relationship Id="rId191" Type="http://schemas.openxmlformats.org/officeDocument/2006/relationships/customXml" Target="../ink/ink63.xml"/><Relationship Id="rId205" Type="http://schemas.openxmlformats.org/officeDocument/2006/relationships/customXml" Target="../ink/ink70.xml"/><Relationship Id="rId226" Type="http://schemas.openxmlformats.org/officeDocument/2006/relationships/image" Target="../media/image144.png"/><Relationship Id="rId107" Type="http://schemas.openxmlformats.org/officeDocument/2006/relationships/customXml" Target="../ink/ink21.xml"/><Relationship Id="rId11" Type="http://schemas.openxmlformats.org/officeDocument/2006/relationships/image" Target="../media/image9.png"/><Relationship Id="rId32" Type="http://schemas.openxmlformats.org/officeDocument/2006/relationships/image" Target="../media/image30.png"/><Relationship Id="rId53" Type="http://schemas.openxmlformats.org/officeDocument/2006/relationships/image" Target="../media/image51.png"/><Relationship Id="rId74" Type="http://schemas.openxmlformats.org/officeDocument/2006/relationships/image" Target="../media/image68.png"/><Relationship Id="rId128" Type="http://schemas.openxmlformats.org/officeDocument/2006/relationships/image" Target="../media/image95.png"/><Relationship Id="rId149" Type="http://schemas.openxmlformats.org/officeDocument/2006/relationships/customXml" Target="../ink/ink42.xml"/><Relationship Id="rId5" Type="http://schemas.openxmlformats.org/officeDocument/2006/relationships/image" Target="../media/image3.png"/><Relationship Id="rId95" Type="http://schemas.openxmlformats.org/officeDocument/2006/relationships/customXml" Target="../ink/ink15.xml"/><Relationship Id="rId160" Type="http://schemas.openxmlformats.org/officeDocument/2006/relationships/image" Target="../media/image111.png"/><Relationship Id="rId181" Type="http://schemas.openxmlformats.org/officeDocument/2006/relationships/customXml" Target="../ink/ink58.xml"/><Relationship Id="rId216" Type="http://schemas.openxmlformats.org/officeDocument/2006/relationships/image" Target="../media/image139.png"/><Relationship Id="rId22" Type="http://schemas.openxmlformats.org/officeDocument/2006/relationships/image" Target="../media/image20.png"/><Relationship Id="rId43" Type="http://schemas.openxmlformats.org/officeDocument/2006/relationships/image" Target="../media/image41.png"/><Relationship Id="rId64" Type="http://schemas.openxmlformats.org/officeDocument/2006/relationships/image" Target="../media/image62.png"/><Relationship Id="rId118" Type="http://schemas.openxmlformats.org/officeDocument/2006/relationships/image" Target="../media/image90.png"/><Relationship Id="rId139" Type="http://schemas.openxmlformats.org/officeDocument/2006/relationships/customXml" Target="../ink/ink37.xml"/><Relationship Id="rId85" Type="http://schemas.openxmlformats.org/officeDocument/2006/relationships/customXml" Target="../ink/ink10.xml"/><Relationship Id="rId150" Type="http://schemas.openxmlformats.org/officeDocument/2006/relationships/image" Target="../media/image106.png"/><Relationship Id="rId171" Type="http://schemas.openxmlformats.org/officeDocument/2006/relationships/customXml" Target="../ink/ink53.xml"/><Relationship Id="rId192" Type="http://schemas.openxmlformats.org/officeDocument/2006/relationships/image" Target="../media/image127.png"/><Relationship Id="rId206" Type="http://schemas.openxmlformats.org/officeDocument/2006/relationships/image" Target="../media/image134.png"/><Relationship Id="rId12" Type="http://schemas.openxmlformats.org/officeDocument/2006/relationships/image" Target="../media/image10.png"/><Relationship Id="rId33" Type="http://schemas.openxmlformats.org/officeDocument/2006/relationships/image" Target="../media/image31.png"/><Relationship Id="rId108" Type="http://schemas.openxmlformats.org/officeDocument/2006/relationships/image" Target="../media/image85.png"/><Relationship Id="rId129" Type="http://schemas.openxmlformats.org/officeDocument/2006/relationships/customXml" Target="../ink/ink32.xml"/><Relationship Id="rId54" Type="http://schemas.openxmlformats.org/officeDocument/2006/relationships/image" Target="../media/image52.png"/><Relationship Id="rId75" Type="http://schemas.openxmlformats.org/officeDocument/2006/relationships/customXml" Target="../ink/ink5.xml"/><Relationship Id="rId96" Type="http://schemas.openxmlformats.org/officeDocument/2006/relationships/image" Target="../media/image79.png"/><Relationship Id="rId140" Type="http://schemas.openxmlformats.org/officeDocument/2006/relationships/image" Target="../media/image101.png"/><Relationship Id="rId161" Type="http://schemas.openxmlformats.org/officeDocument/2006/relationships/customXml" Target="../ink/ink48.xml"/><Relationship Id="rId182" Type="http://schemas.openxmlformats.org/officeDocument/2006/relationships/image" Target="../media/image122.png"/><Relationship Id="rId217" Type="http://schemas.openxmlformats.org/officeDocument/2006/relationships/customXml" Target="../ink/ink76.xml"/><Relationship Id="rId6" Type="http://schemas.openxmlformats.org/officeDocument/2006/relationships/image" Target="../media/image4.png"/><Relationship Id="rId23" Type="http://schemas.openxmlformats.org/officeDocument/2006/relationships/image" Target="../media/image21.png"/><Relationship Id="rId119" Type="http://schemas.openxmlformats.org/officeDocument/2006/relationships/customXml" Target="../ink/ink27.xml"/><Relationship Id="rId44" Type="http://schemas.openxmlformats.org/officeDocument/2006/relationships/image" Target="../media/image42.png"/><Relationship Id="rId65" Type="http://schemas.openxmlformats.org/officeDocument/2006/relationships/image" Target="../media/image63.png"/><Relationship Id="rId86" Type="http://schemas.openxmlformats.org/officeDocument/2006/relationships/image" Target="../media/image74.png"/><Relationship Id="rId130" Type="http://schemas.openxmlformats.org/officeDocument/2006/relationships/image" Target="../media/image96.png"/><Relationship Id="rId151" Type="http://schemas.openxmlformats.org/officeDocument/2006/relationships/customXml" Target="../ink/ink43.xml"/><Relationship Id="rId172" Type="http://schemas.openxmlformats.org/officeDocument/2006/relationships/image" Target="../media/image117.png"/><Relationship Id="rId193" Type="http://schemas.openxmlformats.org/officeDocument/2006/relationships/customXml" Target="../ink/ink64.xml"/><Relationship Id="rId207" Type="http://schemas.openxmlformats.org/officeDocument/2006/relationships/customXml" Target="../ink/ink71.xml"/><Relationship Id="rId13" Type="http://schemas.openxmlformats.org/officeDocument/2006/relationships/image" Target="../media/image11.png"/><Relationship Id="rId109" Type="http://schemas.openxmlformats.org/officeDocument/2006/relationships/customXml" Target="../ink/ink22.xml"/><Relationship Id="rId34" Type="http://schemas.openxmlformats.org/officeDocument/2006/relationships/image" Target="../media/image32.png"/><Relationship Id="rId55" Type="http://schemas.openxmlformats.org/officeDocument/2006/relationships/image" Target="../media/image53.png"/><Relationship Id="rId76" Type="http://schemas.openxmlformats.org/officeDocument/2006/relationships/image" Target="../media/image69.png"/><Relationship Id="rId97" Type="http://schemas.openxmlformats.org/officeDocument/2006/relationships/customXml" Target="../ink/ink16.xml"/><Relationship Id="rId120" Type="http://schemas.openxmlformats.org/officeDocument/2006/relationships/image" Target="../media/image91.png"/><Relationship Id="rId141" Type="http://schemas.openxmlformats.org/officeDocument/2006/relationships/customXml" Target="../ink/ink38.xml"/><Relationship Id="rId7" Type="http://schemas.openxmlformats.org/officeDocument/2006/relationships/image" Target="../media/image5.png"/><Relationship Id="rId162" Type="http://schemas.openxmlformats.org/officeDocument/2006/relationships/image" Target="../media/image112.png"/><Relationship Id="rId183" Type="http://schemas.openxmlformats.org/officeDocument/2006/relationships/customXml" Target="../ink/ink59.xml"/><Relationship Id="rId218" Type="http://schemas.openxmlformats.org/officeDocument/2006/relationships/image" Target="../media/image140.png"/><Relationship Id="rId24" Type="http://schemas.openxmlformats.org/officeDocument/2006/relationships/image" Target="../media/image22.png"/><Relationship Id="rId45" Type="http://schemas.openxmlformats.org/officeDocument/2006/relationships/image" Target="../media/image43.png"/><Relationship Id="rId66" Type="http://schemas.openxmlformats.org/officeDocument/2006/relationships/image" Target="../media/image64.png"/><Relationship Id="rId87" Type="http://schemas.openxmlformats.org/officeDocument/2006/relationships/customXml" Target="../ink/ink11.xml"/><Relationship Id="rId110" Type="http://schemas.openxmlformats.org/officeDocument/2006/relationships/image" Target="../media/image86.png"/><Relationship Id="rId131" Type="http://schemas.openxmlformats.org/officeDocument/2006/relationships/customXml" Target="../ink/ink33.xml"/><Relationship Id="rId152" Type="http://schemas.openxmlformats.org/officeDocument/2006/relationships/image" Target="../media/image107.png"/><Relationship Id="rId173" Type="http://schemas.openxmlformats.org/officeDocument/2006/relationships/customXml" Target="../ink/ink54.xml"/><Relationship Id="rId194" Type="http://schemas.openxmlformats.org/officeDocument/2006/relationships/image" Target="../media/image128.png"/><Relationship Id="rId208" Type="http://schemas.openxmlformats.org/officeDocument/2006/relationships/image" Target="../media/image135.png"/><Relationship Id="rId14" Type="http://schemas.openxmlformats.org/officeDocument/2006/relationships/image" Target="../media/image12.png"/><Relationship Id="rId35" Type="http://schemas.openxmlformats.org/officeDocument/2006/relationships/image" Target="../media/image33.png"/><Relationship Id="rId56" Type="http://schemas.openxmlformats.org/officeDocument/2006/relationships/image" Target="../media/image54.png"/><Relationship Id="rId77" Type="http://schemas.openxmlformats.org/officeDocument/2006/relationships/customXml" Target="../ink/ink6.xml"/><Relationship Id="rId100" Type="http://schemas.openxmlformats.org/officeDocument/2006/relationships/image" Target="../media/image81.png"/><Relationship Id="rId8" Type="http://schemas.openxmlformats.org/officeDocument/2006/relationships/image" Target="../media/image6.png"/><Relationship Id="rId98" Type="http://schemas.openxmlformats.org/officeDocument/2006/relationships/image" Target="../media/image80.png"/><Relationship Id="rId121" Type="http://schemas.openxmlformats.org/officeDocument/2006/relationships/customXml" Target="../ink/ink28.xml"/><Relationship Id="rId142" Type="http://schemas.openxmlformats.org/officeDocument/2006/relationships/image" Target="../media/image102.png"/><Relationship Id="rId163" Type="http://schemas.openxmlformats.org/officeDocument/2006/relationships/customXml" Target="../ink/ink49.xml"/><Relationship Id="rId184" Type="http://schemas.openxmlformats.org/officeDocument/2006/relationships/image" Target="../media/image123.png"/><Relationship Id="rId219" Type="http://schemas.openxmlformats.org/officeDocument/2006/relationships/customXml" Target="../ink/ink77.xml"/><Relationship Id="rId3" Type="http://schemas.openxmlformats.org/officeDocument/2006/relationships/image" Target="../media/image1.png"/><Relationship Id="rId214" Type="http://schemas.openxmlformats.org/officeDocument/2006/relationships/image" Target="../media/image138.png"/><Relationship Id="rId25" Type="http://schemas.openxmlformats.org/officeDocument/2006/relationships/image" Target="../media/image23.png"/><Relationship Id="rId46" Type="http://schemas.openxmlformats.org/officeDocument/2006/relationships/image" Target="../media/image44.png"/><Relationship Id="rId67" Type="http://schemas.openxmlformats.org/officeDocument/2006/relationships/customXml" Target="../ink/ink1.xml"/><Relationship Id="rId116" Type="http://schemas.openxmlformats.org/officeDocument/2006/relationships/image" Target="../media/image89.png"/><Relationship Id="rId137" Type="http://schemas.openxmlformats.org/officeDocument/2006/relationships/customXml" Target="../ink/ink36.xml"/><Relationship Id="rId158" Type="http://schemas.openxmlformats.org/officeDocument/2006/relationships/image" Target="../media/image110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62" Type="http://schemas.openxmlformats.org/officeDocument/2006/relationships/image" Target="../media/image60.png"/><Relationship Id="rId83" Type="http://schemas.openxmlformats.org/officeDocument/2006/relationships/customXml" Target="../ink/ink9.xml"/><Relationship Id="rId88" Type="http://schemas.openxmlformats.org/officeDocument/2006/relationships/image" Target="../media/image75.png"/><Relationship Id="rId111" Type="http://schemas.openxmlformats.org/officeDocument/2006/relationships/customXml" Target="../ink/ink23.xml"/><Relationship Id="rId132" Type="http://schemas.openxmlformats.org/officeDocument/2006/relationships/image" Target="../media/image97.png"/><Relationship Id="rId153" Type="http://schemas.openxmlformats.org/officeDocument/2006/relationships/customXml" Target="../ink/ink44.xml"/><Relationship Id="rId174" Type="http://schemas.openxmlformats.org/officeDocument/2006/relationships/image" Target="../media/image118.png"/><Relationship Id="rId179" Type="http://schemas.openxmlformats.org/officeDocument/2006/relationships/customXml" Target="../ink/ink57.xml"/><Relationship Id="rId195" Type="http://schemas.openxmlformats.org/officeDocument/2006/relationships/customXml" Target="../ink/ink65.xml"/><Relationship Id="rId209" Type="http://schemas.openxmlformats.org/officeDocument/2006/relationships/customXml" Target="../ink/ink72.xml"/><Relationship Id="rId190" Type="http://schemas.openxmlformats.org/officeDocument/2006/relationships/image" Target="../media/image126.png"/><Relationship Id="rId204" Type="http://schemas.openxmlformats.org/officeDocument/2006/relationships/image" Target="../media/image133.png"/><Relationship Id="rId220" Type="http://schemas.openxmlformats.org/officeDocument/2006/relationships/image" Target="../media/image141.png"/><Relationship Id="rId225" Type="http://schemas.openxmlformats.org/officeDocument/2006/relationships/customXml" Target="../ink/ink80.xml"/><Relationship Id="rId15" Type="http://schemas.openxmlformats.org/officeDocument/2006/relationships/image" Target="../media/image13.png"/><Relationship Id="rId36" Type="http://schemas.openxmlformats.org/officeDocument/2006/relationships/image" Target="../media/image34.png"/><Relationship Id="rId57" Type="http://schemas.openxmlformats.org/officeDocument/2006/relationships/image" Target="../media/image55.png"/><Relationship Id="rId106" Type="http://schemas.openxmlformats.org/officeDocument/2006/relationships/image" Target="../media/image84.png"/><Relationship Id="rId127" Type="http://schemas.openxmlformats.org/officeDocument/2006/relationships/customXml" Target="../ink/ink31.xml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52" Type="http://schemas.openxmlformats.org/officeDocument/2006/relationships/image" Target="../media/image50.png"/><Relationship Id="rId73" Type="http://schemas.openxmlformats.org/officeDocument/2006/relationships/customXml" Target="../ink/ink4.xml"/><Relationship Id="rId78" Type="http://schemas.openxmlformats.org/officeDocument/2006/relationships/image" Target="../media/image70.png"/><Relationship Id="rId94" Type="http://schemas.openxmlformats.org/officeDocument/2006/relationships/image" Target="../media/image78.png"/><Relationship Id="rId99" Type="http://schemas.openxmlformats.org/officeDocument/2006/relationships/customXml" Target="../ink/ink17.xml"/><Relationship Id="rId101" Type="http://schemas.openxmlformats.org/officeDocument/2006/relationships/customXml" Target="../ink/ink18.xml"/><Relationship Id="rId122" Type="http://schemas.openxmlformats.org/officeDocument/2006/relationships/image" Target="../media/image92.png"/><Relationship Id="rId143" Type="http://schemas.openxmlformats.org/officeDocument/2006/relationships/customXml" Target="../ink/ink39.xml"/><Relationship Id="rId148" Type="http://schemas.openxmlformats.org/officeDocument/2006/relationships/image" Target="../media/image105.png"/><Relationship Id="rId164" Type="http://schemas.openxmlformats.org/officeDocument/2006/relationships/image" Target="../media/image113.png"/><Relationship Id="rId169" Type="http://schemas.openxmlformats.org/officeDocument/2006/relationships/customXml" Target="../ink/ink52.xml"/><Relationship Id="rId185" Type="http://schemas.openxmlformats.org/officeDocument/2006/relationships/customXml" Target="../ink/ink60.xml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80" Type="http://schemas.openxmlformats.org/officeDocument/2006/relationships/image" Target="../media/image121.png"/><Relationship Id="rId210" Type="http://schemas.openxmlformats.org/officeDocument/2006/relationships/image" Target="../media/image136.png"/><Relationship Id="rId215" Type="http://schemas.openxmlformats.org/officeDocument/2006/relationships/customXml" Target="../ink/ink75.xml"/><Relationship Id="rId26" Type="http://schemas.openxmlformats.org/officeDocument/2006/relationships/image" Target="../media/image24.png"/><Relationship Id="rId47" Type="http://schemas.openxmlformats.org/officeDocument/2006/relationships/image" Target="../media/image45.png"/><Relationship Id="rId68" Type="http://schemas.openxmlformats.org/officeDocument/2006/relationships/image" Target="../media/image65.png"/><Relationship Id="rId89" Type="http://schemas.openxmlformats.org/officeDocument/2006/relationships/customXml" Target="../ink/ink12.xml"/><Relationship Id="rId112" Type="http://schemas.openxmlformats.org/officeDocument/2006/relationships/image" Target="../media/image87.png"/><Relationship Id="rId133" Type="http://schemas.openxmlformats.org/officeDocument/2006/relationships/customXml" Target="../ink/ink34.xml"/><Relationship Id="rId154" Type="http://schemas.openxmlformats.org/officeDocument/2006/relationships/image" Target="../media/image108.png"/><Relationship Id="rId175" Type="http://schemas.openxmlformats.org/officeDocument/2006/relationships/customXml" Target="../ink/ink55.xml"/><Relationship Id="rId196" Type="http://schemas.openxmlformats.org/officeDocument/2006/relationships/image" Target="../media/image129.png"/><Relationship Id="rId200" Type="http://schemas.openxmlformats.org/officeDocument/2006/relationships/image" Target="../media/image131.png"/><Relationship Id="rId16" Type="http://schemas.openxmlformats.org/officeDocument/2006/relationships/image" Target="../media/image14.png"/><Relationship Id="rId221" Type="http://schemas.openxmlformats.org/officeDocument/2006/relationships/customXml" Target="../ink/ink78.xml"/><Relationship Id="rId37" Type="http://schemas.openxmlformats.org/officeDocument/2006/relationships/image" Target="../media/image35.png"/><Relationship Id="rId58" Type="http://schemas.openxmlformats.org/officeDocument/2006/relationships/image" Target="../media/image56.png"/><Relationship Id="rId79" Type="http://schemas.openxmlformats.org/officeDocument/2006/relationships/customXml" Target="../ink/ink7.xml"/><Relationship Id="rId102" Type="http://schemas.openxmlformats.org/officeDocument/2006/relationships/image" Target="../media/image82.png"/><Relationship Id="rId123" Type="http://schemas.openxmlformats.org/officeDocument/2006/relationships/customXml" Target="../ink/ink29.xml"/><Relationship Id="rId144" Type="http://schemas.openxmlformats.org/officeDocument/2006/relationships/image" Target="../media/image103.png"/><Relationship Id="rId90" Type="http://schemas.openxmlformats.org/officeDocument/2006/relationships/image" Target="../media/image76.png"/><Relationship Id="rId165" Type="http://schemas.openxmlformats.org/officeDocument/2006/relationships/customXml" Target="../ink/ink50.xml"/><Relationship Id="rId186" Type="http://schemas.openxmlformats.org/officeDocument/2006/relationships/image" Target="../media/image124.png"/><Relationship Id="rId211" Type="http://schemas.openxmlformats.org/officeDocument/2006/relationships/customXml" Target="../ink/ink73.xml"/><Relationship Id="rId27" Type="http://schemas.openxmlformats.org/officeDocument/2006/relationships/image" Target="../media/image25.png"/><Relationship Id="rId48" Type="http://schemas.openxmlformats.org/officeDocument/2006/relationships/image" Target="../media/image46.png"/><Relationship Id="rId69" Type="http://schemas.openxmlformats.org/officeDocument/2006/relationships/customXml" Target="../ink/ink2.xml"/><Relationship Id="rId113" Type="http://schemas.openxmlformats.org/officeDocument/2006/relationships/customXml" Target="../ink/ink24.xml"/><Relationship Id="rId134" Type="http://schemas.openxmlformats.org/officeDocument/2006/relationships/image" Target="../media/image98.png"/><Relationship Id="rId80" Type="http://schemas.openxmlformats.org/officeDocument/2006/relationships/image" Target="../media/image71.png"/><Relationship Id="rId155" Type="http://schemas.openxmlformats.org/officeDocument/2006/relationships/customXml" Target="../ink/ink45.xml"/><Relationship Id="rId176" Type="http://schemas.openxmlformats.org/officeDocument/2006/relationships/image" Target="../media/image119.png"/><Relationship Id="rId197" Type="http://schemas.openxmlformats.org/officeDocument/2006/relationships/customXml" Target="../ink/ink66.xml"/><Relationship Id="rId201" Type="http://schemas.openxmlformats.org/officeDocument/2006/relationships/customXml" Target="../ink/ink68.xml"/><Relationship Id="rId222" Type="http://schemas.openxmlformats.org/officeDocument/2006/relationships/image" Target="../media/image142.png"/><Relationship Id="rId17" Type="http://schemas.openxmlformats.org/officeDocument/2006/relationships/image" Target="../media/image15.png"/><Relationship Id="rId38" Type="http://schemas.openxmlformats.org/officeDocument/2006/relationships/image" Target="../media/image36.png"/><Relationship Id="rId59" Type="http://schemas.openxmlformats.org/officeDocument/2006/relationships/image" Target="../media/image57.png"/><Relationship Id="rId103" Type="http://schemas.openxmlformats.org/officeDocument/2006/relationships/customXml" Target="../ink/ink19.xml"/><Relationship Id="rId124" Type="http://schemas.openxmlformats.org/officeDocument/2006/relationships/image" Target="../media/image93.png"/><Relationship Id="rId70" Type="http://schemas.openxmlformats.org/officeDocument/2006/relationships/image" Target="../media/image66.png"/><Relationship Id="rId91" Type="http://schemas.openxmlformats.org/officeDocument/2006/relationships/customXml" Target="../ink/ink13.xml"/><Relationship Id="rId145" Type="http://schemas.openxmlformats.org/officeDocument/2006/relationships/customXml" Target="../ink/ink40.xml"/><Relationship Id="rId166" Type="http://schemas.openxmlformats.org/officeDocument/2006/relationships/image" Target="../media/image114.png"/><Relationship Id="rId187" Type="http://schemas.openxmlformats.org/officeDocument/2006/relationships/customXml" Target="../ink/ink61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37.png"/><Relationship Id="rId28" Type="http://schemas.openxmlformats.org/officeDocument/2006/relationships/image" Target="../media/image26.png"/><Relationship Id="rId49" Type="http://schemas.openxmlformats.org/officeDocument/2006/relationships/image" Target="../media/image47.png"/><Relationship Id="rId114" Type="http://schemas.openxmlformats.org/officeDocument/2006/relationships/image" Target="../media/image88.png"/><Relationship Id="rId60" Type="http://schemas.openxmlformats.org/officeDocument/2006/relationships/image" Target="../media/image58.png"/><Relationship Id="rId81" Type="http://schemas.openxmlformats.org/officeDocument/2006/relationships/customXml" Target="../ink/ink8.xml"/><Relationship Id="rId135" Type="http://schemas.openxmlformats.org/officeDocument/2006/relationships/customXml" Target="../ink/ink35.xml"/><Relationship Id="rId156" Type="http://schemas.openxmlformats.org/officeDocument/2006/relationships/image" Target="../media/image109.png"/><Relationship Id="rId177" Type="http://schemas.openxmlformats.org/officeDocument/2006/relationships/customXml" Target="../ink/ink56.xml"/><Relationship Id="rId198" Type="http://schemas.openxmlformats.org/officeDocument/2006/relationships/image" Target="../media/image130.png"/><Relationship Id="rId202" Type="http://schemas.openxmlformats.org/officeDocument/2006/relationships/image" Target="../media/image132.png"/><Relationship Id="rId223" Type="http://schemas.openxmlformats.org/officeDocument/2006/relationships/customXml" Target="../ink/ink79.xml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50" Type="http://schemas.openxmlformats.org/officeDocument/2006/relationships/image" Target="../media/image48.png"/><Relationship Id="rId104" Type="http://schemas.openxmlformats.org/officeDocument/2006/relationships/image" Target="../media/image83.png"/><Relationship Id="rId125" Type="http://schemas.openxmlformats.org/officeDocument/2006/relationships/customXml" Target="../ink/ink30.xml"/><Relationship Id="rId146" Type="http://schemas.openxmlformats.org/officeDocument/2006/relationships/image" Target="../media/image104.png"/><Relationship Id="rId167" Type="http://schemas.openxmlformats.org/officeDocument/2006/relationships/customXml" Target="../ink/ink51.xml"/><Relationship Id="rId188" Type="http://schemas.openxmlformats.org/officeDocument/2006/relationships/image" Target="../media/image125.png"/><Relationship Id="rId71" Type="http://schemas.openxmlformats.org/officeDocument/2006/relationships/customXml" Target="../ink/ink3.xml"/><Relationship Id="rId92" Type="http://schemas.openxmlformats.org/officeDocument/2006/relationships/image" Target="../media/image77.png"/><Relationship Id="rId213" Type="http://schemas.openxmlformats.org/officeDocument/2006/relationships/customXml" Target="../ink/ink74.xml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Relationship Id="rId40" Type="http://schemas.openxmlformats.org/officeDocument/2006/relationships/image" Target="../media/image38.png"/><Relationship Id="rId115" Type="http://schemas.openxmlformats.org/officeDocument/2006/relationships/customXml" Target="../ink/ink25.xml"/><Relationship Id="rId136" Type="http://schemas.openxmlformats.org/officeDocument/2006/relationships/image" Target="../media/image99.png"/><Relationship Id="rId157" Type="http://schemas.openxmlformats.org/officeDocument/2006/relationships/customXml" Target="../ink/ink46.xml"/><Relationship Id="rId178" Type="http://schemas.openxmlformats.org/officeDocument/2006/relationships/image" Target="../media/image120.png"/><Relationship Id="rId61" Type="http://schemas.openxmlformats.org/officeDocument/2006/relationships/image" Target="../media/image59.png"/><Relationship Id="rId82" Type="http://schemas.openxmlformats.org/officeDocument/2006/relationships/image" Target="../media/image72.png"/><Relationship Id="rId199" Type="http://schemas.openxmlformats.org/officeDocument/2006/relationships/customXml" Target="../ink/ink67.xml"/><Relationship Id="rId203" Type="http://schemas.openxmlformats.org/officeDocument/2006/relationships/customXml" Target="../ink/ink69.xml"/><Relationship Id="rId19" Type="http://schemas.openxmlformats.org/officeDocument/2006/relationships/image" Target="../media/image17.png"/><Relationship Id="rId224" Type="http://schemas.openxmlformats.org/officeDocument/2006/relationships/image" Target="../media/image143.png"/><Relationship Id="rId30" Type="http://schemas.openxmlformats.org/officeDocument/2006/relationships/image" Target="../media/image28.png"/><Relationship Id="rId105" Type="http://schemas.openxmlformats.org/officeDocument/2006/relationships/customXml" Target="../ink/ink20.xml"/><Relationship Id="rId126" Type="http://schemas.openxmlformats.org/officeDocument/2006/relationships/image" Target="../media/image94.png"/><Relationship Id="rId147" Type="http://schemas.openxmlformats.org/officeDocument/2006/relationships/customXml" Target="../ink/ink41.xml"/><Relationship Id="rId168" Type="http://schemas.openxmlformats.org/officeDocument/2006/relationships/image" Target="../media/image115.png"/><Relationship Id="rId51" Type="http://schemas.openxmlformats.org/officeDocument/2006/relationships/image" Target="../media/image49.png"/><Relationship Id="rId72" Type="http://schemas.openxmlformats.org/officeDocument/2006/relationships/image" Target="../media/image67.png"/><Relationship Id="rId93" Type="http://schemas.openxmlformats.org/officeDocument/2006/relationships/customXml" Target="../ink/ink14.xml"/><Relationship Id="rId189" Type="http://schemas.openxmlformats.org/officeDocument/2006/relationships/customXml" Target="../ink/ink6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81.xml"/><Relationship Id="rId13" Type="http://schemas.openxmlformats.org/officeDocument/2006/relationships/image" Target="../media/image149.png"/><Relationship Id="rId18" Type="http://schemas.openxmlformats.org/officeDocument/2006/relationships/image" Target="../media/image151.png"/><Relationship Id="rId26" Type="http://schemas.openxmlformats.org/officeDocument/2006/relationships/image" Target="../media/image155.png"/><Relationship Id="rId3" Type="http://schemas.openxmlformats.org/officeDocument/2006/relationships/image" Target="../media/image146.png"/><Relationship Id="rId21" Type="http://schemas.openxmlformats.org/officeDocument/2006/relationships/customXml" Target="../ink/ink87.xml"/><Relationship Id="rId7" Type="http://schemas.openxmlformats.org/officeDocument/2006/relationships/image" Target="../media/image43.png"/><Relationship Id="rId12" Type="http://schemas.openxmlformats.org/officeDocument/2006/relationships/customXml" Target="../ink/ink83.xml"/><Relationship Id="rId17" Type="http://schemas.openxmlformats.org/officeDocument/2006/relationships/customXml" Target="../ink/ink85.xml"/><Relationship Id="rId25" Type="http://schemas.openxmlformats.org/officeDocument/2006/relationships/customXml" Target="../ink/ink89.xml"/><Relationship Id="rId2" Type="http://schemas.openxmlformats.org/officeDocument/2006/relationships/image" Target="../media/image145.png"/><Relationship Id="rId16" Type="http://schemas.openxmlformats.org/officeDocument/2006/relationships/image" Target="../media/image50.png"/><Relationship Id="rId20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148.png"/><Relationship Id="rId24" Type="http://schemas.openxmlformats.org/officeDocument/2006/relationships/image" Target="../media/image154.png"/><Relationship Id="rId5" Type="http://schemas.openxmlformats.org/officeDocument/2006/relationships/image" Target="../media/image41.png"/><Relationship Id="rId15" Type="http://schemas.openxmlformats.org/officeDocument/2006/relationships/image" Target="../media/image150.png"/><Relationship Id="rId23" Type="http://schemas.openxmlformats.org/officeDocument/2006/relationships/customXml" Target="../ink/ink88.xml"/><Relationship Id="rId10" Type="http://schemas.openxmlformats.org/officeDocument/2006/relationships/customXml" Target="../ink/ink82.xml"/><Relationship Id="rId19" Type="http://schemas.openxmlformats.org/officeDocument/2006/relationships/customXml" Target="../ink/ink86.xml"/><Relationship Id="rId4" Type="http://schemas.openxmlformats.org/officeDocument/2006/relationships/image" Target="../media/image40.png"/><Relationship Id="rId9" Type="http://schemas.openxmlformats.org/officeDocument/2006/relationships/image" Target="../media/image147.png"/><Relationship Id="rId14" Type="http://schemas.openxmlformats.org/officeDocument/2006/relationships/customXml" Target="../ink/ink84.xml"/><Relationship Id="rId22" Type="http://schemas.openxmlformats.org/officeDocument/2006/relationships/image" Target="../media/image153.png"/><Relationship Id="rId27" Type="http://schemas.openxmlformats.org/officeDocument/2006/relationships/image" Target="../media/image15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0.png"/><Relationship Id="rId18" Type="http://schemas.openxmlformats.org/officeDocument/2006/relationships/image" Target="../media/image162.png"/><Relationship Id="rId26" Type="http://schemas.openxmlformats.org/officeDocument/2006/relationships/image" Target="../media/image166.png"/><Relationship Id="rId39" Type="http://schemas.openxmlformats.org/officeDocument/2006/relationships/image" Target="../media/image178.png"/><Relationship Id="rId21" Type="http://schemas.openxmlformats.org/officeDocument/2006/relationships/customXml" Target="../ink/ink96.xml"/><Relationship Id="rId34" Type="http://schemas.openxmlformats.org/officeDocument/2006/relationships/image" Target="../media/image173.png"/><Relationship Id="rId42" Type="http://schemas.openxmlformats.org/officeDocument/2006/relationships/image" Target="../media/image181.png"/><Relationship Id="rId7" Type="http://schemas.openxmlformats.org/officeDocument/2006/relationships/image" Target="../media/image43.png"/><Relationship Id="rId2" Type="http://schemas.openxmlformats.org/officeDocument/2006/relationships/image" Target="../media/image145.png"/><Relationship Id="rId16" Type="http://schemas.openxmlformats.org/officeDocument/2006/relationships/image" Target="../media/image50.png"/><Relationship Id="rId29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159.png"/><Relationship Id="rId24" Type="http://schemas.openxmlformats.org/officeDocument/2006/relationships/image" Target="../media/image165.png"/><Relationship Id="rId32" Type="http://schemas.openxmlformats.org/officeDocument/2006/relationships/image" Target="../media/image171.png"/><Relationship Id="rId37" Type="http://schemas.openxmlformats.org/officeDocument/2006/relationships/image" Target="../media/image176.png"/><Relationship Id="rId40" Type="http://schemas.openxmlformats.org/officeDocument/2006/relationships/image" Target="../media/image179.png"/><Relationship Id="rId45" Type="http://schemas.openxmlformats.org/officeDocument/2006/relationships/image" Target="../media/image184.png"/><Relationship Id="rId5" Type="http://schemas.openxmlformats.org/officeDocument/2006/relationships/image" Target="../media/image41.png"/><Relationship Id="rId15" Type="http://schemas.openxmlformats.org/officeDocument/2006/relationships/image" Target="../media/image161.png"/><Relationship Id="rId23" Type="http://schemas.openxmlformats.org/officeDocument/2006/relationships/customXml" Target="../ink/ink97.xml"/><Relationship Id="rId28" Type="http://schemas.openxmlformats.org/officeDocument/2006/relationships/image" Target="../media/image167.png"/><Relationship Id="rId36" Type="http://schemas.openxmlformats.org/officeDocument/2006/relationships/image" Target="../media/image175.png"/><Relationship Id="rId10" Type="http://schemas.openxmlformats.org/officeDocument/2006/relationships/customXml" Target="../ink/ink91.xml"/><Relationship Id="rId19" Type="http://schemas.openxmlformats.org/officeDocument/2006/relationships/customXml" Target="../ink/ink95.xml"/><Relationship Id="rId31" Type="http://schemas.openxmlformats.org/officeDocument/2006/relationships/image" Target="../media/image170.png"/><Relationship Id="rId44" Type="http://schemas.openxmlformats.org/officeDocument/2006/relationships/image" Target="../media/image183.png"/><Relationship Id="rId4" Type="http://schemas.openxmlformats.org/officeDocument/2006/relationships/image" Target="../media/image40.png"/><Relationship Id="rId9" Type="http://schemas.openxmlformats.org/officeDocument/2006/relationships/image" Target="../media/image158.png"/><Relationship Id="rId14" Type="http://schemas.openxmlformats.org/officeDocument/2006/relationships/customXml" Target="../ink/ink93.xml"/><Relationship Id="rId22" Type="http://schemas.openxmlformats.org/officeDocument/2006/relationships/image" Target="../media/image164.png"/><Relationship Id="rId27" Type="http://schemas.openxmlformats.org/officeDocument/2006/relationships/image" Target="../media/image156.png"/><Relationship Id="rId30" Type="http://schemas.openxmlformats.org/officeDocument/2006/relationships/image" Target="../media/image169.png"/><Relationship Id="rId35" Type="http://schemas.openxmlformats.org/officeDocument/2006/relationships/image" Target="../media/image174.png"/><Relationship Id="rId43" Type="http://schemas.openxmlformats.org/officeDocument/2006/relationships/image" Target="../media/image182.png"/><Relationship Id="rId8" Type="http://schemas.openxmlformats.org/officeDocument/2006/relationships/customXml" Target="../ink/ink90.xml"/><Relationship Id="rId3" Type="http://schemas.openxmlformats.org/officeDocument/2006/relationships/image" Target="../media/image157.png"/><Relationship Id="rId12" Type="http://schemas.openxmlformats.org/officeDocument/2006/relationships/customXml" Target="../ink/ink92.xml"/><Relationship Id="rId17" Type="http://schemas.openxmlformats.org/officeDocument/2006/relationships/customXml" Target="../ink/ink94.xml"/><Relationship Id="rId25" Type="http://schemas.openxmlformats.org/officeDocument/2006/relationships/customXml" Target="../ink/ink98.xml"/><Relationship Id="rId33" Type="http://schemas.openxmlformats.org/officeDocument/2006/relationships/image" Target="../media/image172.png"/><Relationship Id="rId38" Type="http://schemas.openxmlformats.org/officeDocument/2006/relationships/image" Target="../media/image177.png"/><Relationship Id="rId20" Type="http://schemas.openxmlformats.org/officeDocument/2006/relationships/image" Target="../media/image163.png"/><Relationship Id="rId41" Type="http://schemas.openxmlformats.org/officeDocument/2006/relationships/image" Target="../media/image18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155">
            <a:extLst>
              <a:ext uri="{FF2B5EF4-FFF2-40B4-BE49-F238E27FC236}">
                <a16:creationId xmlns:a16="http://schemas.microsoft.com/office/drawing/2014/main" id="{1CB9CE1A-F1F8-4179-0225-301A94F509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548"/>
          <a:stretch>
            <a:fillRect/>
          </a:stretch>
        </p:blipFill>
        <p:spPr>
          <a:xfrm>
            <a:off x="3565852" y="5459752"/>
            <a:ext cx="461249" cy="1569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D5B83918-6F80-11BE-034C-34AC330408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19" t="14818" r="2029" b="6225"/>
          <a:stretch>
            <a:fillRect/>
          </a:stretch>
        </p:blipFill>
        <p:spPr>
          <a:xfrm>
            <a:off x="4044834" y="3982708"/>
            <a:ext cx="794026" cy="207964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F48F1FAD-7F83-E00C-ED26-29787324E4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223"/>
          <a:stretch>
            <a:fillRect/>
          </a:stretch>
        </p:blipFill>
        <p:spPr>
          <a:xfrm>
            <a:off x="4145065" y="4576829"/>
            <a:ext cx="672824" cy="179814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CDC5F976-96E2-37E0-2236-5D9F755A387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384" t="54553"/>
          <a:stretch>
            <a:fillRect/>
          </a:stretch>
        </p:blipFill>
        <p:spPr>
          <a:xfrm>
            <a:off x="4131040" y="1519672"/>
            <a:ext cx="558987" cy="1510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84D062E-E236-6AA8-AAA6-59D1ADFE3A3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84849"/>
          <a:stretch>
            <a:fillRect/>
          </a:stretch>
        </p:blipFill>
        <p:spPr>
          <a:xfrm>
            <a:off x="2084837" y="3257116"/>
            <a:ext cx="1284119" cy="870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93287B-78AA-276F-DA9E-87BACCEE0E1E}"/>
              </a:ext>
            </a:extLst>
          </p:cNvPr>
          <p:cNvSpPr txBox="1"/>
          <p:nvPr/>
        </p:nvSpPr>
        <p:spPr>
          <a:xfrm>
            <a:off x="-77418" y="-33641"/>
            <a:ext cx="2180326" cy="523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Simulate </a:t>
            </a:r>
            <a:r>
              <a:rPr lang="en-DE" sz="400" b="1" noProof="1"/>
              <a:t>data from a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linear model </a:t>
            </a:r>
            <a:r>
              <a:rPr lang="en-DE" sz="400" b="1" noProof="1"/>
              <a:t>`y = 3 + 2x + e` where `x ~ N(0,1)` and `e ~ N(0,1)` for `n = 100`. Fit `lm(y ~ x)` and report the estimated coefficients, $R^2$, and residual standard error. Make a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residuals vs fitted plot.</a:t>
            </a:r>
          </a:p>
          <a:p>
            <a:r>
              <a:rPr lang="en-DE" sz="400" noProof="1"/>
              <a:t>n &lt;- 100x &lt;- rnorm(n) e &lt;- rnorm(n) y &lt;- 3 + 2*x +  efit &lt;- lm(y ~ x) s &lt;- summary(fit) coef_est &lt;- coef(fit) R2 &lt;- s$r.squared RSE &lt;- s$sigma list(coef = round(coef_est, 3), R2 = round(R2, 3), RSE = round(RSE, 3))plot(fitted(fit), resid(fit), pch = 19,     xlab = "Fitted values", ylab = "Residuals", main = "Residuals vs Fitted")abline(h = 0, lty = 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F0134E-7F54-959C-C8F1-A4953D76C0AA}"/>
              </a:ext>
            </a:extLst>
          </p:cNvPr>
          <p:cNvSpPr txBox="1"/>
          <p:nvPr/>
        </p:nvSpPr>
        <p:spPr>
          <a:xfrm>
            <a:off x="-77418" y="409532"/>
            <a:ext cx="2180326" cy="523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Ω = {1, 2, 3} with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P({1}) = 1 / 2 , P({2}) = 1 / 3 , P({3}) = 1 / 6 . </a:t>
            </a:r>
            <a:r>
              <a:rPr lang="en-DE" sz="400" b="1" noProof="1"/>
              <a:t>(a) F? (b) P({1, 2})? (c) P({1, 2, 3})? (d) List all events A ∈ F with P(A) = ½</a:t>
            </a:r>
          </a:p>
          <a:p>
            <a:r>
              <a:rPr lang="en-DE" sz="400" noProof="1"/>
              <a:t> p &lt;- c(`1`=.5, `2`=1/3, `3`=1/6) P_12  &lt;- sum(p[c("1","2")]) P_all &lt;- sum(p)subs &lt;- list(c(), "1","2","3", c("1","2"),c("1","3"),c("2","3"), c("1","2","3"))vals &lt;- sapply(subs, function(A) if(length(A)) sum(p[A]) else 0)names(vals) &lt;- c("∅","{1}","{2}","{3}","{1,2}","{1,3}","{2,3}","Ω")list(P_12=P_12, P_all=P_all, events_P_eq_half=vals[abs(vals-.5)&lt;1e-12])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418C2F-9F76-4EFC-AE42-4FFAD56A6B25}"/>
              </a:ext>
            </a:extLst>
          </p:cNvPr>
          <p:cNvSpPr txBox="1"/>
          <p:nvPr/>
        </p:nvSpPr>
        <p:spPr>
          <a:xfrm>
            <a:off x="-85485" y="835843"/>
            <a:ext cx="2180326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If you pick a random integer between 1 and 100 uniformly, what is the</a:t>
            </a:r>
          </a:p>
          <a:p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probability that it is divisible by 3 or by 5?</a:t>
            </a:r>
          </a:p>
          <a:p>
            <a:r>
              <a:rPr lang="en-DE" sz="400" noProof="1"/>
              <a:t>N &lt;- 1e5x &lt;- sample(1:100, N, TRUE)est &lt;- mean(x%%3==0 | x%%5==0)exact &lt;- (floor(100/3)+floor(100/5)-floor(100/15))/100c(estimate=est, exact=exact)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68002-855F-D961-21E8-31CD9BB94C4D}"/>
              </a:ext>
            </a:extLst>
          </p:cNvPr>
          <p:cNvSpPr txBox="1"/>
          <p:nvPr/>
        </p:nvSpPr>
        <p:spPr>
          <a:xfrm>
            <a:off x="-85485" y="1070474"/>
            <a:ext cx="2180326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Two dice</a:t>
            </a:r>
            <a:r>
              <a:rPr lang="en-DE" sz="400" b="1" noProof="1"/>
              <a:t>: 36 outcomes; we are interested in the event that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three ordered outcomes sum to </a:t>
            </a:r>
            <a:r>
              <a:rPr lang="en-DE" sz="400" b="1" noProof="1"/>
              <a:t>10 (4,6), (5,5), (6,4). So P(sum = 10) = 3/36 = 1/12.</a:t>
            </a:r>
          </a:p>
          <a:p>
            <a:r>
              <a:rPr lang="en-DE" sz="400" noProof="1"/>
              <a:t>p_exact &lt;- 3/36N &lt;- 1e6s &lt;- rowSums(matrix(sample(1:6, 2*N, TRUE), ncol=2))p_mc &lt;- mean(s==10)c(exact=p_exact, mc=p_mc)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44D53A-EB4B-838B-A80A-F258B461039A}"/>
              </a:ext>
            </a:extLst>
          </p:cNvPr>
          <p:cNvSpPr txBox="1"/>
          <p:nvPr/>
        </p:nvSpPr>
        <p:spPr>
          <a:xfrm>
            <a:off x="-85485" y="1312742"/>
            <a:ext cx="21803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Five-card hand from a 52-card deck</a:t>
            </a:r>
            <a:r>
              <a:rPr lang="en-DE" sz="400" b="1" noProof="1"/>
              <a:t>. Probability of: (a) four aces plus the</a:t>
            </a:r>
          </a:p>
          <a:p>
            <a:r>
              <a:rPr lang="en-DE" sz="400" b="1" noProof="1"/>
              <a:t>king of spades; (b) all spades; (c) no pairs (all values distinct); (d) full house.</a:t>
            </a:r>
          </a:p>
          <a:p>
            <a:r>
              <a:rPr lang="en-DE" sz="400" noProof="1"/>
              <a:t>total &lt;- choose(52,5) p_all_spades &lt;- choose(13,5)/total p_no_pairs   &lt;- (choose(13,5) * 4^5) / total p_full_house &lt;- (choose(13,1)*choose(4,3) * choose(12,1)*choose(4,2)) / total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3DC00-08F5-FC18-DF25-9573555C04F3}"/>
              </a:ext>
            </a:extLst>
          </p:cNvPr>
          <p:cNvSpPr txBox="1"/>
          <p:nvPr/>
        </p:nvSpPr>
        <p:spPr>
          <a:xfrm>
            <a:off x="-85485" y="1618814"/>
            <a:ext cx="2180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(Birthday problem). </a:t>
            </a:r>
            <a:r>
              <a:rPr lang="en-DE" sz="400" b="1" noProof="1"/>
              <a:t>C people with birthdays equally likely among 365 days</a:t>
            </a:r>
          </a:p>
          <a:p>
            <a:r>
              <a:rPr lang="en-DE" sz="400" b="1" noProof="1"/>
              <a:t>(non-leap year). (a) C = 2: probability same birthday? (b) General C: probability all share the same birthday? (c) General C: probability some pair matches? (d) Smallest C where (c) exceeds 0.5? Surprising?</a:t>
            </a:r>
          </a:p>
          <a:p>
            <a:r>
              <a:rPr lang="en-DE" sz="400" noProof="1"/>
              <a:t>prob_match &lt;- function(C, N=200){  anydup &lt;- function(v) any(duplicated(v))  mean(replicate(N, anydup(sample(1:365, C, TRUE))))}Cs &lt;- 2:60pm &lt;- sapply(Cs, prob_match)Cs[which(pm&gt;.5)[1]]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9479CC-62CB-115E-40E5-B4F2FA03DA0A}"/>
              </a:ext>
            </a:extLst>
          </p:cNvPr>
          <p:cNvSpPr txBox="1"/>
          <p:nvPr/>
        </p:nvSpPr>
        <p:spPr>
          <a:xfrm>
            <a:off x="-86733" y="2134214"/>
            <a:ext cx="2180326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If you flip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three fair coins</a:t>
            </a:r>
            <a:r>
              <a:rPr lang="en-DE" sz="400" b="1" noProof="1"/>
              <a:t>, what is the probability that the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first coin </a:t>
            </a:r>
            <a:r>
              <a:rPr lang="en-DE" sz="400" b="1" noProof="1"/>
              <a:t>shows</a:t>
            </a:r>
          </a:p>
          <a:p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heads </a:t>
            </a:r>
            <a:r>
              <a:rPr lang="en-DE" sz="400" b="1" noProof="1"/>
              <a:t>given that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exactly two </a:t>
            </a:r>
            <a:r>
              <a:rPr lang="en-DE" sz="400" b="1" noProof="1"/>
              <a:t>of the three coins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are heads?</a:t>
            </a:r>
          </a:p>
          <a:p>
            <a:r>
              <a:rPr lang="en-DE" sz="400" noProof="1"/>
              <a:t>N &lt;- 1e6 X &lt;- matrix(sample(c("H","T"), 3*N, TRUE), ncol=3) E &lt;- rowSums(X=="H")==2 mean(X[E,1]=="H")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445E06-3BDF-90DC-6126-61EDEC8C1E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73" y="2418415"/>
            <a:ext cx="1657072" cy="3363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A32F01-5FF2-4BB9-0B11-A2975AB4C61B}"/>
              </a:ext>
            </a:extLst>
          </p:cNvPr>
          <p:cNvSpPr txBox="1"/>
          <p:nvPr/>
        </p:nvSpPr>
        <p:spPr>
          <a:xfrm>
            <a:off x="-73586" y="2693987"/>
            <a:ext cx="2180326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noProof="1"/>
              <a:t>p_blue &lt;- 0.5*(2/5) + 0.5*(7/11)p_exact &lt;- (0.5*(7/11)) / p_blueN &lt;- 1e6urn &lt;- sample(1:2, N, TRUE)draw_blue &lt;- ifelse(  urn==1,  sample(c(rep("B",2),rep("R",3)), N, TRUE),  sample(c(rep("B",7),rep("R",4)), N, TRUE))mean(urn==2 &amp; draw_blue=="B")/mean(draw_blue=="B")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8D9BB03-77B9-60DA-D1FF-98A5602E99AC}"/>
              </a:ext>
            </a:extLst>
          </p:cNvPr>
          <p:cNvCxnSpPr>
            <a:cxnSpLocks/>
          </p:cNvCxnSpPr>
          <p:nvPr/>
        </p:nvCxnSpPr>
        <p:spPr>
          <a:xfrm flipH="1">
            <a:off x="2026859" y="-30889"/>
            <a:ext cx="13057" cy="70781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56CCFBC-455E-359E-88C8-D0CC54E168DC}"/>
              </a:ext>
            </a:extLst>
          </p:cNvPr>
          <p:cNvSpPr txBox="1"/>
          <p:nvPr/>
        </p:nvSpPr>
        <p:spPr>
          <a:xfrm>
            <a:off x="-70340" y="2949378"/>
            <a:ext cx="2180326" cy="414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Two dice: red and blue. </a:t>
            </a:r>
            <a:r>
              <a:rPr lang="en-DE" sz="400" b="1" noProof="1"/>
              <a:t>Events A: equal numbers; B: sum = 12; C: red die</a:t>
            </a:r>
          </a:p>
          <a:p>
            <a:r>
              <a:rPr lang="en-DE" sz="400" b="1" noProof="1"/>
              <a:t>= 4; D: blue die = 4.</a:t>
            </a:r>
          </a:p>
          <a:p>
            <a:r>
              <a:rPr lang="en-DE" sz="400" noProof="1"/>
              <a:t>N &lt;- 1e6r &lt;- sample(1:6, N, TRUE)b &lt;- sample(1:6, N, TRUE)A &lt;- r==b; C &lt;- r==4; D &lt;- b==4c(  A_and_C = mean(A &amp; C),  A_times_C = mean(A)*mean(C),  C_and_D = mean(C &amp; D),  C_times_D = mean(C)*mean(D)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6F40C2-1973-183D-8578-180A14BA318A}"/>
              </a:ext>
            </a:extLst>
          </p:cNvPr>
          <p:cNvSpPr txBox="1"/>
          <p:nvPr/>
        </p:nvSpPr>
        <p:spPr>
          <a:xfrm>
            <a:off x="-70340" y="3266146"/>
            <a:ext cx="2180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An urn contains 8 red and 12 blue balls</a:t>
            </a:r>
            <a:r>
              <a:rPr lang="en-DE" sz="400" b="1" noProof="1"/>
              <a:t> (20 total). You draw 5 balls without</a:t>
            </a:r>
          </a:p>
          <a:p>
            <a:r>
              <a:rPr lang="en-DE" sz="400" b="1" noProof="1"/>
              <a:t>replacement. What is the probability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of drawing exactly k red balls</a:t>
            </a:r>
            <a:r>
              <a:rPr lang="en-DE" sz="400" b="1" noProof="1"/>
              <a:t>, for k = 0, 1, 2, 3, 4, 5?</a:t>
            </a:r>
          </a:p>
          <a:p>
            <a:r>
              <a:rPr lang="en-DE" sz="400" noProof="1"/>
              <a:t>k &lt;- 0:5p_exact &lt;- dhyper(k, m=8, n=12, k=5)N &lt;- 2e5reds &lt;- replicate(N, sum(sample(c(rep(1,8), rep(0,12)), 5)))p_mc &lt;- table(factor(reds, levels=k))/Ncbind(k, exact=round(p_exact,6), mc=round(as.numeric(p_mc),6))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64B67A-25AA-3801-393C-63461A021372}"/>
              </a:ext>
            </a:extLst>
          </p:cNvPr>
          <p:cNvSpPr txBox="1"/>
          <p:nvPr/>
        </p:nvSpPr>
        <p:spPr>
          <a:xfrm>
            <a:off x="-73237" y="3641221"/>
            <a:ext cx="2180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Two fair dice</a:t>
            </a:r>
            <a:r>
              <a:rPr lang="en-DE" sz="400" b="1" noProof="1"/>
              <a:t> are thrown; let $Y$ be the product. Estimate the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pmf</a:t>
            </a:r>
            <a:r>
              <a:rPr lang="en-DE" sz="400" b="1" noProof="1"/>
              <a:t> of $Y$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by simulation.</a:t>
            </a:r>
            <a:br>
              <a:rPr lang="en-DE" sz="400" b="1" noProof="1"/>
            </a:br>
            <a:r>
              <a:rPr lang="en-DE" sz="400" noProof="1"/>
              <a:t>d1 &lt;- sample(1:6, N, replace = TRUE)d2 &lt;- sample(1:6, N, replace = TRUE)Y  &lt;- d1 * d2pmf_hat &lt;- sort(prop.table(table(Y)))pmf_tbl &lt;- data.frame(y = as.integer(names(pmf_hat)), pmf_est = as.numeric(pmf_hat))head(pmf_tbl, 10)tail(pmf_tbl, 10)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1A63624-9003-4CB2-B01A-F753DE934C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526" y="4004434"/>
            <a:ext cx="833333" cy="8206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528F560-C729-B522-095B-9EEC095ABD53}"/>
              </a:ext>
            </a:extLst>
          </p:cNvPr>
          <p:cNvSpPr txBox="1"/>
          <p:nvPr/>
        </p:nvSpPr>
        <p:spPr>
          <a:xfrm>
            <a:off x="-81654" y="4050381"/>
            <a:ext cx="2180326" cy="414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We adopt the convention Z in {1,2,…} (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number of trials until the first success</a:t>
            </a:r>
            <a:r>
              <a:rPr lang="en-DE" sz="400" b="1" noProof="1"/>
              <a:t>). Set $p$ below as needed. </a:t>
            </a:r>
            <a:r>
              <a:rPr lang="en-DE" sz="400" noProof="1"/>
              <a:t>p_geo &lt;- 0.3   # &lt;-- change if desired# simulate geometric: number of Bernoulli(p) trials until first success# R's rgeom returns failures before first success; add 1 to get trials count.Z &lt;- rgeom(N, prob = p_geo) + 1Lprob_hat &lt;- mean(Z &gt;= 5 &amp; Z &lt;= 9)se_hat   &lt;- sqrt(prob_hat * (1 - prob_hat) / N)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BF56C80-00E7-DFC9-3503-6CD6E98DAEC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" b="53668"/>
          <a:stretch>
            <a:fillRect/>
          </a:stretch>
        </p:blipFill>
        <p:spPr>
          <a:xfrm>
            <a:off x="30295" y="4449151"/>
            <a:ext cx="1143171" cy="6291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9C64876-0144-9D44-3F08-3EE58B05C4A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41809" r="48603" b="11179"/>
          <a:stretch>
            <a:fillRect/>
          </a:stretch>
        </p:blipFill>
        <p:spPr>
          <a:xfrm>
            <a:off x="1192343" y="4450839"/>
            <a:ext cx="553596" cy="6165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1EE582B-6F99-6B10-B332-7EC58B8FC5D5}"/>
              </a:ext>
            </a:extLst>
          </p:cNvPr>
          <p:cNvSpPr txBox="1"/>
          <p:nvPr/>
        </p:nvSpPr>
        <p:spPr>
          <a:xfrm>
            <a:off x="-73586" y="4451090"/>
            <a:ext cx="2180326" cy="716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We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scan a grid of $p$ values</a:t>
            </a:r>
            <a:r>
              <a:rPr lang="en-DE" sz="400" b="1" noProof="1"/>
              <a:t>, estimate $\mathbb{P}(X=11)$ for each by simulation, and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report the maximizer</a:t>
            </a:r>
            <a:r>
              <a:rPr lang="en-DE" sz="400" b="1" noProof="1"/>
              <a:t>.</a:t>
            </a:r>
          </a:p>
          <a:p>
            <a:r>
              <a:rPr lang="en-DE" sz="400" noProof="1"/>
              <a:t>grid &lt;- seq(0, 1, by = 0.005)nrep &lt;- 20000                             # per-grid Monte Carlo sizep11_est &lt;- numeric(length(grid))for (i in seq_along(grid)) {  x &lt;- rbinom(nrep, size = 12, prob = grid[i])  p11_est[i] &lt;- mean(x == 11)}imax &lt;- which.max(p11_est)data.frame(p_grid = grid[imax], P_Xeq11_est = p11_est[imax])</a:t>
            </a:r>
          </a:p>
          <a:p>
            <a:r>
              <a:rPr lang="en-DE" sz="400" b="1" noProof="1"/>
              <a:t>You can visualize the estimated curve:</a:t>
            </a:r>
          </a:p>
          <a:p>
            <a:r>
              <a:rPr lang="en-DE" sz="400" noProof="1"/>
              <a:t>op &lt;- par(mar = c(4, 4, 1, 1)); on.exit(par(op))plot(grid, p11_est, type = "l", xlab = "p", ylab = "Estimated P(X=11)",     main = "Binomial(12,p): Monte Carlo estimate of P(X=11)")abline(v = grid[imax], lty = 2)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1B976C9-4A02-B589-2572-33427CFFFE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16" y="5109795"/>
            <a:ext cx="907855" cy="586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3C70FD7-F611-714A-8E11-25535921B45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5503" y="5119154"/>
            <a:ext cx="284495" cy="4494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7B430B1-CA86-BB72-7BA6-1641A7EA1145}"/>
              </a:ext>
            </a:extLst>
          </p:cNvPr>
          <p:cNvSpPr txBox="1"/>
          <p:nvPr/>
        </p:nvSpPr>
        <p:spPr>
          <a:xfrm>
            <a:off x="-86733" y="5119154"/>
            <a:ext cx="2180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Compute P(U ≤ 1/2), P(U ∈ [1/3, 2/3]), P(U = 1)</a:t>
            </a:r>
          </a:p>
          <a:p>
            <a:r>
              <a:rPr lang="en-DE" sz="400" noProof="1"/>
              <a:t>U &lt;- runif(N)p1 &lt;- mean(U &lt;= 0.5)p2 &lt;- mean(U &gt;= 1/3 &amp; U &lt;= 2/3)p3 &lt;- mean(U == 1)  # should be ~0 in simulation as well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84B2A48-462A-716C-F6F3-E9D671FDC44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16" y="5346335"/>
            <a:ext cx="987662" cy="569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5630D27-D2B2-DF2A-DDD9-E5B8CF86101D}"/>
              </a:ext>
            </a:extLst>
          </p:cNvPr>
          <p:cNvSpPr txBox="1"/>
          <p:nvPr/>
        </p:nvSpPr>
        <p:spPr>
          <a:xfrm>
            <a:off x="-55645" y="5351558"/>
            <a:ext cx="21803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noProof="1"/>
              <a:t>lambda &lt;- 4Z &lt;- rexp(N, rate = lambda)p_gt5 &lt;- mean(Z &gt; 5)p_2to5 &lt;- mean(Z &gt; 2 &amp; Z &lt;= 5)se_gt5 &lt;- sqrt(p_gt5*(1-p_gt5)/N)se_2to5 &lt;- sqrt(p_2to5*(1-p_2to5)/N)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397E76-9466-2DE0-90C9-2AF5BBD4E4B5}"/>
              </a:ext>
            </a:extLst>
          </p:cNvPr>
          <p:cNvSpPr txBox="1"/>
          <p:nvPr/>
        </p:nvSpPr>
        <p:spPr>
          <a:xfrm>
            <a:off x="-61995" y="5486746"/>
            <a:ext cx="2180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Find $c$ so that $f$ is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a valid density </a:t>
            </a:r>
            <a:r>
              <a:rPr lang="en-DE" sz="400" b="1" noProof="1"/>
              <a:t>Show which constants c make the function a valid density: (i) f(x) = cx on</a:t>
            </a:r>
          </a:p>
          <a:p>
            <a:r>
              <a:rPr lang="en-DE" sz="400" b="1" noProof="1"/>
              <a:t>(0, 1); (ii) f(x) = cxn on (0, 1).</a:t>
            </a:r>
            <a:br>
              <a:rPr lang="en-DE" sz="400" b="1" noProof="1"/>
            </a:br>
            <a:r>
              <a:rPr lang="en-DE" sz="400" noProof="1"/>
              <a:t># (i) f(x)=c xx &lt;- runif(N)                  # MC points on (0,1)int_hat &lt;- mean(x)             # estimate of ∫_0^1 x dxc_hat_i &lt;- 1 / int_hatc_hat_i# (ii) f(x)=c x^nn_power &lt;- 2                   # &lt;-- change n here (must be &gt; -1)if (n_power &lt;= -1) {  stop("For simulation-based normalization we require n &gt; -1 to ensure integrability.")} x &lt;- runif(N)int_hat_n &lt;- mean(x^n_power)c_hat_ii &lt;- 1 / int_hat_nc_hat_ii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46E639D-6B89-5858-3B22-68CC3B3CEC7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b="76905"/>
          <a:stretch>
            <a:fillRect/>
          </a:stretch>
        </p:blipFill>
        <p:spPr>
          <a:xfrm>
            <a:off x="989717" y="5588828"/>
            <a:ext cx="1031139" cy="7414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2E14CD2-E101-0158-8F4E-6B199A52C9FA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4217" t="34133" r="57955" b="45497"/>
          <a:stretch>
            <a:fillRect/>
          </a:stretch>
        </p:blipFill>
        <p:spPr>
          <a:xfrm>
            <a:off x="658125" y="5640100"/>
            <a:ext cx="390065" cy="6539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A01A311-ECFB-FF69-ACE1-6B73FC677AF9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73588" r="16910" b="5026"/>
          <a:stretch>
            <a:fillRect/>
          </a:stretch>
        </p:blipFill>
        <p:spPr>
          <a:xfrm>
            <a:off x="1079046" y="5644848"/>
            <a:ext cx="856776" cy="686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5D9DBB-20B1-5C77-38DD-313EA7182884}"/>
              </a:ext>
            </a:extLst>
          </p:cNvPr>
          <p:cNvSpPr txBox="1"/>
          <p:nvPr/>
        </p:nvSpPr>
        <p:spPr>
          <a:xfrm>
            <a:off x="1987014" y="172141"/>
            <a:ext cx="14574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00" b="1" noProof="1"/>
              <a:t>Let $X$ be the outcome of a </a:t>
            </a:r>
            <a:r>
              <a:rPr lang="en-DE" sz="3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fair die scaled by $1/6</a:t>
            </a:r>
            <a:r>
              <a:rPr lang="en-DE" sz="300" b="1" noProof="1"/>
              <a:t>$, so $X\in\{1/6,\dots,1\}$. Estimate and plot the </a:t>
            </a:r>
            <a:r>
              <a:rPr lang="en-DE" sz="3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empirical cdf</a:t>
            </a:r>
            <a:r>
              <a:rPr lang="en-DE" sz="300" b="1" noProof="1"/>
              <a:t>.</a:t>
            </a:r>
          </a:p>
          <a:p>
            <a:r>
              <a:rPr lang="en-DE" sz="300" noProof="1"/>
              <a:t>op &lt;- par(mar = c(4, 4, 1, 1)); on.exit(par(op))</a:t>
            </a:r>
          </a:p>
          <a:p>
            <a:r>
              <a:rPr lang="en-DE" sz="300" noProof="1"/>
              <a:t>die &lt;- sample(1:6, N, replace = TRUE)</a:t>
            </a:r>
          </a:p>
          <a:p>
            <a:r>
              <a:rPr lang="en-DE" sz="300" noProof="1"/>
              <a:t>X &lt;- die / 6</a:t>
            </a:r>
          </a:p>
          <a:p>
            <a:r>
              <a:rPr lang="en-DE" sz="300" noProof="1"/>
              <a:t>plot(ecdf(X), main = "Empirical CDF of X = (die outcome)/6",     xlab = "x", ylab = expression(F[X](x)))</a:t>
            </a:r>
          </a:p>
          <a:p>
            <a:r>
              <a:rPr lang="en-DE" sz="300" noProof="1"/>
              <a:t>abline(h = seq(0,1,by=1/6), lty = 3)</a:t>
            </a:r>
          </a:p>
          <a:p>
            <a:r>
              <a:rPr lang="en-DE" sz="300" noProof="1"/>
              <a:t>abline(v = (1:6)/6, lty = 3)</a:t>
            </a:r>
          </a:p>
          <a:p>
            <a:r>
              <a:rPr lang="en-DE" sz="300" b="1" noProof="1"/>
              <a:t>We </a:t>
            </a:r>
            <a:r>
              <a:rPr lang="en-DE" sz="3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verify cdf properties empirically: nondecreasing (by construction), right-continuous (step ecdf), limits near 0 and 1:</a:t>
            </a:r>
          </a:p>
          <a:p>
            <a:r>
              <a:rPr lang="en-DE" sz="300" noProof="1"/>
              <a:t>range_ecdf &lt;- c(min(X), max(X))</a:t>
            </a:r>
          </a:p>
          <a:p>
            <a:r>
              <a:rPr lang="en-DE" sz="300" noProof="1"/>
              <a:t>c(min_X = range_ecdf[1], max_X = range_ecdf[2], F_at_0 = mean(X &lt;= 0), F_at_1 = mean(X &lt;= 1))</a:t>
            </a:r>
          </a:p>
          <a:p>
            <a:endParaRPr lang="en-DE" sz="300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2C7315-19DE-5C90-9C4C-D386351202F4}"/>
              </a:ext>
            </a:extLst>
          </p:cNvPr>
          <p:cNvSpPr txBox="1"/>
          <p:nvPr/>
        </p:nvSpPr>
        <p:spPr>
          <a:xfrm>
            <a:off x="1990575" y="836090"/>
            <a:ext cx="15465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If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X ∼ N (0, 1</a:t>
            </a:r>
            <a:r>
              <a:rPr lang="en-DE" sz="400" b="1" noProof="1"/>
              <a:t>), express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P(2 &lt; X &lt; 7) and P(X ≤ −3) </a:t>
            </a:r>
            <a:r>
              <a:rPr lang="en-DE" sz="400" b="1" noProof="1"/>
              <a:t>in terms of Φ and</a:t>
            </a:r>
          </a:p>
          <a:p>
            <a:r>
              <a:rPr lang="en-DE" sz="400" b="1" noProof="1"/>
              <a:t>evaluate numerically.</a:t>
            </a:r>
          </a:p>
          <a:p>
            <a:r>
              <a:rPr lang="en-DE" sz="400" noProof="1"/>
              <a:t>Xn &lt;- rnorm(N, mean = 0, sd = 1)</a:t>
            </a:r>
          </a:p>
          <a:p>
            <a:r>
              <a:rPr lang="en-DE" sz="400" noProof="1"/>
              <a:t>p_a &lt;- mean(Xn &gt; 2 &amp; Xn &lt; 7)</a:t>
            </a:r>
          </a:p>
          <a:p>
            <a:r>
              <a:rPr lang="en-DE" sz="400" noProof="1"/>
              <a:t>p_b &lt;- mean(Xn &lt;= -3)</a:t>
            </a:r>
          </a:p>
          <a:p>
            <a:r>
              <a:rPr lang="en-DE" sz="400" noProof="1"/>
              <a:t>se_a &lt;- sqrt(p_a*(1-p_a)/N)</a:t>
            </a:r>
          </a:p>
          <a:p>
            <a:r>
              <a:rPr lang="en-DE" sz="400" noProof="1"/>
              <a:t>se_b &lt;- sqrt(p_b*(1-p_b)/N)</a:t>
            </a:r>
          </a:p>
          <a:p>
            <a:r>
              <a:rPr lang="en-DE" sz="400" noProof="1"/>
              <a:t>c(`P(2&lt;X&lt;7)` = p_a, SE_a = se_a, `P(X&lt;=-3)` = p_b, SE_b = se_b)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3E2566-4A1E-6882-0D27-A8CC43F1EDA5}"/>
              </a:ext>
            </a:extLst>
          </p:cNvPr>
          <p:cNvSpPr txBox="1"/>
          <p:nvPr/>
        </p:nvSpPr>
        <p:spPr>
          <a:xfrm>
            <a:off x="1997682" y="1429760"/>
            <a:ext cx="142217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If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X ∼ Uniform[L, R] </a:t>
            </a:r>
            <a:r>
              <a:rPr lang="en-DE" sz="400" b="1" noProof="1"/>
              <a:t>and Y = cX + d with c &gt; 0,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show Y ∼ Uniform[cL + d, cR + d]</a:t>
            </a:r>
          </a:p>
          <a:p>
            <a:r>
              <a:rPr lang="en-DE" sz="400" noProof="1"/>
              <a:t>op &lt;- par(mar = c(4, 4, 1, 1)); on.exit(par(op))</a:t>
            </a:r>
          </a:p>
          <a:p>
            <a:r>
              <a:rPr lang="en-DE" sz="400" noProof="1"/>
              <a:t>L &lt;- -2; R &lt;- 5; c_coef &lt;- 1.5; d_coef &lt;- -0.25   # parameters </a:t>
            </a:r>
          </a:p>
          <a:p>
            <a:r>
              <a:rPr lang="en-DE" sz="400" noProof="1"/>
              <a:t>Xu &lt;- runif(N, min = L, max = R)</a:t>
            </a:r>
          </a:p>
          <a:p>
            <a:r>
              <a:rPr lang="en-DE" sz="400" noProof="1"/>
              <a:t>Yt &lt;- c_coef * Xu + d_coef</a:t>
            </a:r>
          </a:p>
          <a:p>
            <a:r>
              <a:rPr lang="en-DE" sz="400" noProof="1"/>
              <a:t># Compare histogram to theoretical support</a:t>
            </a:r>
          </a:p>
          <a:p>
            <a:r>
              <a:rPr lang="en-DE" sz="400" noProof="1"/>
              <a:t>hist(Yt, breaks = 60, probability = TRUE, main = "Transformed Uniform: Y = cX + d",     xlab = "y")</a:t>
            </a:r>
          </a:p>
          <a:p>
            <a:r>
              <a:rPr lang="en-DE" sz="400" noProof="1"/>
              <a:t>abline(v = c(c_coef*L + d_coef, c_coef*R + d_coef), lty = 2)</a:t>
            </a:r>
          </a:p>
          <a:p>
            <a:r>
              <a:rPr lang="en-DE" sz="400" noProof="1"/>
              <a:t># Empirical check of bounds and flatness: simple KS test against Uniform[a,b]</a:t>
            </a:r>
          </a:p>
          <a:p>
            <a:r>
              <a:rPr lang="en-DE" sz="400" noProof="1"/>
              <a:t>a &lt;- c_coef*L + d_coef; b &lt;- c_coef*R + d_coef</a:t>
            </a:r>
          </a:p>
          <a:p>
            <a:r>
              <a:rPr lang="en-DE" sz="400" noProof="1"/>
              <a:t>ks &lt;- suppressWarnings(ks.test((Yt - a)/(b - a), "punif"))</a:t>
            </a:r>
          </a:p>
          <a:p>
            <a:r>
              <a:rPr lang="en-DE" sz="400" noProof="1"/>
              <a:t>c(a = a, b = b, KS_p_value = ks$p.value)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AE28F2-D7DB-CC4A-542C-1672B846535E}"/>
              </a:ext>
            </a:extLst>
          </p:cNvPr>
          <p:cNvSpPr txBox="1"/>
          <p:nvPr/>
        </p:nvSpPr>
        <p:spPr>
          <a:xfrm>
            <a:off x="1996077" y="2449528"/>
            <a:ext cx="1422176" cy="716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If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X ∼ N (µ, σ2 ) </a:t>
            </a:r>
            <a:r>
              <a:rPr lang="en-DE" sz="400" b="1" noProof="1"/>
              <a:t>and Y = cX + d with c ̸= 0, show </a:t>
            </a:r>
            <a:r>
              <a:rPr lang="en-DE" sz="400" b="1" noProof="1">
                <a:solidFill>
                  <a:schemeClr val="tx2">
                    <a:lumMod val="75000"/>
                    <a:lumOff val="25000"/>
                  </a:schemeClr>
                </a:solidFill>
              </a:rPr>
              <a:t>Y ∼ N </a:t>
            </a:r>
            <a:r>
              <a:rPr lang="en-DE" sz="400" b="1" noProof="1"/>
              <a:t>(cµ + d, c2σ 2 ).</a:t>
            </a:r>
          </a:p>
          <a:p>
            <a:r>
              <a:rPr lang="en-DE" sz="400" noProof="1"/>
              <a:t>op &lt;- par(mar = c(4, 4, 1, 1)); on.exit(par(op))</a:t>
            </a:r>
          </a:p>
          <a:p>
            <a:r>
              <a:rPr lang="en-DE" sz="400" noProof="1"/>
              <a:t>mu &lt;- 1.2; sigma &lt;- 0.7; c_coef &lt;- -2; d_coef &lt;- 0.3</a:t>
            </a:r>
          </a:p>
          <a:p>
            <a:r>
              <a:rPr lang="en-DE" sz="400" noProof="1"/>
              <a:t>Xg &lt;- rnorm(N, mean = mu, sd = sigma)</a:t>
            </a:r>
          </a:p>
          <a:p>
            <a:r>
              <a:rPr lang="en-DE" sz="400" noProof="1"/>
              <a:t>Yg &lt;- c_coef * Xg + d_coef</a:t>
            </a:r>
          </a:p>
          <a:p>
            <a:r>
              <a:rPr lang="en-DE" sz="400" noProof="1"/>
              <a:t>c(sample_mean_Y = mean(Yg), sample_var_Y = var(Yg))</a:t>
            </a:r>
          </a:p>
          <a:p>
            <a:r>
              <a:rPr lang="en-DE" sz="400" noProof="1"/>
              <a:t>hist(Yg, breaks = 60, probability = TRUE, main = "Histogram of Y = cX + d (Normal case)",     xlab = "y")</a:t>
            </a:r>
          </a:p>
          <a:p>
            <a:endParaRPr lang="en-DE" sz="400" b="1" noProof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76DA6C-424D-882A-8E3B-F2A9CB00D3E4}"/>
              </a:ext>
            </a:extLst>
          </p:cNvPr>
          <p:cNvSpPr txBox="1"/>
          <p:nvPr/>
        </p:nvSpPr>
        <p:spPr>
          <a:xfrm>
            <a:off x="2026859" y="3265603"/>
            <a:ext cx="1422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noProof="1"/>
              <a:t>set.seed(1)</a:t>
            </a:r>
          </a:p>
          <a:p>
            <a:r>
              <a:rPr lang="en-DE" sz="400" noProof="1"/>
              <a:t>N &lt;- 20000</a:t>
            </a:r>
          </a:p>
          <a:p>
            <a:r>
              <a:rPr lang="en-DE" sz="400" noProof="1"/>
              <a:t>eps &lt;- 0.05</a:t>
            </a:r>
          </a:p>
          <a:p>
            <a:r>
              <a:rPr lang="en-DE" sz="400" noProof="1"/>
              <a:t>nvec &lt;- c(10, 50, 100, 500, 1000, 5000)</a:t>
            </a:r>
          </a:p>
          <a:p>
            <a:r>
              <a:rPr lang="en-DE" sz="400" noProof="1"/>
              <a:t>prob_hat &lt;- sapply(nvec, function(n){  X &lt;- matrix(runif(N*n), nrow=N)  mean(abs(rowMeans(X) - 0.5) &gt; eps)})</a:t>
            </a:r>
          </a:p>
          <a:p>
            <a:r>
              <a:rPr lang="en-DE" sz="400" noProof="1"/>
              <a:t>data.frame(n = nvec, Empirical = prob_hat)</a:t>
            </a:r>
            <a:endParaRPr lang="en-DE" sz="400" b="1" noProof="1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FF766BA-E2BA-534F-B6AC-62F967ECE76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84590"/>
          <a:stretch>
            <a:fillRect/>
          </a:stretch>
        </p:blipFill>
        <p:spPr>
          <a:xfrm>
            <a:off x="2084836" y="3039283"/>
            <a:ext cx="1284119" cy="8858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74314A3-FA64-C68E-ECF6-36C2EEDA35E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0742" r="82356" b="34640"/>
          <a:stretch>
            <a:fillRect/>
          </a:stretch>
        </p:blipFill>
        <p:spPr>
          <a:xfrm>
            <a:off x="2752581" y="3178816"/>
            <a:ext cx="226569" cy="840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44F100E-9A05-7B0A-267D-165B924DF09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665" t="68269" r="7398" b="18794"/>
          <a:stretch>
            <a:fillRect/>
          </a:stretch>
        </p:blipFill>
        <p:spPr>
          <a:xfrm>
            <a:off x="2984926" y="3182491"/>
            <a:ext cx="500001" cy="7436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800EC2D-5B85-5390-2A37-1749195030E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3323" t="16441" r="5853" b="52324"/>
          <a:stretch>
            <a:fillRect/>
          </a:stretch>
        </p:blipFill>
        <p:spPr>
          <a:xfrm>
            <a:off x="2189855" y="3103814"/>
            <a:ext cx="524231" cy="17956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E9BDCD3-A40E-2015-2435-D3619B47C8F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r="54235" b="71582"/>
          <a:stretch>
            <a:fillRect/>
          </a:stretch>
        </p:blipFill>
        <p:spPr>
          <a:xfrm>
            <a:off x="2101185" y="3796211"/>
            <a:ext cx="861665" cy="7984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D75A9B0-49F6-AD4C-ADB5-FDFDCDBB613E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38186" t="36307" r="33697" b="41398"/>
          <a:stretch>
            <a:fillRect/>
          </a:stretch>
        </p:blipFill>
        <p:spPr>
          <a:xfrm>
            <a:off x="2998269" y="3808146"/>
            <a:ext cx="529371" cy="6264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3995BAC-EF49-F3CA-7464-6C186D0650C6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2" t="69121" r="35696" b="261"/>
          <a:stretch>
            <a:fillRect/>
          </a:stretch>
        </p:blipFill>
        <p:spPr>
          <a:xfrm>
            <a:off x="2096291" y="3858276"/>
            <a:ext cx="1210740" cy="86025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54BB922-1AD2-8812-2413-0042B421BC49}"/>
              </a:ext>
            </a:extLst>
          </p:cNvPr>
          <p:cNvSpPr txBox="1"/>
          <p:nvPr/>
        </p:nvSpPr>
        <p:spPr>
          <a:xfrm>
            <a:off x="2018848" y="3893622"/>
            <a:ext cx="1471368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noProof="1"/>
              <a:t>varX &lt;- 1/12</a:t>
            </a:r>
          </a:p>
          <a:p>
            <a:r>
              <a:rPr lang="en-DE" sz="400" noProof="1"/>
              <a:t>bound &lt;- varX/(nvec*eps^2)</a:t>
            </a:r>
          </a:p>
          <a:p>
            <a:r>
              <a:rPr lang="en-DE" sz="400" noProof="1"/>
              <a:t>data.frame(n = nvec, Chebyshev_bound = bound, Empirical_prob = prob_hat)</a:t>
            </a:r>
            <a:endParaRPr lang="en-DE" sz="400" b="1" noProof="1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6783D20-962D-4E4C-8110-FE2C5D3D33D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r="55523" b="82063"/>
          <a:stretch>
            <a:fillRect/>
          </a:stretch>
        </p:blipFill>
        <p:spPr>
          <a:xfrm>
            <a:off x="2099398" y="4194928"/>
            <a:ext cx="669906" cy="6654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236EB9A0-D62C-65E2-CF9E-6E594F2014DB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48585" t="21929" r="24520" b="24011"/>
          <a:stretch>
            <a:fillRect/>
          </a:stretch>
        </p:blipFill>
        <p:spPr>
          <a:xfrm>
            <a:off x="2867102" y="4118611"/>
            <a:ext cx="318179" cy="15753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2DBE1C98-EFEE-E810-8EFC-95C5DE68FAB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81023" r="32753" b="1582"/>
          <a:stretch>
            <a:fillRect/>
          </a:stretch>
        </p:blipFill>
        <p:spPr>
          <a:xfrm>
            <a:off x="2069492" y="4261473"/>
            <a:ext cx="1012860" cy="6453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B55E1D4C-27F8-BF56-A832-7FDAAD96D7A4}"/>
              </a:ext>
            </a:extLst>
          </p:cNvPr>
          <p:cNvSpPr txBox="1"/>
          <p:nvPr/>
        </p:nvSpPr>
        <p:spPr>
          <a:xfrm>
            <a:off x="1977721" y="4274653"/>
            <a:ext cx="1221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noProof="1"/>
              <a:t>lambda &lt;- 3</a:t>
            </a:r>
          </a:p>
          <a:p>
            <a:r>
              <a:rPr lang="en-DE" sz="400" noProof="1"/>
              <a:t>n &lt;- 1600</a:t>
            </a:r>
          </a:p>
          <a:p>
            <a:r>
              <a:rPr lang="en-DE" sz="400" noProof="1"/>
              <a:t>EY &lt;- 1/lambda</a:t>
            </a:r>
          </a:p>
          <a:p>
            <a:r>
              <a:rPr lang="en-DE" sz="400" noProof="1"/>
              <a:t>VarY &lt;- 1/lambda^2</a:t>
            </a:r>
          </a:p>
          <a:p>
            <a:r>
              <a:rPr lang="en-DE" sz="400" noProof="1"/>
              <a:t>ESn &lt;- n*EY</a:t>
            </a:r>
          </a:p>
          <a:p>
            <a:r>
              <a:rPr lang="en-DE" sz="400" noProof="1"/>
              <a:t>sdSn &lt;- sqrt(n*VarY)</a:t>
            </a:r>
          </a:p>
          <a:p>
            <a:r>
              <a:rPr lang="en-DE" sz="400" noProof="1"/>
              <a:t>p_clt &lt;- pnorm((540-ESn)/sdSn)</a:t>
            </a:r>
          </a:p>
          <a:p>
            <a:r>
              <a:rPr lang="en-DE" sz="400" noProof="1"/>
              <a:t>p_clt</a:t>
            </a:r>
          </a:p>
          <a:p>
            <a:r>
              <a:rPr lang="en-DE" sz="400" noProof="1"/>
              <a:t>S_samples &lt;- replicate(N, sum(rexp(n, lambda)))</a:t>
            </a:r>
          </a:p>
          <a:p>
            <a:r>
              <a:rPr lang="en-DE" sz="400" noProof="1"/>
              <a:t>p_mc &lt;- mean(S_samples &lt;= 540)</a:t>
            </a:r>
          </a:p>
          <a:p>
            <a:r>
              <a:rPr lang="en-DE" sz="400" noProof="1"/>
              <a:t>data.frame(CLT = p_clt, Empirical = p_mc)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EDF33F84-EA88-E2B5-1119-66E8C84800DB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21308" r="24993" b="9082"/>
          <a:stretch>
            <a:fillRect/>
          </a:stretch>
        </p:blipFill>
        <p:spPr>
          <a:xfrm>
            <a:off x="2081448" y="5044740"/>
            <a:ext cx="1272387" cy="15972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6EAA7B39-9214-E75B-35B9-5BC709FD5143}"/>
              </a:ext>
            </a:extLst>
          </p:cNvPr>
          <p:cNvSpPr txBox="1"/>
          <p:nvPr/>
        </p:nvSpPr>
        <p:spPr>
          <a:xfrm>
            <a:off x="1999449" y="5157946"/>
            <a:ext cx="1794424" cy="535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noProof="1"/>
              <a:t>par(mar = c(4, 4, 2, 1))   # bottom, left, top, right margins</a:t>
            </a:r>
          </a:p>
          <a:p>
            <a:r>
              <a:rPr lang="en-DE" sz="400" noProof="1"/>
              <a:t>nvec2 &lt;- c(1, 5, 20, 100, 500)</a:t>
            </a:r>
          </a:p>
          <a:p>
            <a:r>
              <a:rPr lang="en-DE" sz="400" noProof="1"/>
              <a:t>par(mfrow=c(2,3))</a:t>
            </a:r>
          </a:p>
          <a:p>
            <a:r>
              <a:rPr lang="en-DE" sz="400" noProof="1"/>
              <a:t>for(n in nvec2){  X &lt;- rnorm(20000, mean=0, sd=sqrt(1/n))  </a:t>
            </a:r>
          </a:p>
          <a:p>
            <a:r>
              <a:rPr lang="en-DE" sz="400" noProof="1"/>
              <a:t>hist(X, breaks=50, prob=TRUE, main=paste("n =", n))  </a:t>
            </a:r>
          </a:p>
          <a:p>
            <a:r>
              <a:rPr lang="en-DE" sz="400" noProof="1"/>
              <a:t>curve(dnorm(x,0,1/sqrt(n)), add=TRUE, col="red", lwd=2)</a:t>
            </a:r>
          </a:p>
          <a:p>
            <a:r>
              <a:rPr lang="en-DE" sz="400" noProof="1"/>
              <a:t>}par(mfrow=c(1,1))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5BA2C10-C8B9-2450-C358-9D7E08F481C4}"/>
              </a:ext>
            </a:extLst>
          </p:cNvPr>
          <p:cNvSpPr txBox="1"/>
          <p:nvPr/>
        </p:nvSpPr>
        <p:spPr>
          <a:xfrm>
            <a:off x="1987014" y="5572741"/>
            <a:ext cx="1794424" cy="59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Dataset used throughout</a:t>
            </a:r>
          </a:p>
          <a:p>
            <a:r>
              <a:rPr lang="en-DE" sz="400" noProof="1"/>
              <a:t>data(cars)</a:t>
            </a:r>
          </a:p>
          <a:p>
            <a:r>
              <a:rPr lang="en-DE" sz="400" noProof="1"/>
              <a:t>dat &lt;- cars</a:t>
            </a:r>
          </a:p>
          <a:p>
            <a:r>
              <a:rPr lang="en-DE" sz="400" noProof="1"/>
              <a:t>x &lt;- dat$speed   # predictor (mph)</a:t>
            </a:r>
          </a:p>
          <a:p>
            <a:r>
              <a:rPr lang="en-DE" sz="400" noProof="1"/>
              <a:t>y &lt;- dat$dist    # response (ft)</a:t>
            </a:r>
          </a:p>
          <a:p>
            <a:r>
              <a:rPr lang="en-DE" sz="400" noProof="1"/>
              <a:t>n &lt;- nrow(dat)</a:t>
            </a:r>
          </a:p>
          <a:p>
            <a:r>
              <a:rPr lang="en-DE" sz="400" noProof="1"/>
              <a:t>head(dat)</a:t>
            </a:r>
          </a:p>
          <a:p>
            <a:r>
              <a:rPr lang="en-DE" sz="400" noProof="1"/>
              <a:t>summary(dat)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17847174-F8CB-50A0-267F-8316F4A4A98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62829" y="6088617"/>
            <a:ext cx="794825" cy="9123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170A3698-E2BE-6449-635A-5996B55BC51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56691" y="6171305"/>
            <a:ext cx="991445" cy="198679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D088B756-247A-B44A-BD6D-E3CA148248A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48512" y="6343072"/>
            <a:ext cx="570502" cy="80933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D5676A14-EC42-CFF8-CBC8-4F0A88789318}"/>
              </a:ext>
            </a:extLst>
          </p:cNvPr>
          <p:cNvSpPr txBox="1"/>
          <p:nvPr/>
        </p:nvSpPr>
        <p:spPr>
          <a:xfrm>
            <a:off x="1980435" y="6362832"/>
            <a:ext cx="856776" cy="523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noProof="1"/>
              <a:t>xbar &lt;- mean(x)</a:t>
            </a:r>
          </a:p>
          <a:p>
            <a:r>
              <a:rPr lang="en-DE" sz="400" noProof="1"/>
              <a:t>ybar &lt;- mean(y)</a:t>
            </a:r>
          </a:p>
          <a:p>
            <a:r>
              <a:rPr lang="en-DE" sz="400" noProof="1"/>
              <a:t>Sxx &lt;- sum((x - xbar)^2)</a:t>
            </a:r>
          </a:p>
          <a:p>
            <a:r>
              <a:rPr lang="en-DE" sz="400" noProof="1"/>
              <a:t>Sxy &lt;- sum((x - xbar) * (y - ybar))</a:t>
            </a:r>
          </a:p>
          <a:p>
            <a:r>
              <a:rPr lang="en-DE" sz="400" noProof="1"/>
              <a:t>b1 &lt;- Sxy / Sxx</a:t>
            </a:r>
          </a:p>
          <a:p>
            <a:r>
              <a:rPr lang="en-DE" sz="400" noProof="1"/>
              <a:t>b0 &lt;- ybar - b1 * xbar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05079298-E3BC-693D-CAF6-19BAD69A7A8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64343" t="71510" r="-180" b="-6889"/>
          <a:stretch>
            <a:fillRect/>
          </a:stretch>
        </p:blipFill>
        <p:spPr>
          <a:xfrm>
            <a:off x="2717641" y="3928232"/>
            <a:ext cx="674740" cy="9940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F45774CF-0420-95B1-36CC-109E688F971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65507" t="81024" b="-5475"/>
          <a:stretch>
            <a:fillRect/>
          </a:stretch>
        </p:blipFill>
        <p:spPr>
          <a:xfrm>
            <a:off x="2618036" y="4320075"/>
            <a:ext cx="519535" cy="90717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F2814E37-26CF-E798-0A94-E5854D06CF61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73856" t="21308" b="45075"/>
          <a:stretch>
            <a:fillRect/>
          </a:stretch>
        </p:blipFill>
        <p:spPr>
          <a:xfrm>
            <a:off x="2955463" y="5256638"/>
            <a:ext cx="443503" cy="77135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7B36D9A-355F-5BA3-7998-CAF0A674D4D3}"/>
              </a:ext>
            </a:extLst>
          </p:cNvPr>
          <p:cNvCxnSpPr>
            <a:cxnSpLocks/>
          </p:cNvCxnSpPr>
          <p:nvPr/>
        </p:nvCxnSpPr>
        <p:spPr>
          <a:xfrm>
            <a:off x="3521863" y="-33290"/>
            <a:ext cx="0" cy="70106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Picture 76">
            <a:extLst>
              <a:ext uri="{FF2B5EF4-FFF2-40B4-BE49-F238E27FC236}">
                <a16:creationId xmlns:a16="http://schemas.microsoft.com/office/drawing/2014/main" id="{25DA6E11-22CD-8111-173D-D92E34698C1A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b="63243"/>
          <a:stretch>
            <a:fillRect/>
          </a:stretch>
        </p:blipFill>
        <p:spPr>
          <a:xfrm>
            <a:off x="3537131" y="-11637"/>
            <a:ext cx="1075451" cy="102886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9F3379DC-8931-93A5-FF89-C49122F5D185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t="49069" r="83500" b="31695"/>
          <a:stretch>
            <a:fillRect/>
          </a:stretch>
        </p:blipFill>
        <p:spPr>
          <a:xfrm>
            <a:off x="3541687" y="70240"/>
            <a:ext cx="177448" cy="53842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2997AD93-C94B-93C8-9E3F-5FC403BB276D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41183" t="70270" r="4506" b="4619"/>
          <a:stretch>
            <a:fillRect/>
          </a:stretch>
        </p:blipFill>
        <p:spPr>
          <a:xfrm>
            <a:off x="3719136" y="63103"/>
            <a:ext cx="584087" cy="70286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5A2E26AF-DA50-181F-E6CB-FA41DCBF560E}"/>
              </a:ext>
            </a:extLst>
          </p:cNvPr>
          <p:cNvSpPr txBox="1"/>
          <p:nvPr/>
        </p:nvSpPr>
        <p:spPr>
          <a:xfrm>
            <a:off x="3477876" y="54784"/>
            <a:ext cx="1422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yhat &lt;- b0 + b1 * x</a:t>
            </a:r>
          </a:p>
          <a:p>
            <a:pPr latinLnBrk="1"/>
            <a:r>
              <a:rPr lang="en-DE" sz="400" noProof="1"/>
              <a:t>e &lt;- y - yhat</a:t>
            </a:r>
          </a:p>
          <a:p>
            <a:pPr latinLnBrk="1"/>
            <a:r>
              <a:rPr lang="en-DE" sz="400" noProof="1"/>
              <a:t>head(data.frame(x = x, y = y, yhat = yhat, e = e))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7A683D5F-D84B-56D5-D17D-AB16E8CA2C9D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r="25138" b="78827"/>
          <a:stretch>
            <a:fillRect/>
          </a:stretch>
        </p:blipFill>
        <p:spPr>
          <a:xfrm>
            <a:off x="3546546" y="313032"/>
            <a:ext cx="1066032" cy="8048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045A20AB-920D-2191-0AB8-7B54D48488A3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2223" t="81468" r="2081" b="974"/>
          <a:stretch>
            <a:fillRect/>
          </a:stretch>
        </p:blipFill>
        <p:spPr>
          <a:xfrm>
            <a:off x="3546546" y="422136"/>
            <a:ext cx="1292314" cy="6674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5375649-53DA-9AC7-A12A-37BE36E065A9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2352" t="36281" r="25138" b="46160"/>
          <a:stretch>
            <a:fillRect/>
          </a:stretch>
        </p:blipFill>
        <p:spPr>
          <a:xfrm>
            <a:off x="3546546" y="368660"/>
            <a:ext cx="1032531" cy="66740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993499AB-6EFC-6ED0-1349-49A14FBC100D}"/>
              </a:ext>
            </a:extLst>
          </p:cNvPr>
          <p:cNvSpPr txBox="1"/>
          <p:nvPr/>
        </p:nvSpPr>
        <p:spPr>
          <a:xfrm>
            <a:off x="3470904" y="428567"/>
            <a:ext cx="14221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sum(e)</a:t>
            </a:r>
          </a:p>
          <a:p>
            <a:pPr latinLnBrk="1"/>
            <a:r>
              <a:rPr lang="en-DE" sz="400" noProof="1"/>
              <a:t>sum(e * (x - xbar))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A8DED79D-287C-E90C-0D32-0C6727658EE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46545" y="584789"/>
            <a:ext cx="895302" cy="76441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36E67938-D472-7F85-F038-F5C25871FA33}"/>
              </a:ext>
            </a:extLst>
          </p:cNvPr>
          <p:cNvSpPr txBox="1"/>
          <p:nvPr/>
        </p:nvSpPr>
        <p:spPr>
          <a:xfrm>
            <a:off x="3477875" y="590950"/>
            <a:ext cx="14520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plot(y ~ x, xlab = "Speed (mph)", ylab = "Stopping distance (ft)")</a:t>
            </a:r>
          </a:p>
          <a:p>
            <a:pPr latinLnBrk="1"/>
            <a:r>
              <a:rPr lang="en-DE" sz="400" noProof="1"/>
              <a:t>abline(a = b0, b = b1, lwd = 2)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410C6BF-6576-12C4-A2CD-9B2E0B3C9062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9216" t="84906" r="3919" b="-1270"/>
          <a:stretch>
            <a:fillRect/>
          </a:stretch>
        </p:blipFill>
        <p:spPr>
          <a:xfrm>
            <a:off x="3692521" y="1133726"/>
            <a:ext cx="1099320" cy="91478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81185101-0298-63A4-1BBF-26ED703D8607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b="83636"/>
          <a:stretch>
            <a:fillRect/>
          </a:stretch>
        </p:blipFill>
        <p:spPr>
          <a:xfrm>
            <a:off x="3538125" y="913465"/>
            <a:ext cx="1265550" cy="91478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3B4031A8-138A-7CA3-2346-CD8F94FC80A6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21524" r="35026" b="63631"/>
          <a:stretch>
            <a:fillRect/>
          </a:stretch>
        </p:blipFill>
        <p:spPr>
          <a:xfrm>
            <a:off x="3540342" y="1000970"/>
            <a:ext cx="822272" cy="82986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88893B04-E7C8-E446-62D6-3F64661A358D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6671" t="43310" r="3113" b="44420"/>
          <a:stretch>
            <a:fillRect/>
          </a:stretch>
        </p:blipFill>
        <p:spPr>
          <a:xfrm>
            <a:off x="3537131" y="1073228"/>
            <a:ext cx="1141722" cy="68593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12C0AB9A-6D35-DA47-A646-77BC134176BF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55538" r="90929" b="33502"/>
          <a:stretch>
            <a:fillRect/>
          </a:stretch>
        </p:blipFill>
        <p:spPr>
          <a:xfrm>
            <a:off x="4686920" y="1079826"/>
            <a:ext cx="114803" cy="61269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7B82CE73-870A-DED4-C035-AEFB3F3C08E1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76355" r="91496" b="15605"/>
          <a:stretch>
            <a:fillRect/>
          </a:stretch>
        </p:blipFill>
        <p:spPr>
          <a:xfrm>
            <a:off x="3561797" y="1155030"/>
            <a:ext cx="107617" cy="44945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81103C3E-8D8A-2B83-A0F4-E42435EF9DB6}"/>
              </a:ext>
            </a:extLst>
          </p:cNvPr>
          <p:cNvSpPr txBox="1"/>
          <p:nvPr/>
        </p:nvSpPr>
        <p:spPr>
          <a:xfrm>
            <a:off x="3451026" y="1147545"/>
            <a:ext cx="1422176" cy="414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TSS &lt;- sum((y - ybar)^2)</a:t>
            </a:r>
          </a:p>
          <a:p>
            <a:pPr latinLnBrk="1"/>
            <a:r>
              <a:rPr lang="en-DE" sz="400" noProof="1"/>
              <a:t>RSS &lt;- sum((yhat - ybar)^2)</a:t>
            </a:r>
          </a:p>
          <a:p>
            <a:pPr latinLnBrk="1"/>
            <a:r>
              <a:rPr lang="en-DE" sz="400" noProof="1"/>
              <a:t>SSE &lt;- sum((y - yhat)^2)</a:t>
            </a:r>
          </a:p>
          <a:p>
            <a:pPr latinLnBrk="1"/>
            <a:r>
              <a:rPr lang="en-DE" sz="400" noProof="1"/>
              <a:t>c(TSS = TSS, RSS = RSS, SSE = SSE, check = TSS - (RSS + SSE))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E6D64BAB-65F3-AED1-EE11-333831DFAE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1" r="25215" b="69132"/>
          <a:stretch>
            <a:fillRect/>
          </a:stretch>
        </p:blipFill>
        <p:spPr>
          <a:xfrm>
            <a:off x="3535298" y="1423195"/>
            <a:ext cx="896782" cy="102020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D941B099-9736-23CF-8E3F-78C4C7D7DE98}"/>
              </a:ext>
            </a:extLst>
          </p:cNvPr>
          <p:cNvSpPr txBox="1"/>
          <p:nvPr/>
        </p:nvSpPr>
        <p:spPr>
          <a:xfrm>
            <a:off x="3451909" y="1468249"/>
            <a:ext cx="1448142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R2_from_RSS &lt;- RSS / TSS</a:t>
            </a:r>
          </a:p>
          <a:p>
            <a:pPr latinLnBrk="1"/>
            <a:r>
              <a:rPr lang="en-DE" sz="400" noProof="1"/>
              <a:t>R2_from_SSE &lt;- 1 - SSE / TSS</a:t>
            </a:r>
          </a:p>
          <a:p>
            <a:pPr latinLnBrk="1"/>
            <a:r>
              <a:rPr lang="en-DE" sz="400" noProof="1"/>
              <a:t>c(R2_from_RSS = R2_from_RSS, R2_from_SSE = R2_from_SSE)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A1B8E623-D96B-0469-31F2-D98E7BDD1633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l="17541" t="2" b="6912"/>
          <a:stretch>
            <a:fillRect/>
          </a:stretch>
        </p:blipFill>
        <p:spPr>
          <a:xfrm>
            <a:off x="3537131" y="1691220"/>
            <a:ext cx="1214678" cy="114869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16AD33B0-035D-1364-A8C8-41D2CC506E0D}"/>
              </a:ext>
            </a:extLst>
          </p:cNvPr>
          <p:cNvSpPr txBox="1"/>
          <p:nvPr/>
        </p:nvSpPr>
        <p:spPr>
          <a:xfrm>
            <a:off x="3457829" y="1748450"/>
            <a:ext cx="1448142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R2_from_RSS &lt;- RSS / TSS</a:t>
            </a:r>
          </a:p>
          <a:p>
            <a:pPr latinLnBrk="1"/>
            <a:r>
              <a:rPr lang="en-DE" sz="400" noProof="1"/>
              <a:t>R2_from_SSE &lt;- 1 - SSE / TSS</a:t>
            </a:r>
          </a:p>
          <a:p>
            <a:pPr latinLnBrk="1"/>
            <a:r>
              <a:rPr lang="en-DE" sz="400" noProof="1"/>
              <a:t>c(R2_from_RSS = R2_from_RSS, R2_from_SSE = R2_from_SSE)</a:t>
            </a:r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A837DD85-5387-5CBD-D541-5F84FF41BA0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537131" y="1973961"/>
            <a:ext cx="1264593" cy="77562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AD7D7257-3852-8B35-410C-3EF4D1F4D0F0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 t="-4242" b="11903"/>
          <a:stretch>
            <a:fillRect/>
          </a:stretch>
        </p:blipFill>
        <p:spPr>
          <a:xfrm>
            <a:off x="3538451" y="2047996"/>
            <a:ext cx="798686" cy="12101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BBAFF222-3D94-D04F-4742-65B5159C021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796165" y="2201279"/>
            <a:ext cx="673103" cy="165081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A11FDDD4-3825-6995-A443-D2EBE7E6C651}"/>
              </a:ext>
            </a:extLst>
          </p:cNvPr>
          <p:cNvSpPr txBox="1"/>
          <p:nvPr/>
        </p:nvSpPr>
        <p:spPr>
          <a:xfrm>
            <a:off x="3460413" y="2111076"/>
            <a:ext cx="900522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s2 &lt;- SSE / (n - 2)</a:t>
            </a:r>
          </a:p>
          <a:p>
            <a:pPr latinLnBrk="1"/>
            <a:r>
              <a:rPr lang="en-DE" sz="400" noProof="1"/>
              <a:t>s &lt;- sqrt(s2)</a:t>
            </a:r>
          </a:p>
          <a:p>
            <a:pPr latinLnBrk="1"/>
            <a:endParaRPr lang="en-DE" sz="400" noProof="1"/>
          </a:p>
          <a:p>
            <a:pPr latinLnBrk="1"/>
            <a:r>
              <a:rPr lang="en-DE" sz="400" noProof="1"/>
              <a:t>c(s2 = s2, s = s, df = n - 2)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1AD06DD-D8AC-60A6-0777-9FDC73C2AD28}"/>
              </a:ext>
            </a:extLst>
          </p:cNvPr>
          <p:cNvSpPr txBox="1"/>
          <p:nvPr/>
        </p:nvSpPr>
        <p:spPr>
          <a:xfrm>
            <a:off x="3461090" y="2455151"/>
            <a:ext cx="1448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se_b1 &lt;- s / sqrt(Sxx)</a:t>
            </a:r>
          </a:p>
          <a:p>
            <a:pPr latinLnBrk="1"/>
            <a:r>
              <a:rPr lang="en-DE" sz="400" noProof="1"/>
              <a:t>se_b0 &lt;- s * sqrt(1/n + xbar^2 / Sxx)</a:t>
            </a:r>
          </a:p>
          <a:p>
            <a:pPr latinLnBrk="1"/>
            <a:r>
              <a:rPr lang="en-DE" sz="400" noProof="1"/>
              <a:t>c(se_b0 = se_b0, se_b1 = se_b1)</a:t>
            </a:r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8D8C4414-CBF0-410D-7284-53F113027FC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537131" y="2389795"/>
            <a:ext cx="1141722" cy="116710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8B95DDFD-6BD9-0229-1515-1F2F1D3ACB0D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t="1" r="35726" b="-6685"/>
          <a:stretch>
            <a:fillRect/>
          </a:stretch>
        </p:blipFill>
        <p:spPr>
          <a:xfrm>
            <a:off x="3531129" y="2675093"/>
            <a:ext cx="1081451" cy="112566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620C51BA-552F-7444-66BF-B7A11F669590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64310" t="1" b="13302"/>
          <a:stretch>
            <a:fillRect/>
          </a:stretch>
        </p:blipFill>
        <p:spPr>
          <a:xfrm>
            <a:off x="3537131" y="2762380"/>
            <a:ext cx="600503" cy="91478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E08C7FCB-169B-B449-0A8C-F321A9A73504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t="8845" b="4657"/>
          <a:stretch>
            <a:fillRect/>
          </a:stretch>
        </p:blipFill>
        <p:spPr>
          <a:xfrm>
            <a:off x="4168085" y="2765204"/>
            <a:ext cx="564849" cy="170833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C9167F32-ECFE-BAEE-5587-12A02150351F}"/>
              </a:ext>
            </a:extLst>
          </p:cNvPr>
          <p:cNvSpPr txBox="1"/>
          <p:nvPr/>
        </p:nvSpPr>
        <p:spPr>
          <a:xfrm>
            <a:off x="3456476" y="2810639"/>
            <a:ext cx="1448142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t_obs &lt;- b1 / se_b1</a:t>
            </a:r>
          </a:p>
          <a:p>
            <a:pPr latinLnBrk="1"/>
            <a:r>
              <a:rPr lang="en-DE" sz="400" noProof="1"/>
              <a:t>p_two_sided &lt;- 2 * pt(abs(t_obs), df = n - 2, lower.tail = FALSE)</a:t>
            </a:r>
          </a:p>
          <a:p>
            <a:pPr latinLnBrk="1"/>
            <a:r>
              <a:rPr lang="en-DE" sz="400" noProof="1"/>
              <a:t>c(t_obs = t_obs, p_two_sided = p_two_sided</a:t>
            </a:r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A72E464E-13FC-398C-5947-8F4D121241D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533792" y="3035082"/>
            <a:ext cx="1221519" cy="113875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D8AED51E-B4F6-801A-5B6C-7734A01BF420}"/>
              </a:ext>
            </a:extLst>
          </p:cNvPr>
          <p:cNvSpPr txBox="1"/>
          <p:nvPr/>
        </p:nvSpPr>
        <p:spPr>
          <a:xfrm>
            <a:off x="3464893" y="3067689"/>
            <a:ext cx="1448142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alpha &lt;- 0.05</a:t>
            </a:r>
          </a:p>
          <a:p>
            <a:pPr latinLnBrk="1"/>
            <a:r>
              <a:rPr lang="en-DE" sz="400" noProof="1"/>
              <a:t>tcrit &lt;- qt(1 - alpha/2, df = n - 2)</a:t>
            </a:r>
          </a:p>
          <a:p>
            <a:pPr latinLnBrk="1"/>
            <a:r>
              <a:rPr lang="en-DE" sz="400" noProof="1"/>
              <a:t>ci_b1 &lt;- c(b1 - tcrit * se_b1, b1 + tcrit * se_b1)</a:t>
            </a:r>
          </a:p>
          <a:p>
            <a:pPr latinLnBrk="1"/>
            <a:r>
              <a:rPr lang="en-DE" sz="400" noProof="1"/>
              <a:t>ci_b1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0695D46-1015-08DA-26DA-1B539F485CE0}"/>
              </a:ext>
            </a:extLst>
          </p:cNvPr>
          <p:cNvSpPr txBox="1"/>
          <p:nvPr/>
        </p:nvSpPr>
        <p:spPr>
          <a:xfrm>
            <a:off x="3453805" y="3299409"/>
            <a:ext cx="130476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noProof="1"/>
              <a:t>Mean response vs. prediction at a chosen speed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3BD762F-A58E-6024-FB04-02ED4ABDB805}"/>
              </a:ext>
            </a:extLst>
          </p:cNvPr>
          <p:cNvSpPr txBox="1"/>
          <p:nvPr/>
        </p:nvSpPr>
        <p:spPr>
          <a:xfrm>
            <a:off x="3454112" y="3480075"/>
            <a:ext cx="14481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#Pick a speed value x0</a:t>
            </a:r>
          </a:p>
          <a:p>
            <a:pPr latinLnBrk="1"/>
            <a:r>
              <a:rPr lang="en-DE" sz="400" noProof="1"/>
              <a:t>x0 &lt;- 20</a:t>
            </a:r>
          </a:p>
        </p:txBody>
      </p:sp>
      <p:pic>
        <p:nvPicPr>
          <p:cNvPr id="130" name="Picture 129">
            <a:extLst>
              <a:ext uri="{FF2B5EF4-FFF2-40B4-BE49-F238E27FC236}">
                <a16:creationId xmlns:a16="http://schemas.microsoft.com/office/drawing/2014/main" id="{665C0B04-34D8-9E86-7472-4EC19411CEE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538569" y="3639638"/>
            <a:ext cx="1124867" cy="108865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238B5F96-1BC2-513C-F3DC-E6922AC03992}"/>
              </a:ext>
            </a:extLst>
          </p:cNvPr>
          <p:cNvSpPr txBox="1"/>
          <p:nvPr/>
        </p:nvSpPr>
        <p:spPr>
          <a:xfrm>
            <a:off x="3470904" y="3691452"/>
            <a:ext cx="14481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mhat0 &lt;- b0 + b1 * x0</a:t>
            </a:r>
          </a:p>
          <a:p>
            <a:pPr latinLnBrk="1"/>
            <a:r>
              <a:rPr lang="en-DE" sz="400" noProof="1"/>
              <a:t>mhat0</a:t>
            </a:r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B07A3805-D70A-FDA1-999E-33E54034E5EB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t="1" r="15552" b="-1"/>
          <a:stretch>
            <a:fillRect/>
          </a:stretch>
        </p:blipFill>
        <p:spPr>
          <a:xfrm>
            <a:off x="3537131" y="3863499"/>
            <a:ext cx="1298526" cy="119898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435BFF2-9665-57F0-307C-7A086B8460AD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84879" t="1" b="972"/>
          <a:stretch>
            <a:fillRect/>
          </a:stretch>
        </p:blipFill>
        <p:spPr>
          <a:xfrm>
            <a:off x="3536828" y="3956054"/>
            <a:ext cx="232515" cy="118732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5780C878-854C-77AF-3605-7FCFD695C657}"/>
              </a:ext>
            </a:extLst>
          </p:cNvPr>
          <p:cNvSpPr txBox="1"/>
          <p:nvPr/>
        </p:nvSpPr>
        <p:spPr>
          <a:xfrm>
            <a:off x="3452764" y="4131423"/>
            <a:ext cx="1448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se_mean &lt;- s * sqrt(1/n + (x0 - xbar)^2 / Sxx)</a:t>
            </a:r>
          </a:p>
          <a:p>
            <a:pPr latinLnBrk="1"/>
            <a:r>
              <a:rPr lang="en-DE" sz="400" noProof="1"/>
              <a:t>ci_mean &lt;- mhat0 + c(-1, 1) * tcrit * se_mean</a:t>
            </a:r>
          </a:p>
          <a:p>
            <a:pPr latinLnBrk="1"/>
            <a:r>
              <a:rPr lang="en-DE" sz="400" noProof="1"/>
              <a:t>ci_mean</a:t>
            </a:r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045C2F17-F1F8-D8D2-DEEF-82E00892D7BD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t="-1" r="30616" b="-4855"/>
          <a:stretch>
            <a:fillRect/>
          </a:stretch>
        </p:blipFill>
        <p:spPr>
          <a:xfrm>
            <a:off x="3539025" y="4459693"/>
            <a:ext cx="1252814" cy="103242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C2CD8D5-DD69-8BAC-38E2-5D134CC3615E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l="68880" b="-5084"/>
          <a:stretch>
            <a:fillRect/>
          </a:stretch>
        </p:blipFill>
        <p:spPr>
          <a:xfrm>
            <a:off x="3537131" y="4543093"/>
            <a:ext cx="561916" cy="103467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0129B7C0-67E2-210C-1F5C-DA5B813AFC74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98411" y="4560435"/>
            <a:ext cx="119626" cy="79696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344C1780-1F01-E6FD-4B2E-59D904742BA0}"/>
              </a:ext>
            </a:extLst>
          </p:cNvPr>
          <p:cNvSpPr txBox="1"/>
          <p:nvPr/>
        </p:nvSpPr>
        <p:spPr>
          <a:xfrm>
            <a:off x="3464893" y="4731232"/>
            <a:ext cx="1448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se_pred &lt;- s * sqrt(1 + 1/n + (x0 - xbar)^2 / Sxx)</a:t>
            </a:r>
          </a:p>
          <a:p>
            <a:pPr latinLnBrk="1"/>
            <a:r>
              <a:rPr lang="en-DE" sz="400" noProof="1"/>
              <a:t>pi_new &lt;- mhat0 + c(-1, 1) * tcrit * se_pred</a:t>
            </a:r>
          </a:p>
          <a:p>
            <a:pPr latinLnBrk="1"/>
            <a:r>
              <a:rPr lang="en-DE" sz="400" noProof="1"/>
              <a:t>pi_new</a:t>
            </a:r>
          </a:p>
        </p:txBody>
      </p:sp>
      <p:pic>
        <p:nvPicPr>
          <p:cNvPr id="148" name="Picture 147">
            <a:extLst>
              <a:ext uri="{FF2B5EF4-FFF2-40B4-BE49-F238E27FC236}">
                <a16:creationId xmlns:a16="http://schemas.microsoft.com/office/drawing/2014/main" id="{529D2273-0EB7-ACF6-9B7B-0A00E2EA2428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537131" y="5212478"/>
            <a:ext cx="1266542" cy="118312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D7D42B88-6A92-AB21-6E2E-1183D386386E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544341" y="5307939"/>
            <a:ext cx="794026" cy="81314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286588BB-A8DD-9A41-70CE-485937E6E5C6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537632" y="5375666"/>
            <a:ext cx="601480" cy="76707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B865C3C0-9511-44D5-C174-772D11B76330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28760" y="5379584"/>
            <a:ext cx="653451" cy="78916"/>
          </a:xfrm>
          <a:prstGeom prst="rect">
            <a:avLst/>
          </a:prstGeom>
        </p:spPr>
      </p:pic>
      <p:pic>
        <p:nvPicPr>
          <p:cNvPr id="160" name="Picture 159">
            <a:extLst>
              <a:ext uri="{FF2B5EF4-FFF2-40B4-BE49-F238E27FC236}">
                <a16:creationId xmlns:a16="http://schemas.microsoft.com/office/drawing/2014/main" id="{D8B69A26-8A3B-EC4F-3AEC-3B31B4314E0F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t="17914"/>
          <a:stretch>
            <a:fillRect/>
          </a:stretch>
        </p:blipFill>
        <p:spPr>
          <a:xfrm>
            <a:off x="4261603" y="5444630"/>
            <a:ext cx="439748" cy="171833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94217A5A-7DDD-1E86-B9FC-469A1DDBEBBF}"/>
              </a:ext>
            </a:extLst>
          </p:cNvPr>
          <p:cNvSpPr txBox="1"/>
          <p:nvPr/>
        </p:nvSpPr>
        <p:spPr>
          <a:xfrm>
            <a:off x="3464893" y="5569520"/>
            <a:ext cx="14481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h &lt;- 1/n + (x - xbar)^2 / Sxx</a:t>
            </a:r>
          </a:p>
          <a:p>
            <a:pPr latinLnBrk="1"/>
            <a:r>
              <a:rPr lang="en-DE" sz="400" noProof="1"/>
              <a:t>r &lt;- e / (s * sqrt(1 - h))</a:t>
            </a:r>
          </a:p>
          <a:p>
            <a:pPr latinLnBrk="1"/>
            <a:r>
              <a:rPr lang="en-DE" sz="400" noProof="1"/>
              <a:t>summary(r)</a:t>
            </a:r>
          </a:p>
        </p:txBody>
      </p:sp>
      <p:pic>
        <p:nvPicPr>
          <p:cNvPr id="163" name="Picture 162">
            <a:extLst>
              <a:ext uri="{FF2B5EF4-FFF2-40B4-BE49-F238E27FC236}">
                <a16:creationId xmlns:a16="http://schemas.microsoft.com/office/drawing/2014/main" id="{CB6EE175-2D74-A963-D236-8F06A73B2D2A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538124" y="5819483"/>
            <a:ext cx="989677" cy="116866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5B8799F9-AF30-5533-3DCC-22BACB2149E3}"/>
              </a:ext>
            </a:extLst>
          </p:cNvPr>
          <p:cNvSpPr txBox="1"/>
          <p:nvPr/>
        </p:nvSpPr>
        <p:spPr>
          <a:xfrm>
            <a:off x="3497183" y="5905266"/>
            <a:ext cx="1448142" cy="414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plot(r ~ x,</a:t>
            </a:r>
          </a:p>
          <a:p>
            <a:pPr latinLnBrk="1"/>
            <a:r>
              <a:rPr lang="en-DE" sz="400" noProof="1"/>
              <a:t>     xlab = "Speed (mph)",</a:t>
            </a:r>
          </a:p>
          <a:p>
            <a:pPr latinLnBrk="1"/>
            <a:r>
              <a:rPr lang="en-DE" sz="400" noProof="1"/>
              <a:t>     ylab = "Standardized residual",</a:t>
            </a:r>
          </a:p>
          <a:p>
            <a:pPr latinLnBrk="1"/>
            <a:r>
              <a:rPr lang="en-DE" sz="400" noProof="1"/>
              <a:t>     main = "Standardized residuals vs speed")</a:t>
            </a:r>
          </a:p>
          <a:p>
            <a:pPr latinLnBrk="1"/>
            <a:r>
              <a:rPr lang="en-DE" sz="400" noProof="1"/>
              <a:t>abline(h = 0, lty = 2)</a:t>
            </a:r>
          </a:p>
        </p:txBody>
      </p:sp>
      <p:pic>
        <p:nvPicPr>
          <p:cNvPr id="166" name="Picture 165">
            <a:extLst>
              <a:ext uri="{FF2B5EF4-FFF2-40B4-BE49-F238E27FC236}">
                <a16:creationId xmlns:a16="http://schemas.microsoft.com/office/drawing/2014/main" id="{931B2C27-13C3-82EF-B547-3686FE31D875}"/>
              </a:ext>
            </a:extLst>
          </p:cNvPr>
          <p:cNvPicPr>
            <a:picLocks noChangeAspect="1"/>
          </p:cNvPicPr>
          <p:nvPr/>
        </p:nvPicPr>
        <p:blipFill>
          <a:blip r:embed="rId43"/>
          <a:srcRect l="12046" t="14085" r="3309" b="17226"/>
          <a:stretch>
            <a:fillRect/>
          </a:stretch>
        </p:blipFill>
        <p:spPr>
          <a:xfrm>
            <a:off x="4589215" y="5909077"/>
            <a:ext cx="258513" cy="303886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03D127AF-0EAB-EBDA-668C-22767DFE243B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535271" y="6253442"/>
            <a:ext cx="794026" cy="126698"/>
          </a:xfrm>
          <a:prstGeom prst="rect">
            <a:avLst/>
          </a:prstGeom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52270E5A-820C-01AC-2E70-C35FDCDC1F5A}"/>
              </a:ext>
            </a:extLst>
          </p:cNvPr>
          <p:cNvSpPr txBox="1"/>
          <p:nvPr/>
        </p:nvSpPr>
        <p:spPr>
          <a:xfrm>
            <a:off x="3470904" y="6319439"/>
            <a:ext cx="148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qqnorm(r, main = "Normal Q–Q plot of standardized residuals")</a:t>
            </a:r>
          </a:p>
          <a:p>
            <a:pPr latinLnBrk="1"/>
            <a:r>
              <a:rPr lang="en-DE" sz="400" noProof="1"/>
              <a:t>qqline(r)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0DA769DE-E249-223E-3830-35604C3B5EE7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160761" y="6435864"/>
            <a:ext cx="657128" cy="384563"/>
          </a:xfrm>
          <a:prstGeom prst="rect">
            <a:avLst/>
          </a:prstGeom>
        </p:spPr>
      </p:pic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14E7B5CA-97BB-61B6-1D81-67EF0DEB8F15}"/>
              </a:ext>
            </a:extLst>
          </p:cNvPr>
          <p:cNvCxnSpPr>
            <a:cxnSpLocks/>
          </p:cNvCxnSpPr>
          <p:nvPr/>
        </p:nvCxnSpPr>
        <p:spPr>
          <a:xfrm>
            <a:off x="4944475" y="-44455"/>
            <a:ext cx="0" cy="7091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5" name="Picture 174">
            <a:extLst>
              <a:ext uri="{FF2B5EF4-FFF2-40B4-BE49-F238E27FC236}">
                <a16:creationId xmlns:a16="http://schemas.microsoft.com/office/drawing/2014/main" id="{F34AA612-E2D1-A756-BFA8-391051A4A3C0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968050" y="139632"/>
            <a:ext cx="837570" cy="83613"/>
          </a:xfrm>
          <a:prstGeom prst="rect">
            <a:avLst/>
          </a:prstGeom>
        </p:spPr>
      </p:pic>
      <p:pic>
        <p:nvPicPr>
          <p:cNvPr id="177" name="Picture 176">
            <a:extLst>
              <a:ext uri="{FF2B5EF4-FFF2-40B4-BE49-F238E27FC236}">
                <a16:creationId xmlns:a16="http://schemas.microsoft.com/office/drawing/2014/main" id="{EAA30F82-5BF3-C4EF-37D7-3A8DD5B89586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820034" y="133389"/>
            <a:ext cx="731486" cy="103470"/>
          </a:xfrm>
          <a:prstGeom prst="rect">
            <a:avLst/>
          </a:prstGeom>
        </p:spPr>
      </p:pic>
      <p:sp>
        <p:nvSpPr>
          <p:cNvPr id="178" name="TextBox 177">
            <a:extLst>
              <a:ext uri="{FF2B5EF4-FFF2-40B4-BE49-F238E27FC236}">
                <a16:creationId xmlns:a16="http://schemas.microsoft.com/office/drawing/2014/main" id="{6259014D-420A-5126-2025-D9191ABCCAAA}"/>
              </a:ext>
            </a:extLst>
          </p:cNvPr>
          <p:cNvSpPr txBox="1"/>
          <p:nvPr/>
        </p:nvSpPr>
        <p:spPr>
          <a:xfrm>
            <a:off x="4900050" y="250173"/>
            <a:ext cx="1422176" cy="535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fit_lin &lt;- lm(dist ~ speed, data = cars)</a:t>
            </a:r>
          </a:p>
          <a:p>
            <a:pPr latinLnBrk="1"/>
            <a:r>
              <a:rPr lang="en-DE" sz="400" noProof="1"/>
              <a:t>coef_lm &lt;- coef(fit_lin)</a:t>
            </a:r>
          </a:p>
          <a:p>
            <a:pPr latinLnBrk="1"/>
            <a:r>
              <a:rPr lang="en-DE" sz="400" noProof="1"/>
              <a:t>c(manual_b0 = b0, manual_b1 = b1,</a:t>
            </a:r>
          </a:p>
          <a:p>
            <a:pPr latinLnBrk="1"/>
            <a:r>
              <a:rPr lang="en-DE" sz="400" noProof="1"/>
              <a:t>  lm_b0 = unname(coef_lm[1]), lm_b1 = unname(coef_lm[2]),</a:t>
            </a:r>
          </a:p>
          <a:p>
            <a:pPr latinLnBrk="1"/>
            <a:r>
              <a:rPr lang="en-DE" sz="400" noProof="1"/>
              <a:t>  diff_b0 = b0 - unname(coef_lm[1]),</a:t>
            </a:r>
          </a:p>
          <a:p>
            <a:pPr latinLnBrk="1"/>
            <a:r>
              <a:rPr lang="en-DE" sz="400" noProof="1"/>
              <a:t>  diff_b1 = b1 - unname(coef_lm[2]))</a:t>
            </a:r>
          </a:p>
        </p:txBody>
      </p:sp>
      <p:pic>
        <p:nvPicPr>
          <p:cNvPr id="180" name="Picture 179">
            <a:extLst>
              <a:ext uri="{FF2B5EF4-FFF2-40B4-BE49-F238E27FC236}">
                <a16:creationId xmlns:a16="http://schemas.microsoft.com/office/drawing/2014/main" id="{610EA580-5B1D-CC45-2CA0-A8DC66079124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971137" y="227712"/>
            <a:ext cx="793003" cy="77520"/>
          </a:xfrm>
          <a:prstGeom prst="rect">
            <a:avLst/>
          </a:prstGeom>
        </p:spPr>
      </p:pic>
      <p:pic>
        <p:nvPicPr>
          <p:cNvPr id="182" name="Picture 181">
            <a:extLst>
              <a:ext uri="{FF2B5EF4-FFF2-40B4-BE49-F238E27FC236}">
                <a16:creationId xmlns:a16="http://schemas.microsoft.com/office/drawing/2014/main" id="{2CFBA6A0-33C1-0813-C20D-E028A13D00BE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966953" y="648469"/>
            <a:ext cx="823841" cy="88404"/>
          </a:xfrm>
          <a:prstGeom prst="rect">
            <a:avLst/>
          </a:prstGeom>
        </p:spPr>
      </p:pic>
      <p:sp>
        <p:nvSpPr>
          <p:cNvPr id="183" name="TextBox 182">
            <a:extLst>
              <a:ext uri="{FF2B5EF4-FFF2-40B4-BE49-F238E27FC236}">
                <a16:creationId xmlns:a16="http://schemas.microsoft.com/office/drawing/2014/main" id="{AD9026CB-3082-8975-9981-584CAE5570A1}"/>
              </a:ext>
            </a:extLst>
          </p:cNvPr>
          <p:cNvSpPr txBox="1"/>
          <p:nvPr/>
        </p:nvSpPr>
        <p:spPr>
          <a:xfrm>
            <a:off x="4880471" y="683111"/>
            <a:ext cx="1422176" cy="716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# From lm</a:t>
            </a:r>
          </a:p>
          <a:p>
            <a:pPr latinLnBrk="1"/>
            <a:r>
              <a:rPr lang="en-DE" sz="400" noProof="1"/>
              <a:t>SSE_lm &lt;- sum(residuals(fit_lin)^2)</a:t>
            </a:r>
          </a:p>
          <a:p>
            <a:pPr latinLnBrk="1"/>
            <a:r>
              <a:rPr lang="en-DE" sz="400" noProof="1"/>
              <a:t>s_lm &lt;- summary(fit_lin)$sigma</a:t>
            </a:r>
          </a:p>
          <a:p>
            <a:pPr latinLnBrk="1"/>
            <a:r>
              <a:rPr lang="en-DE" sz="400" noProof="1"/>
              <a:t>R2_lm &lt;- summary(fit_lin)$r.squared</a:t>
            </a:r>
          </a:p>
          <a:p>
            <a:pPr latinLnBrk="1"/>
            <a:endParaRPr lang="en-DE" sz="400" noProof="1"/>
          </a:p>
          <a:p>
            <a:pPr latinLnBrk="1"/>
            <a:r>
              <a:rPr lang="en-DE" sz="400" noProof="1"/>
              <a:t>c(SSE_manual = SSE, SSE_lm = SSE_lm, diff_SSE = SSE - SSE_lm,</a:t>
            </a:r>
          </a:p>
          <a:p>
            <a:pPr latinLnBrk="1"/>
            <a:r>
              <a:rPr lang="en-DE" sz="400" noProof="1"/>
              <a:t>  s_manual = s, s_lm = s_lm, diff_s = s - s_lm,</a:t>
            </a:r>
          </a:p>
          <a:p>
            <a:pPr latinLnBrk="1"/>
            <a:r>
              <a:rPr lang="en-DE" sz="400" noProof="1"/>
              <a:t>  R2_manual = R2_from_RSS, R2_lm = R2_lm, diff_R2 = R2_from_RSS - R2_lm)</a:t>
            </a:r>
          </a:p>
        </p:txBody>
      </p:sp>
      <p:pic>
        <p:nvPicPr>
          <p:cNvPr id="185" name="Picture 184">
            <a:extLst>
              <a:ext uri="{FF2B5EF4-FFF2-40B4-BE49-F238E27FC236}">
                <a16:creationId xmlns:a16="http://schemas.microsoft.com/office/drawing/2014/main" id="{6AB156CD-6581-59B4-7D26-3A372F055E3F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967393" y="1330145"/>
            <a:ext cx="1592936" cy="80807"/>
          </a:xfrm>
          <a:prstGeom prst="rect">
            <a:avLst/>
          </a:prstGeom>
        </p:spPr>
      </p:pic>
      <p:sp>
        <p:nvSpPr>
          <p:cNvPr id="186" name="TextBox 185">
            <a:extLst>
              <a:ext uri="{FF2B5EF4-FFF2-40B4-BE49-F238E27FC236}">
                <a16:creationId xmlns:a16="http://schemas.microsoft.com/office/drawing/2014/main" id="{E3300E45-003A-0A19-708F-20ED5570FAE2}"/>
              </a:ext>
            </a:extLst>
          </p:cNvPr>
          <p:cNvSpPr txBox="1"/>
          <p:nvPr/>
        </p:nvSpPr>
        <p:spPr>
          <a:xfrm>
            <a:off x="4900050" y="1365392"/>
            <a:ext cx="1422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summ &lt;- summary(fit_lin)</a:t>
            </a:r>
          </a:p>
          <a:p>
            <a:pPr latinLnBrk="1"/>
            <a:r>
              <a:rPr lang="en-DE" sz="400" noProof="1"/>
              <a:t>se_lm_b1 &lt;- summ$coefficients["speed", "Std. Error"]</a:t>
            </a:r>
          </a:p>
          <a:p>
            <a:pPr latinLnBrk="1"/>
            <a:r>
              <a:rPr lang="en-DE" sz="400" noProof="1"/>
              <a:t>t_lm_b1  &lt;- summ$coefficients["speed", "t value"]</a:t>
            </a:r>
          </a:p>
          <a:p>
            <a:pPr latinLnBrk="1"/>
            <a:r>
              <a:rPr lang="en-DE" sz="400" noProof="1"/>
              <a:t>p_lm_b1  &lt;- summ$coefficients["speed", "Pr(&gt;|t|)"]</a:t>
            </a:r>
          </a:p>
          <a:p>
            <a:pPr latinLnBrk="1"/>
            <a:endParaRPr lang="en-DE" sz="400" noProof="1"/>
          </a:p>
          <a:p>
            <a:pPr latinLnBrk="1"/>
            <a:r>
              <a:rPr lang="en-DE" sz="400" noProof="1"/>
              <a:t>c(se_manual_b1 = se_b1, se_lm_b1 = se_lm_b1, diff_se = se_b1 - se_lm_b1,</a:t>
            </a:r>
          </a:p>
          <a:p>
            <a:pPr latinLnBrk="1"/>
            <a:r>
              <a:rPr lang="en-DE" sz="400" noProof="1"/>
              <a:t>  t_manual = t_obs, t_lm = t_lm_b1, diff_t = t_obs - t_lm_b1,</a:t>
            </a:r>
          </a:p>
          <a:p>
            <a:pPr latinLnBrk="1"/>
            <a:r>
              <a:rPr lang="en-DE" sz="400" noProof="1"/>
              <a:t>  p_manual = p_two_sided, p_lm = p_lm_b1)</a:t>
            </a:r>
          </a:p>
        </p:txBody>
      </p:sp>
      <p:pic>
        <p:nvPicPr>
          <p:cNvPr id="188" name="Picture 187">
            <a:extLst>
              <a:ext uri="{FF2B5EF4-FFF2-40B4-BE49-F238E27FC236}">
                <a16:creationId xmlns:a16="http://schemas.microsoft.com/office/drawing/2014/main" id="{BC407BE2-279D-82E0-0A3E-3C397D5FF180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968568" y="1968231"/>
            <a:ext cx="1342512" cy="93051"/>
          </a:xfrm>
          <a:prstGeom prst="rect">
            <a:avLst/>
          </a:prstGeom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9E66D215-6F72-37F3-C0E9-FB5F01D6444A}"/>
              </a:ext>
            </a:extLst>
          </p:cNvPr>
          <p:cNvSpPr txBox="1"/>
          <p:nvPr/>
        </p:nvSpPr>
        <p:spPr>
          <a:xfrm>
            <a:off x="4893080" y="2005496"/>
            <a:ext cx="1422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ci_lm &lt;- confint(fit_lin, level = 0.95)["speed", ]</a:t>
            </a:r>
          </a:p>
          <a:p>
            <a:pPr latinLnBrk="1"/>
            <a:r>
              <a:rPr lang="en-DE" sz="400" noProof="1"/>
              <a:t>c(ci_manual_low = ci_b1[1], ci_manual_high = ci_b1[2],</a:t>
            </a:r>
          </a:p>
          <a:p>
            <a:pPr latinLnBrk="1"/>
            <a:r>
              <a:rPr lang="en-DE" sz="400" noProof="1"/>
              <a:t>  ci_lm_low = ci_lm[1], ci_lm_high = ci_lm[2])</a:t>
            </a:r>
          </a:p>
        </p:txBody>
      </p:sp>
      <p:pic>
        <p:nvPicPr>
          <p:cNvPr id="191" name="Picture 190">
            <a:extLst>
              <a:ext uri="{FF2B5EF4-FFF2-40B4-BE49-F238E27FC236}">
                <a16:creationId xmlns:a16="http://schemas.microsoft.com/office/drawing/2014/main" id="{4F143F07-678A-E0AA-11DF-B2E2DFEE77B2}"/>
              </a:ext>
            </a:extLst>
          </p:cNvPr>
          <p:cNvPicPr>
            <a:picLocks noChangeAspect="1"/>
          </p:cNvPicPr>
          <p:nvPr/>
        </p:nvPicPr>
        <p:blipFill>
          <a:blip r:embed="rId52"/>
          <a:srcRect l="28354" t="10597" b="40522"/>
          <a:stretch>
            <a:fillRect/>
          </a:stretch>
        </p:blipFill>
        <p:spPr>
          <a:xfrm>
            <a:off x="4956535" y="2232019"/>
            <a:ext cx="1599390" cy="112363"/>
          </a:xfrm>
          <a:prstGeom prst="rect">
            <a:avLst/>
          </a:prstGeom>
        </p:spPr>
      </p:pic>
      <p:pic>
        <p:nvPicPr>
          <p:cNvPr id="192" name="Picture 191">
            <a:extLst>
              <a:ext uri="{FF2B5EF4-FFF2-40B4-BE49-F238E27FC236}">
                <a16:creationId xmlns:a16="http://schemas.microsoft.com/office/drawing/2014/main" id="{D0EDE14E-5B46-8D5A-30AE-F792D2A16F4F}"/>
              </a:ext>
            </a:extLst>
          </p:cNvPr>
          <p:cNvPicPr>
            <a:picLocks noChangeAspect="1"/>
          </p:cNvPicPr>
          <p:nvPr/>
        </p:nvPicPr>
        <p:blipFill>
          <a:blip r:embed="rId52"/>
          <a:srcRect t="64458" r="83279"/>
          <a:stretch>
            <a:fillRect/>
          </a:stretch>
        </p:blipFill>
        <p:spPr>
          <a:xfrm>
            <a:off x="4964159" y="2323186"/>
            <a:ext cx="416877" cy="81700"/>
          </a:xfrm>
          <a:prstGeom prst="rect">
            <a:avLst/>
          </a:prstGeom>
        </p:spPr>
      </p:pic>
      <p:sp>
        <p:nvSpPr>
          <p:cNvPr id="193" name="TextBox 192">
            <a:extLst>
              <a:ext uri="{FF2B5EF4-FFF2-40B4-BE49-F238E27FC236}">
                <a16:creationId xmlns:a16="http://schemas.microsoft.com/office/drawing/2014/main" id="{9595AA29-12A5-E5A5-2D74-7965B8CE6F62}"/>
              </a:ext>
            </a:extLst>
          </p:cNvPr>
          <p:cNvSpPr txBox="1"/>
          <p:nvPr/>
        </p:nvSpPr>
        <p:spPr>
          <a:xfrm>
            <a:off x="4893080" y="2334864"/>
            <a:ext cx="1422176" cy="65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pred_ci &lt;- predict(fit_lin, newdata = data.frame(speed = x0), interval = "confidence", level = 0.95)</a:t>
            </a:r>
          </a:p>
          <a:p>
            <a:pPr latinLnBrk="1"/>
            <a:r>
              <a:rPr lang="en-DE" sz="400" noProof="1"/>
              <a:t>pred_pi &lt;- predict(fit_lin, newdata = data.frame(speed = x0), interval = "prediction", level = 0.95)</a:t>
            </a:r>
          </a:p>
          <a:p>
            <a:pPr latinLnBrk="1"/>
            <a:endParaRPr lang="en-DE" sz="400" noProof="1"/>
          </a:p>
          <a:p>
            <a:pPr latinLnBrk="1"/>
            <a:r>
              <a:rPr lang="en-DE" sz="400" noProof="1"/>
              <a:t>list(manual_mean_CI = ci_mean,</a:t>
            </a:r>
          </a:p>
          <a:p>
            <a:pPr latinLnBrk="1"/>
            <a:r>
              <a:rPr lang="en-DE" sz="400" noProof="1"/>
              <a:t>     manual_pred_PI = pi_new,</a:t>
            </a:r>
          </a:p>
          <a:p>
            <a:pPr latinLnBrk="1"/>
            <a:r>
              <a:rPr lang="en-DE" sz="400" noProof="1"/>
              <a:t>     lm_mean_CI = as.numeric(pred_ci[1, c("lwr", "upr")]),</a:t>
            </a:r>
          </a:p>
          <a:p>
            <a:pPr latinLnBrk="1"/>
            <a:r>
              <a:rPr lang="en-DE" sz="400" noProof="1"/>
              <a:t>     lm_pred_PI = as.numeric(pred_pi[1, c("lwr", "upr")]))</a:t>
            </a: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6D8352-9315-A588-316E-FC909E675374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545830" y="1102102"/>
            <a:ext cx="18909" cy="3177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F4CCD9B-EAFA-5ECE-B450-36E28AA2963A}"/>
              </a:ext>
            </a:extLst>
          </p:cNvPr>
          <p:cNvPicPr>
            <a:picLocks noChangeAspect="1"/>
          </p:cNvPicPr>
          <p:nvPr/>
        </p:nvPicPr>
        <p:blipFill>
          <a:blip r:embed="rId53"/>
          <a:srcRect t="18021" r="24278"/>
          <a:stretch>
            <a:fillRect/>
          </a:stretch>
        </p:blipFill>
        <p:spPr>
          <a:xfrm>
            <a:off x="6580434" y="5519976"/>
            <a:ext cx="1492837" cy="121283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34FD4F8-FA81-9607-B520-C6351C504F0C}"/>
              </a:ext>
            </a:extLst>
          </p:cNvPr>
          <p:cNvSpPr txBox="1"/>
          <p:nvPr/>
        </p:nvSpPr>
        <p:spPr>
          <a:xfrm>
            <a:off x="4900051" y="2912366"/>
            <a:ext cx="1723327" cy="77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In 1–2 sentences each, define (in your own words): - population, sample, parameter, statistic.</a:t>
            </a:r>
            <a:br>
              <a:rPr lang="en-DE" sz="400" b="1" noProof="1"/>
            </a:br>
            <a:r>
              <a:rPr lang="en-DE" sz="400" b="1" noProof="1"/>
              <a:t>Population:</a:t>
            </a:r>
            <a:r>
              <a:rPr lang="en-DE" sz="400" noProof="1"/>
              <a:t> is the entire group of individuals or observations that you are interested in studying and about which you want to draw conclusions. </a:t>
            </a:r>
            <a:r>
              <a:rPr lang="en-DE" sz="400" b="1" noProof="1"/>
              <a:t>Sample:</a:t>
            </a:r>
            <a:r>
              <a:rPr lang="en-DE" sz="400" noProof="1"/>
              <a:t> is a subset of the population that is actually observed or measured, chosen to represent the population.</a:t>
            </a:r>
          </a:p>
          <a:p>
            <a:r>
              <a:rPr lang="en-DE" sz="400" b="1" noProof="1"/>
              <a:t>Parameter:</a:t>
            </a:r>
            <a:r>
              <a:rPr lang="en-DE" sz="400" noProof="1"/>
              <a:t> is a numerical value that describes a characteristic of a population (for example, the true mean or variance), and it is usually unknown.</a:t>
            </a:r>
          </a:p>
          <a:p>
            <a:r>
              <a:rPr lang="en-DE" sz="400" b="1" noProof="1"/>
              <a:t>Statistic:</a:t>
            </a:r>
            <a:r>
              <a:rPr lang="en-DE" sz="400" noProof="1"/>
              <a:t> A statistic is a numerical value calculated from a sample, used to estimate or make inferences about a population parameter.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D53453-376D-5484-363D-C70CE2AA8E2E}"/>
              </a:ext>
            </a:extLst>
          </p:cNvPr>
          <p:cNvSpPr txBox="1"/>
          <p:nvPr/>
        </p:nvSpPr>
        <p:spPr>
          <a:xfrm>
            <a:off x="4900051" y="3604507"/>
            <a:ext cx="172332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Identify in this context: - population = ? - parameter $\mu$ = ? - a sample of size $n=10$ = ? - an estimator for $\mu$ = ? - an estimate = ?</a:t>
            </a:r>
            <a:br>
              <a:rPr lang="en-DE" sz="400" b="1" noProof="1"/>
            </a:br>
            <a:r>
              <a:rPr lang="en-DE" sz="400" b="1" noProof="1"/>
              <a:t>Population: </a:t>
            </a:r>
            <a:r>
              <a:rPr lang="en-DE" sz="400" noProof="1"/>
              <a:t>All mpg values of the cars in the mtcars dataset (treated here as the full population).</a:t>
            </a:r>
          </a:p>
          <a:p>
            <a:r>
              <a:rPr lang="en-DE" sz="400" b="1" noProof="1"/>
              <a:t>Parameter ( \mu ): </a:t>
            </a:r>
            <a:r>
              <a:rPr lang="en-DE" sz="400" noProof="1"/>
              <a:t>The true mean mpg of that population, i.e. the mean of all mtcars$mpg values.</a:t>
            </a:r>
          </a:p>
          <a:p>
            <a:r>
              <a:rPr lang="en-DE" sz="400" b="1" noProof="1"/>
              <a:t>A sample of size ( n = 10 ): </a:t>
            </a:r>
            <a:r>
              <a:rPr lang="en-DE" sz="400" noProof="1"/>
              <a:t>Any set of 10 mpg values randomly chosen from mtcars$mpg.</a:t>
            </a:r>
          </a:p>
          <a:p>
            <a:r>
              <a:rPr lang="en-DE" sz="400" b="1" noProof="1"/>
              <a:t>An estimator for ( \mu ): </a:t>
            </a:r>
            <a:r>
              <a:rPr lang="en-DE" sz="400" noProof="1"/>
              <a:t>The sample mean ( \bar{x} ) of the 10 selected mpg values.</a:t>
            </a:r>
          </a:p>
          <a:p>
            <a:r>
              <a:rPr lang="en-DE" sz="400" b="1" noProof="1"/>
              <a:t>An estimate: </a:t>
            </a:r>
            <a:r>
              <a:rPr lang="en-DE" sz="400" noProof="1"/>
              <a:t>The numerical value of ( \bar{x} ) computed from one конкретten (specific) sample of 10 mpg values.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0E88D2-ED1C-7C70-3A39-1F6A5DF09253}"/>
              </a:ext>
            </a:extLst>
          </p:cNvPr>
          <p:cNvSpPr txBox="1"/>
          <p:nvPr/>
        </p:nvSpPr>
        <p:spPr>
          <a:xfrm>
            <a:off x="4900052" y="4389005"/>
            <a:ext cx="1723327" cy="474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Draw one random sample of size $n=10$ (with replacement) and compute the sample mean.</a:t>
            </a:r>
            <a:br>
              <a:rPr lang="en-DE" sz="400" b="1" noProof="1"/>
            </a:br>
            <a:r>
              <a:rPr lang="en-DE" sz="400" noProof="1"/>
              <a:t>n &lt;- 10</a:t>
            </a:r>
          </a:p>
          <a:p>
            <a:r>
              <a:rPr lang="en-DE" sz="400" noProof="1"/>
              <a:t>sample_mpg &lt;- sample(mpg_pop, size = n, replace = TRUE)</a:t>
            </a:r>
          </a:p>
          <a:p>
            <a:r>
              <a:rPr lang="en-DE" sz="400" noProof="1"/>
              <a:t>xbar &lt;- mean(sample_mpg)</a:t>
            </a:r>
          </a:p>
          <a:p>
            <a:r>
              <a:rPr lang="en-DE" sz="400" noProof="1"/>
              <a:t>xbar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EBAB16-74D5-1A03-675F-D046589CA926}"/>
              </a:ext>
            </a:extLst>
          </p:cNvPr>
          <p:cNvSpPr txBox="1"/>
          <p:nvPr/>
        </p:nvSpPr>
        <p:spPr>
          <a:xfrm>
            <a:off x="4902262" y="4755269"/>
            <a:ext cx="1723327" cy="535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Explain briefly: why will your answer in (3) change if you re-run the code with a different random seed?</a:t>
            </a:r>
            <a:br>
              <a:rPr lang="en-DE" sz="400" b="1" noProof="1"/>
            </a:br>
            <a:r>
              <a:rPr lang="en-DE" sz="400" noProof="1"/>
              <a:t>Because the sample is drawn randomly with replacement, a different random seed leads to a different set of sampled observations, and therefore a different sample mean. Only if the seed is fixed will the same random sample and the same mean be reproduced.</a:t>
            </a:r>
          </a:p>
          <a:p>
            <a:endParaRPr lang="en-DE" sz="400" noProof="1"/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C4711EEC-1134-4C4B-38D0-9ED691F61F46}"/>
              </a:ext>
            </a:extLst>
          </p:cNvPr>
          <p:cNvPicPr>
            <a:picLocks noChangeAspect="1"/>
          </p:cNvPicPr>
          <p:nvPr/>
        </p:nvPicPr>
        <p:blipFill>
          <a:blip r:embed="rId54"/>
          <a:srcRect b="87061"/>
          <a:stretch>
            <a:fillRect/>
          </a:stretch>
        </p:blipFill>
        <p:spPr>
          <a:xfrm>
            <a:off x="4962677" y="5183968"/>
            <a:ext cx="1539165" cy="9715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AFBA24C-77CA-0440-6A98-E5E53D5E8334}"/>
              </a:ext>
            </a:extLst>
          </p:cNvPr>
          <p:cNvPicPr>
            <a:picLocks noChangeAspect="1"/>
          </p:cNvPicPr>
          <p:nvPr/>
        </p:nvPicPr>
        <p:blipFill>
          <a:blip r:embed="rId54"/>
          <a:srcRect t="20649" b="58874"/>
          <a:stretch>
            <a:fillRect/>
          </a:stretch>
        </p:blipFill>
        <p:spPr>
          <a:xfrm>
            <a:off x="4962677" y="5282934"/>
            <a:ext cx="1539165" cy="15374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0FEF145D-C6B9-4C4E-CD86-2D6B8A689450}"/>
              </a:ext>
            </a:extLst>
          </p:cNvPr>
          <p:cNvPicPr>
            <a:picLocks noChangeAspect="1"/>
          </p:cNvPicPr>
          <p:nvPr/>
        </p:nvPicPr>
        <p:blipFill>
          <a:blip r:embed="rId54"/>
          <a:srcRect t="46922" r="92304" b="45907"/>
          <a:stretch>
            <a:fillRect/>
          </a:stretch>
        </p:blipFill>
        <p:spPr>
          <a:xfrm>
            <a:off x="4962677" y="5432832"/>
            <a:ext cx="118460" cy="5384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F259C8E-2345-0D0D-5DB4-D199CFD12FD9}"/>
              </a:ext>
            </a:extLst>
          </p:cNvPr>
          <p:cNvPicPr>
            <a:picLocks noChangeAspect="1"/>
          </p:cNvPicPr>
          <p:nvPr/>
        </p:nvPicPr>
        <p:blipFill>
          <a:blip r:embed="rId54"/>
          <a:srcRect t="61887" r="75560" b="29662"/>
          <a:stretch>
            <a:fillRect/>
          </a:stretch>
        </p:blipFill>
        <p:spPr>
          <a:xfrm>
            <a:off x="5087244" y="5428025"/>
            <a:ext cx="376168" cy="63456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C3BC756-60FF-684F-32F2-A2A01FD0FB91}"/>
              </a:ext>
            </a:extLst>
          </p:cNvPr>
          <p:cNvPicPr>
            <a:picLocks noChangeAspect="1"/>
          </p:cNvPicPr>
          <p:nvPr/>
        </p:nvPicPr>
        <p:blipFill>
          <a:blip r:embed="rId54"/>
          <a:srcRect l="111" t="75767" r="29195" b="13795"/>
          <a:stretch>
            <a:fillRect/>
          </a:stretch>
        </p:blipFill>
        <p:spPr>
          <a:xfrm>
            <a:off x="5472221" y="5420567"/>
            <a:ext cx="1088108" cy="78372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44EA9C1C-9344-61AB-B985-BF2E187C33BE}"/>
              </a:ext>
            </a:extLst>
          </p:cNvPr>
          <p:cNvPicPr>
            <a:picLocks noChangeAspect="1"/>
          </p:cNvPicPr>
          <p:nvPr/>
        </p:nvPicPr>
        <p:blipFill>
          <a:blip r:embed="rId54"/>
          <a:srcRect t="91559" r="54810"/>
          <a:stretch>
            <a:fillRect/>
          </a:stretch>
        </p:blipFill>
        <p:spPr>
          <a:xfrm>
            <a:off x="5664338" y="5361773"/>
            <a:ext cx="695553" cy="6338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F171F254-2609-13B5-D6A5-7DD972F58C52}"/>
              </a:ext>
            </a:extLst>
          </p:cNvPr>
          <p:cNvSpPr txBox="1"/>
          <p:nvPr/>
        </p:nvSpPr>
        <p:spPr>
          <a:xfrm>
            <a:off x="4893080" y="5441283"/>
            <a:ext cx="1723327" cy="65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noProof="1"/>
              <a:t>alpha &lt;- 0.05</a:t>
            </a:r>
          </a:p>
          <a:p>
            <a:r>
              <a:rPr lang="en-DE" sz="400" noProof="1"/>
              <a:t>xbar &lt;- mean(mpg_pop)</a:t>
            </a:r>
          </a:p>
          <a:p>
            <a:r>
              <a:rPr lang="en-DE" sz="400" noProof="1"/>
              <a:t>s &lt;- sd(mpg_pop)</a:t>
            </a:r>
          </a:p>
          <a:p>
            <a:r>
              <a:rPr lang="en-DE" sz="400" noProof="1"/>
              <a:t>n &lt;- length(mpg_pop)</a:t>
            </a:r>
          </a:p>
          <a:p>
            <a:r>
              <a:rPr lang="en-DE" sz="400" noProof="1"/>
              <a:t>df &lt;- n – 1</a:t>
            </a:r>
          </a:p>
          <a:p>
            <a:r>
              <a:rPr lang="en-DE" sz="400" noProof="1"/>
              <a:t>tcrit &lt;- qt(1 - alpha/2, df = df)</a:t>
            </a:r>
          </a:p>
          <a:p>
            <a:r>
              <a:rPr lang="en-DE" sz="400" noProof="1"/>
              <a:t>ci_hand &lt;- c(xbar - tcrit * s/sqrt(n), xbar + tcrit * s/sqrt(n))</a:t>
            </a:r>
          </a:p>
          <a:p>
            <a:r>
              <a:rPr lang="en-DE" sz="400" noProof="1"/>
              <a:t>ci_hand</a:t>
            </a:r>
          </a:p>
          <a:p>
            <a:r>
              <a:rPr lang="en-DE" sz="400" noProof="1"/>
              <a:t>t.test(mpg_pop, conf.level = 0.95)$conf.int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25AA1B-A933-31BA-D708-0D564EE2CCB3}"/>
              </a:ext>
            </a:extLst>
          </p:cNvPr>
          <p:cNvSpPr txBox="1"/>
          <p:nvPr/>
        </p:nvSpPr>
        <p:spPr>
          <a:xfrm>
            <a:off x="4893080" y="6007036"/>
            <a:ext cx="1723327" cy="59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400" b="1" noProof="1"/>
              <a:t>Why do we use a *t* critical value instead of a *z* critical value?</a:t>
            </a:r>
          </a:p>
          <a:p>
            <a:r>
              <a:rPr lang="en-DE" sz="400" noProof="1"/>
              <a:t>We use a *t* critical value because the population standard deviation is unknown and is estimated from the sample, which introduces extra uncertainty that is accounted for by the *t* distribution. </a:t>
            </a:r>
          </a:p>
          <a:p>
            <a:r>
              <a:rPr lang="en-DE" sz="400" b="1" noProof="1"/>
              <a:t>Correct frequentist interpretation of the 95% confidence interval</a:t>
            </a:r>
            <a:r>
              <a:rPr lang="en-DE" sz="400" noProof="1"/>
              <a:t>: </a:t>
            </a:r>
            <a:br>
              <a:rPr lang="en-DE" sz="400" noProof="1"/>
            </a:br>
            <a:r>
              <a:rPr lang="en-DE" sz="400" noProof="1"/>
              <a:t>If we were to repeatedly draw samples in the same way and construct a confidence interval each time, about 95% of those intervals would contain the true population mean.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8458B913-8BA5-E1A3-6D71-96ACD65A0748}"/>
              </a:ext>
            </a:extLst>
          </p:cNvPr>
          <p:cNvPicPr>
            <a:picLocks noChangeAspect="1"/>
          </p:cNvPicPr>
          <p:nvPr/>
        </p:nvPicPr>
        <p:blipFill>
          <a:blip r:embed="rId55"/>
          <a:srcRect t="27223"/>
          <a:stretch>
            <a:fillRect/>
          </a:stretch>
        </p:blipFill>
        <p:spPr>
          <a:xfrm>
            <a:off x="6603256" y="223838"/>
            <a:ext cx="1424669" cy="680966"/>
          </a:xfrm>
          <a:prstGeom prst="rect">
            <a:avLst/>
          </a:prstGeom>
        </p:spPr>
      </p:pic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E777C790-A71B-1201-A1E0-F21CFFC3AFBC}"/>
              </a:ext>
            </a:extLst>
          </p:cNvPr>
          <p:cNvCxnSpPr>
            <a:cxnSpLocks/>
          </p:cNvCxnSpPr>
          <p:nvPr/>
        </p:nvCxnSpPr>
        <p:spPr>
          <a:xfrm>
            <a:off x="6589118" y="-33290"/>
            <a:ext cx="0" cy="70106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" name="Picture 102">
            <a:extLst>
              <a:ext uri="{FF2B5EF4-FFF2-40B4-BE49-F238E27FC236}">
                <a16:creationId xmlns:a16="http://schemas.microsoft.com/office/drawing/2014/main" id="{D0852407-F1CA-AFA2-809E-AFF8A487750B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619759" y="913463"/>
            <a:ext cx="1463124" cy="704559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CD7C6D15-45DC-23D1-9BEF-069D66810E89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613193" y="1670718"/>
            <a:ext cx="1487070" cy="256075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4EF5A74C-EF0C-C85D-972C-6C27FC8A4E38}"/>
              </a:ext>
            </a:extLst>
          </p:cNvPr>
          <p:cNvPicPr>
            <a:picLocks noChangeAspect="1"/>
          </p:cNvPicPr>
          <p:nvPr/>
        </p:nvPicPr>
        <p:blipFill>
          <a:blip r:embed="rId58"/>
          <a:srcRect b="90625"/>
          <a:stretch>
            <a:fillRect/>
          </a:stretch>
        </p:blipFill>
        <p:spPr>
          <a:xfrm>
            <a:off x="6607371" y="1956915"/>
            <a:ext cx="1441948" cy="53453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18B67B96-A7A1-7731-C463-EA7168E5654B}"/>
              </a:ext>
            </a:extLst>
          </p:cNvPr>
          <p:cNvPicPr>
            <a:picLocks noChangeAspect="1"/>
          </p:cNvPicPr>
          <p:nvPr/>
        </p:nvPicPr>
        <p:blipFill>
          <a:blip r:embed="rId59"/>
          <a:srcRect t="41555" b="22337"/>
          <a:stretch>
            <a:fillRect/>
          </a:stretch>
        </p:blipFill>
        <p:spPr>
          <a:xfrm>
            <a:off x="6603013" y="2572988"/>
            <a:ext cx="1246227" cy="495346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EDF8841A-4E1E-D4D9-D4D4-1CE7ADB32F04}"/>
              </a:ext>
            </a:extLst>
          </p:cNvPr>
          <p:cNvSpPr txBox="1"/>
          <p:nvPr/>
        </p:nvSpPr>
        <p:spPr>
          <a:xfrm>
            <a:off x="6518998" y="3014191"/>
            <a:ext cx="1514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" b="1" dirty="0"/>
              <a:t>Questions</a:t>
            </a:r>
            <a:r>
              <a:rPr lang="en-GB" sz="400" dirty="0"/>
              <a:t> - Why do chi-square quantiles appear here? - What assumption is crucial for this variance CI to be exact?</a:t>
            </a:r>
          </a:p>
          <a:p>
            <a:r>
              <a:rPr lang="en-GB" sz="400" b="1" dirty="0"/>
              <a:t>Why chi-square quantiles?</a:t>
            </a:r>
            <a:endParaRPr lang="en-GB" sz="400" dirty="0"/>
          </a:p>
          <a:p>
            <a:r>
              <a:rPr lang="en-GB" sz="400" dirty="0"/>
              <a:t>Because for normal data the scaled sample variance (n−1)s2/σ2(n-1)s</a:t>
            </a:r>
            <a:r>
              <a:rPr lang="en-GB" sz="400" baseline="30000" dirty="0"/>
              <a:t>2/</a:t>
            </a:r>
            <a:r>
              <a:rPr lang="en-GB" sz="400" dirty="0"/>
              <a:t>\sigma2(n−1)s2/σ2 follows a chi-square distribution.</a:t>
            </a:r>
          </a:p>
          <a:p>
            <a:r>
              <a:rPr lang="en-GB" sz="400" b="1" dirty="0"/>
              <a:t>Crucial assumption:</a:t>
            </a:r>
            <a:endParaRPr lang="en-GB" sz="400" dirty="0"/>
          </a:p>
          <a:p>
            <a:r>
              <a:rPr lang="en-GB" sz="400" dirty="0"/>
              <a:t>The data are </a:t>
            </a:r>
            <a:r>
              <a:rPr lang="en-GB" sz="400" b="1" dirty="0"/>
              <a:t>normally distributed</a:t>
            </a:r>
            <a:r>
              <a:rPr lang="en-GB" sz="400" dirty="0"/>
              <a:t>; without normality, this variance CI is no longer exact.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9F7B8C4F-F9C9-4589-B54B-3C9ADD923F67}"/>
              </a:ext>
            </a:extLst>
          </p:cNvPr>
          <p:cNvPicPr>
            <a:picLocks noChangeAspect="1"/>
          </p:cNvPicPr>
          <p:nvPr/>
        </p:nvPicPr>
        <p:blipFill>
          <a:blip r:embed="rId60"/>
          <a:srcRect b="82838"/>
          <a:stretch>
            <a:fillRect/>
          </a:stretch>
        </p:blipFill>
        <p:spPr>
          <a:xfrm>
            <a:off x="6597775" y="3706949"/>
            <a:ext cx="1460549" cy="110473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65833880-0582-0ABF-863D-395E6ABED96C}"/>
              </a:ext>
            </a:extLst>
          </p:cNvPr>
          <p:cNvPicPr>
            <a:picLocks noChangeAspect="1"/>
          </p:cNvPicPr>
          <p:nvPr/>
        </p:nvPicPr>
        <p:blipFill>
          <a:blip r:embed="rId61"/>
          <a:srcRect t="73446"/>
          <a:stretch>
            <a:fillRect/>
          </a:stretch>
        </p:blipFill>
        <p:spPr>
          <a:xfrm>
            <a:off x="6597775" y="4225844"/>
            <a:ext cx="1468339" cy="66636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44C314B5-F713-573D-502E-1D01A7FC9A6C}"/>
              </a:ext>
            </a:extLst>
          </p:cNvPr>
          <p:cNvPicPr>
            <a:picLocks noChangeAspect="1"/>
          </p:cNvPicPr>
          <p:nvPr/>
        </p:nvPicPr>
        <p:blipFill>
          <a:blip r:embed="rId61"/>
          <a:srcRect b="67164"/>
          <a:stretch>
            <a:fillRect/>
          </a:stretch>
        </p:blipFill>
        <p:spPr>
          <a:xfrm>
            <a:off x="6602181" y="4149471"/>
            <a:ext cx="1468339" cy="8240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E383B718-E1EB-533B-6CE5-CAB60D3E7E2B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-590" t="54316" r="590" b="4631"/>
          <a:stretch>
            <a:fillRect/>
          </a:stretch>
        </p:blipFill>
        <p:spPr>
          <a:xfrm>
            <a:off x="6587297" y="4384028"/>
            <a:ext cx="1492327" cy="126525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8B28BAC-A0D4-46F7-9A93-FC4629394278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b="78084"/>
          <a:stretch>
            <a:fillRect/>
          </a:stretch>
        </p:blipFill>
        <p:spPr>
          <a:xfrm>
            <a:off x="6598767" y="4311192"/>
            <a:ext cx="1492327" cy="67544"/>
          </a:xfrm>
          <a:prstGeom prst="rect">
            <a:avLst/>
          </a:prstGeom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B2B1D62B-0BE6-3E72-6BFF-230F349BC74B}"/>
              </a:ext>
            </a:extLst>
          </p:cNvPr>
          <p:cNvSpPr txBox="1"/>
          <p:nvPr/>
        </p:nvSpPr>
        <p:spPr>
          <a:xfrm>
            <a:off x="6525607" y="4471891"/>
            <a:ext cx="1545740" cy="1019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" b="1" dirty="0"/>
              <a:t>Questions</a:t>
            </a:r>
            <a:r>
              <a:rPr lang="en-GB" sz="400" dirty="0"/>
              <a:t> - Compare the widths: which interval is wider, and why is that expected? - Check the rule of thumb: are $n\hat p$ and $n(1-\hat p)$ at least 10?</a:t>
            </a:r>
          </a:p>
          <a:p>
            <a:r>
              <a:rPr lang="en-GB" sz="400" b="1" dirty="0"/>
              <a:t>Compare the widths:</a:t>
            </a:r>
            <a:endParaRPr lang="en-GB" sz="400" dirty="0"/>
          </a:p>
          <a:p>
            <a:r>
              <a:rPr lang="en-GB" sz="400" dirty="0"/>
              <a:t>The </a:t>
            </a:r>
            <a:r>
              <a:rPr lang="en-GB" sz="400" b="1" dirty="0"/>
              <a:t>exact (Clopper–Pearson) CI</a:t>
            </a:r>
            <a:r>
              <a:rPr lang="en-GB" sz="400" dirty="0"/>
              <a:t> is </a:t>
            </a:r>
            <a:r>
              <a:rPr lang="en-GB" sz="400" b="1" dirty="0"/>
              <a:t>slightly wider</a:t>
            </a:r>
            <a:r>
              <a:rPr lang="en-GB" sz="400" dirty="0"/>
              <a:t> than the normal-approximation CI.</a:t>
            </a:r>
          </a:p>
          <a:p>
            <a:r>
              <a:rPr lang="en-GB" sz="400" b="1" dirty="0"/>
              <a:t>Why is that expected?</a:t>
            </a:r>
            <a:endParaRPr lang="en-GB" sz="400" dirty="0"/>
          </a:p>
          <a:p>
            <a:r>
              <a:rPr lang="en-GB" sz="400" dirty="0"/>
              <a:t>The exact method guarantees the stated coverage for all (p), so it is more conservative, while the normal approximation relies on an approximation that can be a bit too optimistic.</a:t>
            </a:r>
          </a:p>
          <a:p>
            <a:r>
              <a:rPr lang="en-GB" sz="400" b="1" dirty="0"/>
              <a:t>Rule of thumb check:</a:t>
            </a:r>
            <a:endParaRPr lang="en-GB" sz="400" dirty="0"/>
          </a:p>
          <a:p>
            <a:r>
              <a:rPr lang="en-GB" sz="400" dirty="0"/>
              <a:t>(n\hat p \</a:t>
            </a:r>
            <a:r>
              <a:rPr lang="en-GB" sz="400" dirty="0" err="1"/>
              <a:t>approx</a:t>
            </a:r>
            <a:r>
              <a:rPr lang="en-GB" sz="400" dirty="0"/>
              <a:t> 2225 \times 0.323 \</a:t>
            </a:r>
            <a:r>
              <a:rPr lang="en-GB" sz="400" dirty="0" err="1"/>
              <a:t>approx</a:t>
            </a:r>
            <a:r>
              <a:rPr lang="en-GB" sz="400" dirty="0"/>
              <a:t> 719 \</a:t>
            </a:r>
            <a:r>
              <a:rPr lang="en-GB" sz="400" dirty="0" err="1"/>
              <a:t>ge</a:t>
            </a:r>
            <a:r>
              <a:rPr lang="en-GB" sz="400" dirty="0"/>
              <a:t> 10)</a:t>
            </a:r>
          </a:p>
          <a:p>
            <a:r>
              <a:rPr lang="en-GB" sz="400" dirty="0"/>
              <a:t>(n(1-\hat p) \</a:t>
            </a:r>
            <a:r>
              <a:rPr lang="en-GB" sz="400" dirty="0" err="1"/>
              <a:t>approx</a:t>
            </a:r>
            <a:r>
              <a:rPr lang="en-GB" sz="400" dirty="0"/>
              <a:t> 2225 \times 0.677 \</a:t>
            </a:r>
            <a:r>
              <a:rPr lang="en-GB" sz="400" dirty="0" err="1"/>
              <a:t>approx</a:t>
            </a:r>
            <a:r>
              <a:rPr lang="en-GB" sz="400" dirty="0"/>
              <a:t> 1506 \</a:t>
            </a:r>
            <a:r>
              <a:rPr lang="en-GB" sz="400" dirty="0" err="1"/>
              <a:t>ge</a:t>
            </a:r>
            <a:r>
              <a:rPr lang="en-GB" sz="400" dirty="0"/>
              <a:t> 10)</a:t>
            </a:r>
          </a:p>
          <a:p>
            <a:r>
              <a:rPr lang="en-GB" sz="400" dirty="0"/>
              <a:t>Both conditions are easily satisfied, so the normal approximation is appropriate here.</a:t>
            </a:r>
          </a:p>
        </p:txBody>
      </p:sp>
      <p:pic>
        <p:nvPicPr>
          <p:cNvPr id="152" name="Picture 151">
            <a:extLst>
              <a:ext uri="{FF2B5EF4-FFF2-40B4-BE49-F238E27FC236}">
                <a16:creationId xmlns:a16="http://schemas.microsoft.com/office/drawing/2014/main" id="{F2C0EBF2-FD4B-9507-421F-317C4E0E32B7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r="9351"/>
          <a:stretch>
            <a:fillRect/>
          </a:stretch>
        </p:blipFill>
        <p:spPr>
          <a:xfrm>
            <a:off x="8112662" y="3055"/>
            <a:ext cx="1452060" cy="860305"/>
          </a:xfrm>
          <a:prstGeom prst="rect">
            <a:avLst/>
          </a:prstGeom>
        </p:spPr>
      </p:pic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E134EE37-CFA7-BA14-4087-F063FC371744}"/>
              </a:ext>
            </a:extLst>
          </p:cNvPr>
          <p:cNvCxnSpPr>
            <a:cxnSpLocks/>
          </p:cNvCxnSpPr>
          <p:nvPr/>
        </p:nvCxnSpPr>
        <p:spPr>
          <a:xfrm>
            <a:off x="8106006" y="-30889"/>
            <a:ext cx="0" cy="7008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9" name="Picture 158">
            <a:extLst>
              <a:ext uri="{FF2B5EF4-FFF2-40B4-BE49-F238E27FC236}">
                <a16:creationId xmlns:a16="http://schemas.microsoft.com/office/drawing/2014/main" id="{B1673731-CE9B-35F7-B391-214DA957D8D0}"/>
              </a:ext>
            </a:extLst>
          </p:cNvPr>
          <p:cNvPicPr>
            <a:picLocks noChangeAspect="1"/>
          </p:cNvPicPr>
          <p:nvPr/>
        </p:nvPicPr>
        <p:blipFill>
          <a:blip r:embed="rId64"/>
          <a:srcRect b="86620"/>
          <a:stretch>
            <a:fillRect/>
          </a:stretch>
        </p:blipFill>
        <p:spPr>
          <a:xfrm>
            <a:off x="8132466" y="810012"/>
            <a:ext cx="1310665" cy="162618"/>
          </a:xfrm>
          <a:prstGeom prst="rect">
            <a:avLst/>
          </a:prstGeom>
        </p:spPr>
      </p:pic>
      <p:pic>
        <p:nvPicPr>
          <p:cNvPr id="162" name="Picture 161">
            <a:extLst>
              <a:ext uri="{FF2B5EF4-FFF2-40B4-BE49-F238E27FC236}">
                <a16:creationId xmlns:a16="http://schemas.microsoft.com/office/drawing/2014/main" id="{2B0474B1-098E-AB13-8D39-C651F10E8F58}"/>
              </a:ext>
            </a:extLst>
          </p:cNvPr>
          <p:cNvPicPr>
            <a:picLocks noChangeAspect="1"/>
          </p:cNvPicPr>
          <p:nvPr/>
        </p:nvPicPr>
        <p:blipFill>
          <a:blip r:embed="rId64"/>
          <a:srcRect t="24148" b="72154"/>
          <a:stretch>
            <a:fillRect/>
          </a:stretch>
        </p:blipFill>
        <p:spPr>
          <a:xfrm>
            <a:off x="8130301" y="960815"/>
            <a:ext cx="1310665" cy="44945"/>
          </a:xfrm>
          <a:prstGeom prst="rect">
            <a:avLst/>
          </a:prstGeom>
        </p:spPr>
      </p:pic>
      <p:pic>
        <p:nvPicPr>
          <p:cNvPr id="165" name="Picture 164">
            <a:extLst>
              <a:ext uri="{FF2B5EF4-FFF2-40B4-BE49-F238E27FC236}">
                <a16:creationId xmlns:a16="http://schemas.microsoft.com/office/drawing/2014/main" id="{9E6972A8-309C-523D-B4C3-242D01BF5FC1}"/>
              </a:ext>
            </a:extLst>
          </p:cNvPr>
          <p:cNvPicPr>
            <a:picLocks noChangeAspect="1"/>
          </p:cNvPicPr>
          <p:nvPr/>
        </p:nvPicPr>
        <p:blipFill>
          <a:blip r:embed="rId64"/>
          <a:srcRect l="-1344" t="30635" r="1344" b="61857"/>
          <a:stretch>
            <a:fillRect/>
          </a:stretch>
        </p:blipFill>
        <p:spPr>
          <a:xfrm>
            <a:off x="8111909" y="999554"/>
            <a:ext cx="1310665" cy="91255"/>
          </a:xfrm>
          <a:prstGeom prst="rect">
            <a:avLst/>
          </a:prstGeom>
        </p:spPr>
      </p:pic>
      <p:pic>
        <p:nvPicPr>
          <p:cNvPr id="167" name="Picture 166">
            <a:extLst>
              <a:ext uri="{FF2B5EF4-FFF2-40B4-BE49-F238E27FC236}">
                <a16:creationId xmlns:a16="http://schemas.microsoft.com/office/drawing/2014/main" id="{1EF86C02-552A-4A75-5177-B641EC5AF9F0}"/>
              </a:ext>
            </a:extLst>
          </p:cNvPr>
          <p:cNvPicPr>
            <a:picLocks noChangeAspect="1"/>
          </p:cNvPicPr>
          <p:nvPr/>
        </p:nvPicPr>
        <p:blipFill>
          <a:blip r:embed="rId64"/>
          <a:srcRect l="-672" t="38616" r="672" b="53876"/>
          <a:stretch>
            <a:fillRect/>
          </a:stretch>
        </p:blipFill>
        <p:spPr>
          <a:xfrm>
            <a:off x="8120720" y="1061773"/>
            <a:ext cx="1310665" cy="91255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FDD6674C-ED48-F679-D076-F7DE893053DE}"/>
              </a:ext>
            </a:extLst>
          </p:cNvPr>
          <p:cNvPicPr>
            <a:picLocks noChangeAspect="1"/>
          </p:cNvPicPr>
          <p:nvPr/>
        </p:nvPicPr>
        <p:blipFill>
          <a:blip r:embed="rId64"/>
          <a:srcRect l="225" t="51396" r="28287" b="4"/>
          <a:stretch>
            <a:fillRect/>
          </a:stretch>
        </p:blipFill>
        <p:spPr>
          <a:xfrm>
            <a:off x="8132466" y="1145117"/>
            <a:ext cx="936971" cy="590741"/>
          </a:xfrm>
          <a:prstGeom prst="rect">
            <a:avLst/>
          </a:prstGeom>
        </p:spPr>
      </p:pic>
      <p:pic>
        <p:nvPicPr>
          <p:cNvPr id="176" name="Picture 175">
            <a:extLst>
              <a:ext uri="{FF2B5EF4-FFF2-40B4-BE49-F238E27FC236}">
                <a16:creationId xmlns:a16="http://schemas.microsoft.com/office/drawing/2014/main" id="{C9899FCB-A19A-AE35-EEF2-37E5B32B832D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119143" y="1750217"/>
            <a:ext cx="1363362" cy="1125664"/>
          </a:xfrm>
          <a:prstGeom prst="rect">
            <a:avLst/>
          </a:prstGeom>
        </p:spPr>
      </p:pic>
      <p:sp>
        <p:nvSpPr>
          <p:cNvPr id="181" name="TextBox 180">
            <a:extLst>
              <a:ext uri="{FF2B5EF4-FFF2-40B4-BE49-F238E27FC236}">
                <a16:creationId xmlns:a16="http://schemas.microsoft.com/office/drawing/2014/main" id="{5DFC4F4E-501A-767F-F9DC-99282937EA03}"/>
              </a:ext>
            </a:extLst>
          </p:cNvPr>
          <p:cNvSpPr txBox="1"/>
          <p:nvPr/>
        </p:nvSpPr>
        <p:spPr>
          <a:xfrm>
            <a:off x="8057179" y="2830234"/>
            <a:ext cx="1514903" cy="474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" b="1" dirty="0"/>
              <a:t>Conceptual question</a:t>
            </a:r>
            <a:r>
              <a:rPr lang="en-GB" sz="400" dirty="0"/>
              <a:t> - </a:t>
            </a:r>
            <a:r>
              <a:rPr lang="en-GB" sz="400" b="1" dirty="0"/>
              <a:t>Does “non-overlapping 95% CIs” automatically imply a significant difference at 5%? (Discuss briefly.)</a:t>
            </a:r>
          </a:p>
          <a:p>
            <a:r>
              <a:rPr lang="en-GB" sz="400" dirty="0"/>
              <a:t>No. Non-overlapping 95% confidence intervals suggest a significant difference, but overlap does not automatically mean there is no significant difference.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0F9218FD-58DC-7A0E-F3FD-9B4B31DC4F4A}"/>
              </a:ext>
            </a:extLst>
          </p:cNvPr>
          <p:cNvPicPr>
            <a:picLocks noChangeAspect="1"/>
          </p:cNvPicPr>
          <p:nvPr/>
        </p:nvPicPr>
        <p:blipFill>
          <a:blip r:embed="rId53"/>
          <a:srcRect l="46648" b="94170"/>
          <a:stretch>
            <a:fillRect/>
          </a:stretch>
        </p:blipFill>
        <p:spPr>
          <a:xfrm>
            <a:off x="6594082" y="5451996"/>
            <a:ext cx="1051814" cy="86247"/>
          </a:xfrm>
          <a:prstGeom prst="rect">
            <a:avLst/>
          </a:prstGeom>
        </p:spPr>
      </p:pic>
      <p:pic>
        <p:nvPicPr>
          <p:cNvPr id="194" name="Picture 193">
            <a:extLst>
              <a:ext uri="{FF2B5EF4-FFF2-40B4-BE49-F238E27FC236}">
                <a16:creationId xmlns:a16="http://schemas.microsoft.com/office/drawing/2014/main" id="{81B7AEEA-5152-404F-454C-7C9248EC7221}"/>
              </a:ext>
            </a:extLst>
          </p:cNvPr>
          <p:cNvPicPr>
            <a:picLocks noChangeAspect="1"/>
          </p:cNvPicPr>
          <p:nvPr/>
        </p:nvPicPr>
        <p:blipFill>
          <a:blip r:embed="rId53"/>
          <a:srcRect t="6505" r="81258" b="83573"/>
          <a:stretch>
            <a:fillRect/>
          </a:stretch>
        </p:blipFill>
        <p:spPr>
          <a:xfrm>
            <a:off x="7642708" y="5435133"/>
            <a:ext cx="369488" cy="146784"/>
          </a:xfrm>
          <a:prstGeom prst="rect">
            <a:avLst/>
          </a:prstGeom>
        </p:spPr>
      </p:pic>
      <p:pic>
        <p:nvPicPr>
          <p:cNvPr id="197" name="Picture 196">
            <a:extLst>
              <a:ext uri="{FF2B5EF4-FFF2-40B4-BE49-F238E27FC236}">
                <a16:creationId xmlns:a16="http://schemas.microsoft.com/office/drawing/2014/main" id="{C59910E0-B46A-C32B-3BBE-AC4AC35DF15E}"/>
              </a:ext>
            </a:extLst>
          </p:cNvPr>
          <p:cNvPicPr>
            <a:picLocks noChangeAspect="1"/>
          </p:cNvPicPr>
          <p:nvPr/>
        </p:nvPicPr>
        <p:blipFill>
          <a:blip r:embed="rId66"/>
          <a:srcRect l="39309" r="15295" b="96113"/>
          <a:stretch>
            <a:fillRect/>
          </a:stretch>
        </p:blipFill>
        <p:spPr>
          <a:xfrm>
            <a:off x="8117602" y="3258275"/>
            <a:ext cx="718063" cy="948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D4D737-FC5C-309F-D0E0-E59C8A5AB419}"/>
              </a:ext>
            </a:extLst>
          </p:cNvPr>
          <p:cNvPicPr>
            <a:picLocks noChangeAspect="1"/>
          </p:cNvPicPr>
          <p:nvPr/>
        </p:nvPicPr>
        <p:blipFill>
          <a:blip r:embed="rId58"/>
          <a:srcRect l="-611" t="17818" r="611" b="61026"/>
          <a:stretch>
            <a:fillRect/>
          </a:stretch>
        </p:blipFill>
        <p:spPr>
          <a:xfrm>
            <a:off x="6602966" y="2013097"/>
            <a:ext cx="1441948" cy="1206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0EF607-1BEA-72CE-A909-96B6FFCB75F7}"/>
              </a:ext>
            </a:extLst>
          </p:cNvPr>
          <p:cNvPicPr>
            <a:picLocks noChangeAspect="1"/>
          </p:cNvPicPr>
          <p:nvPr/>
        </p:nvPicPr>
        <p:blipFill>
          <a:blip r:embed="rId58"/>
          <a:srcRect t="48200" b="30644"/>
          <a:stretch>
            <a:fillRect/>
          </a:stretch>
        </p:blipFill>
        <p:spPr>
          <a:xfrm>
            <a:off x="6594154" y="2140272"/>
            <a:ext cx="1441948" cy="1206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A0A6F3-AF93-063C-6942-40806FFB9147}"/>
              </a:ext>
            </a:extLst>
          </p:cNvPr>
          <p:cNvPicPr>
            <a:picLocks noChangeAspect="1"/>
          </p:cNvPicPr>
          <p:nvPr/>
        </p:nvPicPr>
        <p:blipFill>
          <a:blip r:embed="rId58"/>
          <a:srcRect l="305" t="77478" r="-305" b="1366"/>
          <a:stretch>
            <a:fillRect/>
          </a:stretch>
        </p:blipFill>
        <p:spPr>
          <a:xfrm>
            <a:off x="6596358" y="2251867"/>
            <a:ext cx="1441948" cy="12062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C760967-D09B-7BE6-CA9A-DEFDEC3B4BEB}"/>
              </a:ext>
            </a:extLst>
          </p:cNvPr>
          <p:cNvPicPr>
            <a:picLocks noChangeAspect="1"/>
          </p:cNvPicPr>
          <p:nvPr/>
        </p:nvPicPr>
        <p:blipFill>
          <a:blip r:embed="rId59"/>
          <a:srcRect t="8215" b="84675"/>
          <a:stretch>
            <a:fillRect/>
          </a:stretch>
        </p:blipFill>
        <p:spPr>
          <a:xfrm>
            <a:off x="6616228" y="2361772"/>
            <a:ext cx="1246227" cy="9754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9EE8019-511D-5CDF-8B19-686B87E58C97}"/>
              </a:ext>
            </a:extLst>
          </p:cNvPr>
          <p:cNvPicPr>
            <a:picLocks noChangeAspect="1"/>
          </p:cNvPicPr>
          <p:nvPr/>
        </p:nvPicPr>
        <p:blipFill>
          <a:blip r:embed="rId59"/>
          <a:srcRect t="18437" b="76873"/>
          <a:stretch>
            <a:fillRect/>
          </a:stretch>
        </p:blipFill>
        <p:spPr>
          <a:xfrm>
            <a:off x="6611822" y="2443584"/>
            <a:ext cx="1246227" cy="6434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CC66B68-A0C6-4E9D-823D-E39FFB900140}"/>
              </a:ext>
            </a:extLst>
          </p:cNvPr>
          <p:cNvPicPr>
            <a:picLocks noChangeAspect="1"/>
          </p:cNvPicPr>
          <p:nvPr/>
        </p:nvPicPr>
        <p:blipFill>
          <a:blip r:embed="rId59"/>
          <a:srcRect t="28199" b="67364"/>
          <a:stretch>
            <a:fillRect/>
          </a:stretch>
        </p:blipFill>
        <p:spPr>
          <a:xfrm>
            <a:off x="6611822" y="2508228"/>
            <a:ext cx="1246227" cy="60863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386173F2-165F-D0AF-E511-377CAD3F51F3}"/>
              </a:ext>
            </a:extLst>
          </p:cNvPr>
          <p:cNvPicPr>
            <a:picLocks noChangeAspect="1"/>
          </p:cNvPicPr>
          <p:nvPr/>
        </p:nvPicPr>
        <p:blipFill>
          <a:blip r:embed="rId59"/>
          <a:srcRect l="707" t="91391" r="61006" b="-33"/>
          <a:stretch>
            <a:fillRect/>
          </a:stretch>
        </p:blipFill>
        <p:spPr>
          <a:xfrm>
            <a:off x="6759400" y="2949786"/>
            <a:ext cx="477143" cy="118548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80F5495E-DF50-231B-401D-241E1C5552B3}"/>
              </a:ext>
            </a:extLst>
          </p:cNvPr>
          <p:cNvPicPr>
            <a:picLocks noChangeAspect="1"/>
          </p:cNvPicPr>
          <p:nvPr/>
        </p:nvPicPr>
        <p:blipFill>
          <a:blip r:embed="rId60"/>
          <a:srcRect t="57119" r="45558"/>
          <a:stretch>
            <a:fillRect/>
          </a:stretch>
        </p:blipFill>
        <p:spPr>
          <a:xfrm>
            <a:off x="6610992" y="3877402"/>
            <a:ext cx="795156" cy="276035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F5C5D7EA-F6AC-2A47-97F0-B3470F426850}"/>
              </a:ext>
            </a:extLst>
          </p:cNvPr>
          <p:cNvPicPr>
            <a:picLocks noChangeAspect="1"/>
          </p:cNvPicPr>
          <p:nvPr/>
        </p:nvPicPr>
        <p:blipFill>
          <a:blip r:embed="rId60"/>
          <a:srcRect t="26801" b="62508"/>
          <a:stretch>
            <a:fillRect/>
          </a:stretch>
        </p:blipFill>
        <p:spPr>
          <a:xfrm>
            <a:off x="6602181" y="3799868"/>
            <a:ext cx="1460549" cy="68816"/>
          </a:xfrm>
          <a:prstGeom prst="rect">
            <a:avLst/>
          </a:prstGeom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E2F64792-6A13-291F-F82D-7C53B596CF1F}"/>
              </a:ext>
            </a:extLst>
          </p:cNvPr>
          <p:cNvPicPr>
            <a:picLocks noChangeAspect="1"/>
          </p:cNvPicPr>
          <p:nvPr/>
        </p:nvPicPr>
        <p:blipFill>
          <a:blip r:embed="rId66"/>
          <a:srcRect t="10724" b="62643"/>
          <a:stretch>
            <a:fillRect/>
          </a:stretch>
        </p:blipFill>
        <p:spPr>
          <a:xfrm>
            <a:off x="8117676" y="3364921"/>
            <a:ext cx="1581785" cy="650222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99B00D88-E1AD-5327-4234-27BBDB7C2AB5}"/>
              </a:ext>
            </a:extLst>
          </p:cNvPr>
          <p:cNvPicPr>
            <a:picLocks noChangeAspect="1"/>
          </p:cNvPicPr>
          <p:nvPr/>
        </p:nvPicPr>
        <p:blipFill>
          <a:blip r:embed="rId66"/>
          <a:srcRect t="58033"/>
          <a:stretch>
            <a:fillRect/>
          </a:stretch>
        </p:blipFill>
        <p:spPr>
          <a:xfrm>
            <a:off x="8123204" y="4382067"/>
            <a:ext cx="1581785" cy="1024599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C154D697-F408-E87E-608A-2D5C58887751}"/>
              </a:ext>
            </a:extLst>
          </p:cNvPr>
          <p:cNvPicPr>
            <a:picLocks noChangeAspect="1"/>
          </p:cNvPicPr>
          <p:nvPr/>
        </p:nvPicPr>
        <p:blipFill>
          <a:blip r:embed="rId66"/>
          <a:srcRect l="261" t="41490" r="-261" b="44608"/>
          <a:stretch>
            <a:fillRect/>
          </a:stretch>
        </p:blipFill>
        <p:spPr>
          <a:xfrm>
            <a:off x="8123204" y="4048446"/>
            <a:ext cx="1581785" cy="3394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314CE6F-0492-A679-2FFA-FD3585653C87}"/>
                  </a:ext>
                </a:extLst>
              </p14:cNvPr>
              <p14:cNvContentPartPr/>
              <p14:nvPr/>
            </p14:nvContentPartPr>
            <p14:xfrm>
              <a:off x="2750175" y="3295320"/>
              <a:ext cx="212400" cy="288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314CE6F-0492-A679-2FFA-FD3585653C8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732175" y="3259320"/>
                <a:ext cx="2480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CAACBD05-7876-2CC8-3363-CE93F24EFED0}"/>
                  </a:ext>
                </a:extLst>
              </p14:cNvPr>
              <p14:cNvContentPartPr/>
              <p14:nvPr/>
            </p14:nvContentPartPr>
            <p14:xfrm>
              <a:off x="2178855" y="3064560"/>
              <a:ext cx="405000" cy="612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CAACBD05-7876-2CC8-3363-CE93F24EFED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160855" y="3028560"/>
                <a:ext cx="4406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8989D839-C67C-FE64-3C34-65AF9A0B25E6}"/>
                  </a:ext>
                </a:extLst>
              </p14:cNvPr>
              <p14:cNvContentPartPr/>
              <p14:nvPr/>
            </p14:nvContentPartPr>
            <p14:xfrm>
              <a:off x="3016935" y="3828750"/>
              <a:ext cx="474120" cy="3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8989D839-C67C-FE64-3C34-65AF9A0B25E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998935" y="3792750"/>
                <a:ext cx="5097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5CE4E5C9-67C0-C664-B98E-686EAFEA1B4C}"/>
                  </a:ext>
                </a:extLst>
              </p14:cNvPr>
              <p14:cNvContentPartPr/>
              <p14:nvPr/>
            </p14:nvContentPartPr>
            <p14:xfrm>
              <a:off x="2714535" y="3970950"/>
              <a:ext cx="355320" cy="360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5CE4E5C9-67C0-C664-B98E-686EAFEA1B4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696535" y="3934950"/>
                <a:ext cx="3909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DC000B19-0C17-087D-9A40-2B8BA74A05F8}"/>
                  </a:ext>
                </a:extLst>
              </p14:cNvPr>
              <p14:cNvContentPartPr/>
              <p14:nvPr/>
            </p14:nvContentPartPr>
            <p14:xfrm>
              <a:off x="2185695" y="4207560"/>
              <a:ext cx="262080" cy="2664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DC000B19-0C17-087D-9A40-2B8BA74A05F8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168055" y="4171560"/>
                <a:ext cx="29772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2EDE4C06-4BD3-9E8C-8FAB-5C18E5E8B8AC}"/>
                  </a:ext>
                </a:extLst>
              </p14:cNvPr>
              <p14:cNvContentPartPr/>
              <p14:nvPr/>
            </p14:nvContentPartPr>
            <p14:xfrm>
              <a:off x="2300175" y="4290720"/>
              <a:ext cx="71640" cy="288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2EDE4C06-4BD3-9E8C-8FAB-5C18E5E8B8AC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282175" y="4255080"/>
                <a:ext cx="1072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C9E3D87A-B88B-2AA7-F1C7-EE2B842ABDD0}"/>
                  </a:ext>
                </a:extLst>
              </p14:cNvPr>
              <p14:cNvContentPartPr/>
              <p14:nvPr/>
            </p14:nvContentPartPr>
            <p14:xfrm>
              <a:off x="2602575" y="4355160"/>
              <a:ext cx="307440" cy="288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C9E3D87A-B88B-2AA7-F1C7-EE2B842ABDD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584575" y="4319160"/>
                <a:ext cx="3430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EAE335AD-B82B-345D-C1AA-3F6CDB499F02}"/>
                  </a:ext>
                </a:extLst>
              </p14:cNvPr>
              <p14:cNvContentPartPr/>
              <p14:nvPr/>
            </p14:nvContentPartPr>
            <p14:xfrm>
              <a:off x="2904975" y="5074260"/>
              <a:ext cx="457200" cy="972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EAE335AD-B82B-345D-C1AA-3F6CDB499F0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886975" y="5038620"/>
                <a:ext cx="4928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D21EE704-E064-0C64-C8C8-11012D4F758D}"/>
                  </a:ext>
                </a:extLst>
              </p14:cNvPr>
              <p14:cNvContentPartPr/>
              <p14:nvPr/>
            </p14:nvContentPartPr>
            <p14:xfrm>
              <a:off x="2976255" y="5270460"/>
              <a:ext cx="352800" cy="1908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D21EE704-E064-0C64-C8C8-11012D4F758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958615" y="5234820"/>
                <a:ext cx="3884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03AFE635-322E-67BA-141E-0A07BB0A5393}"/>
                  </a:ext>
                </a:extLst>
              </p14:cNvPr>
              <p14:cNvContentPartPr/>
              <p14:nvPr/>
            </p14:nvContentPartPr>
            <p14:xfrm>
              <a:off x="2071575" y="6133849"/>
              <a:ext cx="819360" cy="1512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03AFE635-322E-67BA-141E-0A07BB0A539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053575" y="6098209"/>
                <a:ext cx="8550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1B47968-AD5E-CCC1-FBCB-39B9612417E7}"/>
                  </a:ext>
                </a:extLst>
              </p14:cNvPr>
              <p14:cNvContentPartPr/>
              <p14:nvPr/>
            </p14:nvContentPartPr>
            <p14:xfrm>
              <a:off x="2059695" y="6379369"/>
              <a:ext cx="545400" cy="288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1B47968-AD5E-CCC1-FBCB-39B9612417E7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041695" y="6343369"/>
                <a:ext cx="5810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79C907EC-BE49-1AAD-3579-FBA6E4BCD502}"/>
                  </a:ext>
                </a:extLst>
              </p14:cNvPr>
              <p14:cNvContentPartPr/>
              <p14:nvPr/>
            </p14:nvContentPartPr>
            <p14:xfrm>
              <a:off x="4995788" y="3109740"/>
              <a:ext cx="245520" cy="288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79C907EC-BE49-1AAD-3579-FBA6E4BCD502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977788" y="3073740"/>
                <a:ext cx="2811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34657CFC-1BC6-597D-AE72-14857367AC84}"/>
                  </a:ext>
                </a:extLst>
              </p14:cNvPr>
              <p14:cNvContentPartPr/>
              <p14:nvPr/>
            </p14:nvContentPartPr>
            <p14:xfrm>
              <a:off x="5290988" y="3224220"/>
              <a:ext cx="193320" cy="252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34657CFC-1BC6-597D-AE72-14857367AC8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272988" y="3188220"/>
                <a:ext cx="22896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9686678D-77A5-A10D-CAF7-2928676C49EA}"/>
                  </a:ext>
                </a:extLst>
              </p14:cNvPr>
              <p14:cNvContentPartPr/>
              <p14:nvPr/>
            </p14:nvContentPartPr>
            <p14:xfrm>
              <a:off x="5009828" y="3349500"/>
              <a:ext cx="231120" cy="57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9686678D-77A5-A10D-CAF7-2928676C49EA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4992188" y="3313500"/>
                <a:ext cx="2667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094FABD8-48EC-5452-E70A-279592B17795}"/>
                  </a:ext>
                </a:extLst>
              </p14:cNvPr>
              <p14:cNvContentPartPr/>
              <p14:nvPr/>
            </p14:nvContentPartPr>
            <p14:xfrm>
              <a:off x="4993268" y="3521580"/>
              <a:ext cx="209520" cy="540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094FABD8-48EC-5452-E70A-279592B1779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4975628" y="3485580"/>
                <a:ext cx="2451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E39FCA8E-AAA9-32B2-C8B3-C6430BDC178F}"/>
                  </a:ext>
                </a:extLst>
              </p14:cNvPr>
              <p14:cNvContentPartPr/>
              <p14:nvPr/>
            </p14:nvContentPartPr>
            <p14:xfrm>
              <a:off x="5000468" y="4099740"/>
              <a:ext cx="576360" cy="1764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E39FCA8E-AAA9-32B2-C8B3-C6430BDC178F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982468" y="4064100"/>
                <a:ext cx="61200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16440DAB-B2AD-4737-72D2-F86B5F8D33C4}"/>
                  </a:ext>
                </a:extLst>
              </p14:cNvPr>
              <p14:cNvContentPartPr/>
              <p14:nvPr/>
            </p14:nvContentPartPr>
            <p14:xfrm>
              <a:off x="5000468" y="4216740"/>
              <a:ext cx="529560" cy="1764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16440DAB-B2AD-4737-72D2-F86B5F8D33C4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982468" y="4180740"/>
                <a:ext cx="56520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BE295687-9314-C8EE-4DF1-C95BC6DE4849}"/>
                  </a:ext>
                </a:extLst>
              </p14:cNvPr>
              <p14:cNvContentPartPr/>
              <p14:nvPr/>
            </p14:nvContentPartPr>
            <p14:xfrm>
              <a:off x="5500508" y="4893450"/>
              <a:ext cx="331920" cy="1116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BE295687-9314-C8EE-4DF1-C95BC6DE4849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5482868" y="4857450"/>
                <a:ext cx="36756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DED882E6-2E6B-04F1-485A-4F80027BE760}"/>
                  </a:ext>
                </a:extLst>
              </p14:cNvPr>
              <p14:cNvContentPartPr/>
              <p14:nvPr/>
            </p14:nvContentPartPr>
            <p14:xfrm>
              <a:off x="5472068" y="6081540"/>
              <a:ext cx="1028880" cy="2268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DED882E6-2E6B-04F1-485A-4F80027BE76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454068" y="6045900"/>
                <a:ext cx="106452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24D04CE2-7E44-26FA-A906-F35B7C696B42}"/>
                  </a:ext>
                </a:extLst>
              </p14:cNvPr>
              <p14:cNvContentPartPr/>
              <p14:nvPr/>
            </p14:nvContentPartPr>
            <p14:xfrm>
              <a:off x="5002988" y="6322020"/>
              <a:ext cx="1495440" cy="2196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24D04CE2-7E44-26FA-A906-F35B7C696B42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984988" y="6286380"/>
                <a:ext cx="153108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C6D79F2D-6418-E0C5-F174-E88791E83606}"/>
                  </a:ext>
                </a:extLst>
              </p14:cNvPr>
              <p14:cNvContentPartPr/>
              <p14:nvPr/>
            </p14:nvContentPartPr>
            <p14:xfrm>
              <a:off x="5179028" y="5321040"/>
              <a:ext cx="518040" cy="612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C6D79F2D-6418-E0C5-F174-E88791E83606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161388" y="5285040"/>
                <a:ext cx="55368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1B7EF6A0-75B2-3A76-3FBD-7F2CAFCBFD26}"/>
                  </a:ext>
                </a:extLst>
              </p14:cNvPr>
              <p14:cNvContentPartPr/>
              <p14:nvPr/>
            </p14:nvContentPartPr>
            <p14:xfrm>
              <a:off x="6798308" y="381210"/>
              <a:ext cx="465120" cy="1008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1B7EF6A0-75B2-3A76-3FBD-7F2CAFCBFD26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780308" y="345570"/>
                <a:ext cx="5007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6A927BD6-2581-B7BD-B31A-07A498B761EF}"/>
                  </a:ext>
                </a:extLst>
              </p14:cNvPr>
              <p14:cNvContentPartPr/>
              <p14:nvPr/>
            </p14:nvContentPartPr>
            <p14:xfrm>
              <a:off x="6793628" y="1345110"/>
              <a:ext cx="562680" cy="1188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6A927BD6-2581-B7BD-B31A-07A498B761E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775628" y="1309470"/>
                <a:ext cx="5983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F15A05BF-FF59-2836-B829-83E80C10C16F}"/>
                  </a:ext>
                </a:extLst>
              </p14:cNvPr>
              <p14:cNvContentPartPr/>
              <p14:nvPr/>
            </p14:nvContentPartPr>
            <p14:xfrm>
              <a:off x="6702908" y="2028840"/>
              <a:ext cx="333720" cy="1188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F15A05BF-FF59-2836-B829-83E80C10C16F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6685268" y="1993200"/>
                <a:ext cx="3693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AAD8CE2C-F6A5-6767-8A79-DFFD4015CE4C}"/>
                  </a:ext>
                </a:extLst>
              </p14:cNvPr>
              <p14:cNvContentPartPr/>
              <p14:nvPr/>
            </p14:nvContentPartPr>
            <p14:xfrm>
              <a:off x="6679148" y="2275440"/>
              <a:ext cx="383400" cy="612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AAD8CE2C-F6A5-6767-8A79-DFFD4015CE4C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6661508" y="2239440"/>
                <a:ext cx="4190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801E0A7C-9BC8-2535-01BB-586850AE066F}"/>
                  </a:ext>
                </a:extLst>
              </p14:cNvPr>
              <p14:cNvContentPartPr/>
              <p14:nvPr/>
            </p14:nvContentPartPr>
            <p14:xfrm>
              <a:off x="7753028" y="1980960"/>
              <a:ext cx="102600" cy="756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801E0A7C-9BC8-2535-01BB-586850AE066F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735388" y="1945320"/>
                <a:ext cx="13824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C01C920A-6D39-869B-C481-EEAFFB8A1DA2}"/>
                  </a:ext>
                </a:extLst>
              </p14:cNvPr>
              <p14:cNvContentPartPr/>
              <p14:nvPr/>
            </p14:nvContentPartPr>
            <p14:xfrm>
              <a:off x="6950588" y="2412150"/>
              <a:ext cx="409680" cy="576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C01C920A-6D39-869B-C481-EEAFFB8A1DA2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932948" y="2376150"/>
                <a:ext cx="4453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6A730679-DBA6-6E5A-DAFA-1C422590E414}"/>
                  </a:ext>
                </a:extLst>
              </p14:cNvPr>
              <p14:cNvContentPartPr/>
              <p14:nvPr/>
            </p14:nvContentPartPr>
            <p14:xfrm>
              <a:off x="6814868" y="2459670"/>
              <a:ext cx="305280" cy="972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6A730679-DBA6-6E5A-DAFA-1C422590E414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6796868" y="2423670"/>
                <a:ext cx="34092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312B83D9-AF7A-0D1C-FFF6-35BE33769328}"/>
                  </a:ext>
                </a:extLst>
              </p14:cNvPr>
              <p14:cNvContentPartPr/>
              <p14:nvPr/>
            </p14:nvContentPartPr>
            <p14:xfrm>
              <a:off x="6891188" y="2538150"/>
              <a:ext cx="936360" cy="72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312B83D9-AF7A-0D1C-FFF6-35BE33769328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873188" y="2466150"/>
                <a:ext cx="9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050FA268-4084-31BC-16F0-2DA60AA2B984}"/>
                  </a:ext>
                </a:extLst>
              </p14:cNvPr>
              <p14:cNvContentPartPr/>
              <p14:nvPr/>
            </p14:nvContentPartPr>
            <p14:xfrm>
              <a:off x="6621908" y="3204960"/>
              <a:ext cx="624240" cy="1224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050FA268-4084-31BC-16F0-2DA60AA2B984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604268" y="3169320"/>
                <a:ext cx="6598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F67C8551-8F97-7DD3-D08E-E87C32A8F87E}"/>
                  </a:ext>
                </a:extLst>
              </p14:cNvPr>
              <p14:cNvContentPartPr/>
              <p14:nvPr/>
            </p14:nvContentPartPr>
            <p14:xfrm>
              <a:off x="6624428" y="3445620"/>
              <a:ext cx="450360" cy="972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F67C8551-8F97-7DD3-D08E-E87C32A8F87E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606428" y="3409620"/>
                <a:ext cx="48600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F11734EB-D21F-1DF8-1E99-0628FFCC644D}"/>
                  </a:ext>
                </a:extLst>
              </p14:cNvPr>
              <p14:cNvContentPartPr/>
              <p14:nvPr/>
            </p14:nvContentPartPr>
            <p14:xfrm>
              <a:off x="6624428" y="4171920"/>
              <a:ext cx="719640" cy="252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F11734EB-D21F-1DF8-1E99-0628FFCC644D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606428" y="4135920"/>
                <a:ext cx="7552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122BC270-8058-4FE4-F5F4-FF05343B0A92}"/>
                  </a:ext>
                </a:extLst>
              </p14:cNvPr>
              <p14:cNvContentPartPr/>
              <p14:nvPr/>
            </p14:nvContentPartPr>
            <p14:xfrm>
              <a:off x="6991268" y="4347960"/>
              <a:ext cx="755280" cy="28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122BC270-8058-4FE4-F5F4-FF05343B0A92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973268" y="4311960"/>
                <a:ext cx="7909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40CD4136-A211-9B08-6B1A-90053E736132}"/>
                  </a:ext>
                </a:extLst>
              </p14:cNvPr>
              <p14:cNvContentPartPr/>
              <p14:nvPr/>
            </p14:nvContentPartPr>
            <p14:xfrm>
              <a:off x="6621908" y="4731360"/>
              <a:ext cx="531720" cy="504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40CD4136-A211-9B08-6B1A-90053E736132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6603908" y="4695360"/>
                <a:ext cx="56736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7A420B87-8AFA-15B3-565C-9276FBC401CC}"/>
                  </a:ext>
                </a:extLst>
              </p14:cNvPr>
              <p14:cNvContentPartPr/>
              <p14:nvPr/>
            </p14:nvContentPartPr>
            <p14:xfrm>
              <a:off x="6624428" y="4902000"/>
              <a:ext cx="542880" cy="1116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7A420B87-8AFA-15B3-565C-9276FBC401CC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6606788" y="4866000"/>
                <a:ext cx="57852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6B6F7F10-BCF9-FA6D-9F2F-8BDBA0D10902}"/>
                  </a:ext>
                </a:extLst>
              </p14:cNvPr>
              <p14:cNvContentPartPr/>
              <p14:nvPr/>
            </p14:nvContentPartPr>
            <p14:xfrm>
              <a:off x="6612548" y="5145720"/>
              <a:ext cx="495360" cy="36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6B6F7F10-BCF9-FA6D-9F2F-8BDBA0D10902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6594908" y="5110080"/>
                <a:ext cx="531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015AFA27-7950-DE12-0DEF-16EFE6773B6E}"/>
                  </a:ext>
                </a:extLst>
              </p14:cNvPr>
              <p14:cNvContentPartPr/>
              <p14:nvPr/>
            </p14:nvContentPartPr>
            <p14:xfrm>
              <a:off x="6617228" y="5481079"/>
              <a:ext cx="1415520" cy="255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015AFA27-7950-DE12-0DEF-16EFE6773B6E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599588" y="5445439"/>
                <a:ext cx="1451160" cy="97200"/>
              </a:xfrm>
              <a:prstGeom prst="rect">
                <a:avLst/>
              </a:prstGeom>
            </p:spPr>
          </p:pic>
        </mc:Fallback>
      </mc:AlternateContent>
      <p:pic>
        <p:nvPicPr>
          <p:cNvPr id="275" name="Picture 274">
            <a:extLst>
              <a:ext uri="{FF2B5EF4-FFF2-40B4-BE49-F238E27FC236}">
                <a16:creationId xmlns:a16="http://schemas.microsoft.com/office/drawing/2014/main" id="{482CD4F8-2AD3-C9BD-C16E-13D2E3C642E8}"/>
              </a:ext>
            </a:extLst>
          </p:cNvPr>
          <p:cNvPicPr>
            <a:picLocks noChangeAspect="1"/>
          </p:cNvPicPr>
          <p:nvPr/>
        </p:nvPicPr>
        <p:blipFill>
          <a:blip r:embed="rId55"/>
          <a:srcRect b="79532"/>
          <a:stretch>
            <a:fillRect/>
          </a:stretch>
        </p:blipFill>
        <p:spPr>
          <a:xfrm>
            <a:off x="6605638" y="24862"/>
            <a:ext cx="1424669" cy="19152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D91A26D5-0FAB-AEC5-F5F1-D53717BC28F5}"/>
                  </a:ext>
                </a:extLst>
              </p14:cNvPr>
              <p14:cNvContentPartPr/>
              <p14:nvPr/>
            </p14:nvContentPartPr>
            <p14:xfrm>
              <a:off x="3897810" y="969090"/>
              <a:ext cx="898200" cy="252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D91A26D5-0FAB-AEC5-F5F1-D53717BC28F5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3879810" y="933090"/>
                <a:ext cx="9338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A6B39336-B29C-20EB-1392-1B40DA4B9E8B}"/>
                  </a:ext>
                </a:extLst>
              </p14:cNvPr>
              <p14:cNvContentPartPr/>
              <p14:nvPr/>
            </p14:nvContentPartPr>
            <p14:xfrm>
              <a:off x="3538530" y="1040370"/>
              <a:ext cx="802440" cy="612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A6B39336-B29C-20EB-1392-1B40DA4B9E8B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3520530" y="1004370"/>
                <a:ext cx="83808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F730F416-7ACE-91AC-FA9E-84C7658ADD37}"/>
                  </a:ext>
                </a:extLst>
              </p14:cNvPr>
              <p14:cNvContentPartPr/>
              <p14:nvPr/>
            </p14:nvContentPartPr>
            <p14:xfrm>
              <a:off x="3795570" y="1112010"/>
              <a:ext cx="352440" cy="504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F730F416-7ACE-91AC-FA9E-84C7658ADD37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3777570" y="1076010"/>
                <a:ext cx="3880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494C44C1-44D4-615C-4406-0AF5C5738532}"/>
                  </a:ext>
                </a:extLst>
              </p14:cNvPr>
              <p14:cNvContentPartPr/>
              <p14:nvPr/>
            </p14:nvContentPartPr>
            <p14:xfrm>
              <a:off x="4000410" y="1473810"/>
              <a:ext cx="111960" cy="504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494C44C1-44D4-615C-4406-0AF5C5738532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3982410" y="1438170"/>
                <a:ext cx="1476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2BD7CC3A-0460-7FBB-DAE1-F7AE4FACF655}"/>
                  </a:ext>
                </a:extLst>
              </p14:cNvPr>
              <p14:cNvContentPartPr/>
              <p14:nvPr/>
            </p14:nvContentPartPr>
            <p14:xfrm>
              <a:off x="4379130" y="1737870"/>
              <a:ext cx="375480" cy="4716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2BD7CC3A-0460-7FBB-DAE1-F7AE4FACF655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4361130" y="1701870"/>
                <a:ext cx="41112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94E65F8A-75E3-367C-CEA0-2C33F4C00352}"/>
                  </a:ext>
                </a:extLst>
              </p14:cNvPr>
              <p14:cNvContentPartPr/>
              <p14:nvPr/>
            </p14:nvContentPartPr>
            <p14:xfrm>
              <a:off x="4231890" y="2080950"/>
              <a:ext cx="99000" cy="6948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94E65F8A-75E3-367C-CEA0-2C33F4C00352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4214250" y="2044950"/>
                <a:ext cx="1346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910803FE-9438-BDB6-C39C-0F6E63D2F1B6}"/>
                  </a:ext>
                </a:extLst>
              </p14:cNvPr>
              <p14:cNvContentPartPr/>
              <p14:nvPr/>
            </p14:nvContentPartPr>
            <p14:xfrm>
              <a:off x="3557250" y="2447880"/>
              <a:ext cx="1076760" cy="900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910803FE-9438-BDB6-C39C-0F6E63D2F1B6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3539610" y="2411880"/>
                <a:ext cx="111240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BBA1A4E7-5E1C-5536-0C27-228016539F51}"/>
                  </a:ext>
                </a:extLst>
              </p14:cNvPr>
              <p14:cNvContentPartPr/>
              <p14:nvPr/>
            </p14:nvContentPartPr>
            <p14:xfrm>
              <a:off x="3781170" y="2709600"/>
              <a:ext cx="816840" cy="1044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BBA1A4E7-5E1C-5536-0C27-228016539F51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3763530" y="2673960"/>
                <a:ext cx="8524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2E5C0576-B011-F26B-5EE9-93D037ED01CE}"/>
                  </a:ext>
                </a:extLst>
              </p14:cNvPr>
              <p14:cNvContentPartPr/>
              <p14:nvPr/>
            </p14:nvContentPartPr>
            <p14:xfrm>
              <a:off x="3712050" y="2723280"/>
              <a:ext cx="888480" cy="4392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2E5C0576-B011-F26B-5EE9-93D037ED01CE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3694410" y="2687280"/>
                <a:ext cx="9241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23F05526-D402-C6D7-31BF-98846A39FA31}"/>
                  </a:ext>
                </a:extLst>
              </p14:cNvPr>
              <p14:cNvContentPartPr/>
              <p14:nvPr/>
            </p14:nvContentPartPr>
            <p14:xfrm>
              <a:off x="3555090" y="3076440"/>
              <a:ext cx="1165320" cy="1692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23F05526-D402-C6D7-31BF-98846A39FA31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3537090" y="3040440"/>
                <a:ext cx="12009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6079D006-8D8E-F0C2-926A-FF0FC314474C}"/>
                  </a:ext>
                </a:extLst>
              </p14:cNvPr>
              <p14:cNvContentPartPr/>
              <p14:nvPr/>
            </p14:nvContentPartPr>
            <p14:xfrm>
              <a:off x="4640850" y="3066720"/>
              <a:ext cx="38160" cy="50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6079D006-8D8E-F0C2-926A-FF0FC314474C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4623210" y="3031080"/>
                <a:ext cx="738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E95CBE90-5300-E6E3-2952-86E5A1717953}"/>
                  </a:ext>
                </a:extLst>
              </p14:cNvPr>
              <p14:cNvContentPartPr/>
              <p14:nvPr/>
            </p14:nvContentPartPr>
            <p14:xfrm>
              <a:off x="3545370" y="3683760"/>
              <a:ext cx="1114920" cy="3348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E95CBE90-5300-E6E3-2952-86E5A1717953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3527370" y="3647760"/>
                <a:ext cx="115056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A8CAC301-882D-1334-FDEC-42C425CE71D2}"/>
                  </a:ext>
                </a:extLst>
              </p14:cNvPr>
              <p14:cNvContentPartPr/>
              <p14:nvPr/>
            </p14:nvContentPartPr>
            <p14:xfrm>
              <a:off x="3562290" y="3912270"/>
              <a:ext cx="269640" cy="72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A8CAC301-882D-1334-FDEC-42C425CE71D2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3544290" y="3840270"/>
                <a:ext cx="3052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D1488C3D-8422-5049-60E2-5E7E94BA51F3}"/>
                  </a:ext>
                </a:extLst>
              </p14:cNvPr>
              <p14:cNvContentPartPr/>
              <p14:nvPr/>
            </p14:nvContentPartPr>
            <p14:xfrm>
              <a:off x="4174290" y="3914790"/>
              <a:ext cx="659520" cy="1656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D1488C3D-8422-5049-60E2-5E7E94BA51F3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4156290" y="3879150"/>
                <a:ext cx="69516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3757710B-E102-9FA2-221C-29093668F4C2}"/>
                  </a:ext>
                </a:extLst>
              </p14:cNvPr>
              <p14:cNvContentPartPr/>
              <p14:nvPr/>
            </p14:nvContentPartPr>
            <p14:xfrm>
              <a:off x="3547890" y="4002630"/>
              <a:ext cx="278640" cy="1116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3757710B-E102-9FA2-221C-29093668F4C2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3530250" y="3966990"/>
                <a:ext cx="31428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1E4D779B-01EF-E9B7-F674-18C861D11983}"/>
                  </a:ext>
                </a:extLst>
              </p14:cNvPr>
              <p14:cNvContentPartPr/>
              <p14:nvPr/>
            </p14:nvContentPartPr>
            <p14:xfrm>
              <a:off x="3545370" y="4483680"/>
              <a:ext cx="852480" cy="3384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1E4D779B-01EF-E9B7-F674-18C861D11983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3527730" y="4448040"/>
                <a:ext cx="88812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2A46281C-A0A2-6A33-FD15-9A3CA4E040DF}"/>
                  </a:ext>
                </a:extLst>
              </p14:cNvPr>
              <p14:cNvContentPartPr/>
              <p14:nvPr/>
            </p14:nvContentPartPr>
            <p14:xfrm>
              <a:off x="4122810" y="4604640"/>
              <a:ext cx="94320" cy="180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2A46281C-A0A2-6A33-FD15-9A3CA4E040DF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4105170" y="4568640"/>
                <a:ext cx="12996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6D3E4836-AB46-EB8C-03BB-BD00DD9E8321}"/>
                  </a:ext>
                </a:extLst>
              </p14:cNvPr>
              <p14:cNvContentPartPr/>
              <p14:nvPr/>
            </p14:nvContentPartPr>
            <p14:xfrm>
              <a:off x="4602690" y="4505280"/>
              <a:ext cx="176400" cy="972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6D3E4836-AB46-EB8C-03BB-BD00DD9E8321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4585050" y="4469280"/>
                <a:ext cx="2120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5EDB90FF-539F-FC20-789A-A5E995518051}"/>
                  </a:ext>
                </a:extLst>
              </p14:cNvPr>
              <p14:cNvContentPartPr/>
              <p14:nvPr/>
            </p14:nvContentPartPr>
            <p14:xfrm>
              <a:off x="3588210" y="4567200"/>
              <a:ext cx="390600" cy="1980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5EDB90FF-539F-FC20-789A-A5E995518051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3570570" y="4531200"/>
                <a:ext cx="4262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5F9806EA-F24C-19BD-5EB4-721543AAA840}"/>
                  </a:ext>
                </a:extLst>
              </p14:cNvPr>
              <p14:cNvContentPartPr/>
              <p14:nvPr/>
            </p14:nvContentPartPr>
            <p14:xfrm>
              <a:off x="3552570" y="5340930"/>
              <a:ext cx="783360" cy="756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5F9806EA-F24C-19BD-5EB4-721543AAA840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3534930" y="5305290"/>
                <a:ext cx="81900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347EED4C-B485-DFA9-EA46-D94FF069486E}"/>
                  </a:ext>
                </a:extLst>
              </p14:cNvPr>
              <p14:cNvContentPartPr/>
              <p14:nvPr/>
            </p14:nvContentPartPr>
            <p14:xfrm>
              <a:off x="3569490" y="5869500"/>
              <a:ext cx="733320" cy="1008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347EED4C-B485-DFA9-EA46-D94FF069486E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3551490" y="5833860"/>
                <a:ext cx="7689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B7E2F8A8-9C16-37B8-23DE-35777E275A2D}"/>
                  </a:ext>
                </a:extLst>
              </p14:cNvPr>
              <p14:cNvContentPartPr/>
              <p14:nvPr/>
            </p14:nvContentPartPr>
            <p14:xfrm>
              <a:off x="4514850" y="5879220"/>
              <a:ext cx="9000" cy="36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B7E2F8A8-9C16-37B8-23DE-35777E275A2D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4496850" y="5843220"/>
                <a:ext cx="446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13A752DD-EF5B-7A45-4EB5-34DDD0DA41A2}"/>
                  </a:ext>
                </a:extLst>
              </p14:cNvPr>
              <p14:cNvContentPartPr/>
              <p14:nvPr/>
            </p14:nvContentPartPr>
            <p14:xfrm>
              <a:off x="4264650" y="5876700"/>
              <a:ext cx="231120" cy="288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13A752DD-EF5B-7A45-4EB5-34DDD0DA41A2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4247010" y="5841060"/>
                <a:ext cx="2667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FB79C94B-AB0A-04D7-275F-EC93B2906ABC}"/>
                  </a:ext>
                </a:extLst>
              </p14:cNvPr>
              <p14:cNvContentPartPr/>
              <p14:nvPr/>
            </p14:nvContentPartPr>
            <p14:xfrm>
              <a:off x="3578850" y="6305460"/>
              <a:ext cx="762120" cy="1008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FB79C94B-AB0A-04D7-275F-EC93B2906ABC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3561210" y="6269460"/>
                <a:ext cx="7977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E315FF01-54AB-3276-4165-FA1E2B5EF930}"/>
                  </a:ext>
                </a:extLst>
              </p14:cNvPr>
              <p14:cNvContentPartPr/>
              <p14:nvPr/>
            </p14:nvContentPartPr>
            <p14:xfrm>
              <a:off x="5538690" y="164130"/>
              <a:ext cx="1002600" cy="1980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E315FF01-54AB-3276-4165-FA1E2B5EF930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5520690" y="128130"/>
                <a:ext cx="10382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9324B15D-B8F1-AAD1-FB47-1ADF0EF72F81}"/>
                  </a:ext>
                </a:extLst>
              </p14:cNvPr>
              <p14:cNvContentPartPr/>
              <p14:nvPr/>
            </p14:nvContentPartPr>
            <p14:xfrm>
              <a:off x="4976730" y="258450"/>
              <a:ext cx="766800" cy="828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9324B15D-B8F1-AAD1-FB47-1ADF0EF72F81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4958730" y="222810"/>
                <a:ext cx="80244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3F804E71-BEEF-B2B5-13B6-C19FBBE71969}"/>
                  </a:ext>
                </a:extLst>
              </p14:cNvPr>
              <p14:cNvContentPartPr/>
              <p14:nvPr/>
            </p14:nvContentPartPr>
            <p14:xfrm>
              <a:off x="4986090" y="691890"/>
              <a:ext cx="809640" cy="2268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3F804E71-BEEF-B2B5-13B6-C19FBBE71969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4968450" y="656250"/>
                <a:ext cx="8452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B3D591F8-04A6-8AED-64D8-0C2B84AF84D9}"/>
                  </a:ext>
                </a:extLst>
              </p14:cNvPr>
              <p14:cNvContentPartPr/>
              <p14:nvPr/>
            </p14:nvContentPartPr>
            <p14:xfrm>
              <a:off x="4969530" y="1357080"/>
              <a:ext cx="1555200" cy="2448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B3D591F8-04A6-8AED-64D8-0C2B84AF84D9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4951530" y="1321440"/>
                <a:ext cx="15908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16942EDC-5BBC-6B0D-9C92-4661F56EE93B}"/>
                  </a:ext>
                </a:extLst>
              </p14:cNvPr>
              <p14:cNvContentPartPr/>
              <p14:nvPr/>
            </p14:nvContentPartPr>
            <p14:xfrm>
              <a:off x="5422050" y="1982580"/>
              <a:ext cx="874080" cy="2988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16942EDC-5BBC-6B0D-9C92-4661F56EE93B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5404050" y="1946580"/>
                <a:ext cx="90972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F6AAB67A-4745-9920-8BB6-9AF4FFA83C07}"/>
                  </a:ext>
                </a:extLst>
              </p14:cNvPr>
              <p14:cNvContentPartPr/>
              <p14:nvPr/>
            </p14:nvContentPartPr>
            <p14:xfrm>
              <a:off x="5307570" y="2276610"/>
              <a:ext cx="1135800" cy="1764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F6AAB67A-4745-9920-8BB6-9AF4FFA83C07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5289930" y="2240610"/>
                <a:ext cx="117144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B4AB840A-32F1-B42F-1479-811F460D17B3}"/>
                  </a:ext>
                </a:extLst>
              </p14:cNvPr>
              <p14:cNvContentPartPr/>
              <p14:nvPr/>
            </p14:nvContentPartPr>
            <p14:xfrm>
              <a:off x="5014890" y="2369130"/>
              <a:ext cx="319320" cy="288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B4AB840A-32F1-B42F-1479-811F460D17B3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4996890" y="2333490"/>
                <a:ext cx="3549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FD2F3285-DA41-40C4-DDE9-C7674F37E392}"/>
                  </a:ext>
                </a:extLst>
              </p14:cNvPr>
              <p14:cNvContentPartPr/>
              <p14:nvPr/>
            </p14:nvContentPartPr>
            <p14:xfrm>
              <a:off x="8355739" y="39260"/>
              <a:ext cx="838800" cy="1908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FD2F3285-DA41-40C4-DDE9-C7674F37E392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8337739" y="3260"/>
                <a:ext cx="87444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1EBAE946-3FDE-2CB8-DFD2-F4540D862B17}"/>
                  </a:ext>
                </a:extLst>
              </p14:cNvPr>
              <p14:cNvContentPartPr/>
              <p14:nvPr/>
            </p14:nvContentPartPr>
            <p14:xfrm>
              <a:off x="8784082" y="145071"/>
              <a:ext cx="333360" cy="1044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1EBAE946-3FDE-2CB8-DFD2-F4540D862B17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8766442" y="109071"/>
                <a:ext cx="3690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8418C3FF-4877-E086-1595-EDDB7B875CBB}"/>
                  </a:ext>
                </a:extLst>
              </p14:cNvPr>
              <p14:cNvContentPartPr/>
              <p14:nvPr/>
            </p14:nvContentPartPr>
            <p14:xfrm>
              <a:off x="8350976" y="833306"/>
              <a:ext cx="567360" cy="1188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8418C3FF-4877-E086-1595-EDDB7B875CBB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8332976" y="797306"/>
                <a:ext cx="6030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4F241578-5CB3-984A-6EA7-4539445BE716}"/>
                  </a:ext>
                </a:extLst>
              </p14:cNvPr>
              <p14:cNvContentPartPr/>
              <p14:nvPr/>
            </p14:nvContentPartPr>
            <p14:xfrm>
              <a:off x="8331896" y="1045346"/>
              <a:ext cx="114480" cy="36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4F241578-5CB3-984A-6EA7-4539445BE716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8313896" y="1009346"/>
                <a:ext cx="150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788E0A5C-70F6-013B-0A62-1C9892A18F01}"/>
                  </a:ext>
                </a:extLst>
              </p14:cNvPr>
              <p14:cNvContentPartPr/>
              <p14:nvPr/>
            </p14:nvContentPartPr>
            <p14:xfrm>
              <a:off x="8360336" y="1109876"/>
              <a:ext cx="254880" cy="720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788E0A5C-70F6-013B-0A62-1C9892A18F01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8342696" y="1073876"/>
                <a:ext cx="2905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A0F5A6C3-94B7-C265-BE9D-3EFBDD09D9C6}"/>
                  </a:ext>
                </a:extLst>
              </p14:cNvPr>
              <p14:cNvContentPartPr/>
              <p14:nvPr/>
            </p14:nvContentPartPr>
            <p14:xfrm>
              <a:off x="8279336" y="2007086"/>
              <a:ext cx="275400" cy="36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A0F5A6C3-94B7-C265-BE9D-3EFBDD09D9C6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8261696" y="1971446"/>
                <a:ext cx="3110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549CED0D-6A33-4B22-DBFF-2D7BAD0834DD}"/>
                  </a:ext>
                </a:extLst>
              </p14:cNvPr>
              <p14:cNvContentPartPr/>
              <p14:nvPr/>
            </p14:nvContentPartPr>
            <p14:xfrm>
              <a:off x="9212816" y="2016806"/>
              <a:ext cx="212040" cy="252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549CED0D-6A33-4B22-DBFF-2D7BAD0834DD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9195176" y="1980806"/>
                <a:ext cx="24768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F6C92356-B976-975D-6116-D22FD7C81458}"/>
                  </a:ext>
                </a:extLst>
              </p14:cNvPr>
              <p14:cNvContentPartPr/>
              <p14:nvPr/>
            </p14:nvContentPartPr>
            <p14:xfrm>
              <a:off x="8384096" y="2099606"/>
              <a:ext cx="369360" cy="540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F6C92356-B976-975D-6116-D22FD7C81458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8366456" y="2063966"/>
                <a:ext cx="4050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B61C9BC8-7B1E-A84F-6603-E7F944F7E014}"/>
                  </a:ext>
                </a:extLst>
              </p14:cNvPr>
              <p14:cNvContentPartPr/>
              <p14:nvPr/>
            </p14:nvContentPartPr>
            <p14:xfrm>
              <a:off x="8174576" y="2231006"/>
              <a:ext cx="297720" cy="756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B61C9BC8-7B1E-A84F-6603-E7F944F7E014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8156936" y="2195366"/>
                <a:ext cx="3333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E7A797F3-7698-E749-7AD7-A992ADA2457D}"/>
                  </a:ext>
                </a:extLst>
              </p14:cNvPr>
              <p14:cNvContentPartPr/>
              <p14:nvPr/>
            </p14:nvContentPartPr>
            <p14:xfrm>
              <a:off x="8822216" y="2883686"/>
              <a:ext cx="545400" cy="1224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E7A797F3-7698-E749-7AD7-A992ADA2457D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8804576" y="2847686"/>
                <a:ext cx="58104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43A69BE7-F830-F0EA-30EA-9908CE79079A}"/>
                  </a:ext>
                </a:extLst>
              </p14:cNvPr>
              <p14:cNvContentPartPr/>
              <p14:nvPr/>
            </p14:nvContentPartPr>
            <p14:xfrm>
              <a:off x="8488856" y="2952446"/>
              <a:ext cx="839160" cy="2700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43A69BE7-F830-F0EA-30EA-9908CE79079A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8471216" y="2916806"/>
                <a:ext cx="8748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4276EC64-98A4-CE03-4F64-7235F1FEFF23}"/>
                  </a:ext>
                </a:extLst>
              </p14:cNvPr>
              <p14:cNvContentPartPr/>
              <p14:nvPr/>
            </p14:nvContentPartPr>
            <p14:xfrm>
              <a:off x="8127056" y="3278966"/>
              <a:ext cx="714600" cy="2880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4276EC64-98A4-CE03-4F64-7235F1FEFF23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8109056" y="3242966"/>
                <a:ext cx="750240" cy="10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5483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B41027-78C1-B669-66D9-8E32A297D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095318"/>
              </p:ext>
            </p:extLst>
          </p:nvPr>
        </p:nvGraphicFramePr>
        <p:xfrm>
          <a:off x="1" y="9522"/>
          <a:ext cx="3513535" cy="55889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8906">
                  <a:extLst>
                    <a:ext uri="{9D8B030D-6E8A-4147-A177-3AD203B41FA5}">
                      <a16:colId xmlns:a16="http://schemas.microsoft.com/office/drawing/2014/main" val="638238951"/>
                    </a:ext>
                  </a:extLst>
                </a:gridCol>
                <a:gridCol w="2325766">
                  <a:extLst>
                    <a:ext uri="{9D8B030D-6E8A-4147-A177-3AD203B41FA5}">
                      <a16:colId xmlns:a16="http://schemas.microsoft.com/office/drawing/2014/main" val="3697114364"/>
                    </a:ext>
                  </a:extLst>
                </a:gridCol>
                <a:gridCol w="498863">
                  <a:extLst>
                    <a:ext uri="{9D8B030D-6E8A-4147-A177-3AD203B41FA5}">
                      <a16:colId xmlns:a16="http://schemas.microsoft.com/office/drawing/2014/main" val="3057219723"/>
                    </a:ext>
                  </a:extLst>
                </a:gridCol>
              </a:tblGrid>
              <a:tr h="108708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Statistics 2026</a:t>
                      </a:r>
                      <a:endParaRPr lang="de-DE" sz="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418546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Befehl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Beschreibung</a:t>
                      </a:r>
                      <a:endParaRPr lang="de-DE" sz="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Gruppe</a:t>
                      </a:r>
                      <a:endParaRPr lang="de-DE" sz="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442407"/>
                  </a:ext>
                </a:extLst>
              </a:tr>
              <a:tr h="1141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set.seed(n)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Legt den Startwert für den Zufallsgenerator fest, damit Ergebnisse reproduzierbar sind.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>
                          <a:effectLst/>
                        </a:rPr>
                        <a:t>Objects, Assignment, and Basic Arithmetic</a:t>
                      </a:r>
                      <a:endParaRPr lang="en-GB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12588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a %/% b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quotient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544717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a %% b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remainer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114415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a^b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>
                          <a:effectLst/>
                        </a:rPr>
                        <a:t>a to the power of b</a:t>
                      </a:r>
                      <a:endParaRPr lang="en-GB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455682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floor(x)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rundet das Ergebnis auf die nächstkleinere ganze Zahl ab.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387352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rm()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delete b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914678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seq(0,1,0.01)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erzeugt eine Zahlenfolge von 0 bis 1 in Schritten von 0,01.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531568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max()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gibt den größten Wert eines numerischen Vektors oder Objekts zurück (optional unter Ignorieren von NA).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076764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mean()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mean / Durchschnitt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403278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sqrt()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berechnet die Quadratwurzel der übergebenen Zahl(en).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632869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abs()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berechnet den Absolutbetrag einer Zahl bzw. eines numerischen Vektors. (Abstand zur 0)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273392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%&gt;%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Pipeline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952320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as.Date(df$MESS_DATUM)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wandelt die Spalte MESS_DATUM aus dem Data Frame df in ein Date-Objekt um.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72505"/>
                  </a:ext>
                </a:extLst>
              </a:tr>
              <a:tr h="1010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sum()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berechnet die Summe aller Elemente eines numerischen Vektors oder Objekts (optional ohne NA).</a:t>
                      </a:r>
                      <a:endParaRPr lang="de-DE" sz="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681741"/>
                  </a:ext>
                </a:extLst>
              </a:tr>
              <a:tr h="1195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count(wet)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zählt, wie oft jeder unterschiedliche Wert in der Variable wet vorkommt, und gibt die Häufigkeiten aus.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663238"/>
                  </a:ext>
                </a:extLst>
              </a:tr>
              <a:tr h="2174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mean(x%%3==0 | x%%5==0)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Berechnet den Anteil (relative Häufigkeit) der Elemente in x, die durch 3 oder 5 teilbar sind da TRUE als 1 und FALSE als 0 gemittelt wird.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1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Vectors and Vectorized Operations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561645"/>
                  </a:ext>
                </a:extLst>
              </a:tr>
              <a:tr h="2174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mean(A &amp; C)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berechnet den Anteil der Elemente, bei denen sowohl A als auch C TRUE sind — also die gemeinsame Wahrscheinlichkeit (Schnittmenge) beider Bedingungen.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864160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var()</a:t>
                      </a:r>
                      <a:endParaRPr lang="de-DE" sz="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variation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947882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sd()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standard deviation / Standartabweichung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449002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iseven &lt;- x %% 2 == 0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logical Vector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05746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identical(x, y)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Prüft, ob zwei Objekte vollständig identisch sind (Werte, Typen, Länge etc.).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698894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>
                          <a:effectLst/>
                        </a:rPr>
                        <a:t>list(poly = poly, stats = stats)</a:t>
                      </a:r>
                      <a:endParaRPr lang="en-GB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list of contents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030450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y[2:4]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Select elements 2 through 4 of a vector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841976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y[-1]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>
                          <a:effectLst/>
                        </a:rPr>
                        <a:t>Exclude element 1 of a vector</a:t>
                      </a:r>
                      <a:endParaRPr lang="en-GB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242176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y + c(1, 2)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Add the vector c(1,2) to y (gets repeated to the number of digits needed for sum)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04281"/>
                  </a:ext>
                </a:extLst>
              </a:tr>
              <a:tr h="1930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any()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prüft, ob mindestens ein Element in einem logischen Vektor TRUE ist, und gibt entsprechend TRUE oder FALSE zurück.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646534"/>
                  </a:ext>
                </a:extLst>
              </a:tr>
              <a:tr h="1930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duplicated(v)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gibt für jedes Element in v TRUE zurück, wenn es schon früher im Vektor vorkam, also ein Duplikat ist, sonst FALSE.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887159"/>
                  </a:ext>
                </a:extLst>
              </a:tr>
              <a:tr h="1032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sort()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ordnet die Elemente eines Vektors standardmäßig aufsteigend (optional auch absteigend).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077081"/>
                  </a:ext>
                </a:extLst>
              </a:tr>
              <a:tr h="1032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which.max()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liefert den Index des größten Werts im Vektor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320619"/>
                  </a:ext>
                </a:extLst>
              </a:tr>
              <a:tr h="1032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median()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berechnet den Median, also den mittleren Wert eines numerischen Vektors.</a:t>
                      </a:r>
                      <a:endParaRPr lang="de-DE" sz="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801250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factor(other)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converts vector in factors (same elements get the same number)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Factors and Tables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306799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table(other)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frequency table (insert factors)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769441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prop.table(other, modifyer)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proportion table (modifier = 1 -&gt; row-wise ; modifier = 2 -&gt; column-wise) (insert counts)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0729"/>
                  </a:ext>
                </a:extLst>
              </a:tr>
              <a:tr h="1930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>
                          <a:effectLst/>
                        </a:rPr>
                        <a:t> matrix(1:9, nrow = 3, byrow = TRUE)</a:t>
                      </a:r>
                      <a:endParaRPr lang="en-GB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Creates a 3×3 matrix M filled by rows with the numbers 1 to 9.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Matrices and Matrix Algebra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292746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t(M)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gegenmatrix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750469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M %*% t(M)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matrix multiplication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646557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cbind(o1,o2)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fügt die Objekte o1 und o2 spaltenweise zu einer Matrix oder einem Data Frame zusammen.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100441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rowSums(M)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berechnet die Summe der Werte jeder Zeile der Matrix oder des Data Frames M.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191191"/>
                  </a:ext>
                </a:extLst>
              </a:tr>
              <a:tr h="2174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cbind()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fügt mehrere Vektoren, Matrizen oder Data Frames spaltenweise zusammen und erstellt daraus eine Matrix oder einen Data Frame.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358742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M[, 2]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Extract the second column of matrix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763748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M[Row,Column]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Select one entry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444113"/>
                  </a:ext>
                </a:extLst>
              </a:tr>
              <a:tr h="2174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sweep()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wendet eine Operation (z. B. +, −, , /) zeilen- oder spaltenweise auf ein Array/Matrix an, meist zum Addieren, Subtrahieren, Multiplizieren oder Dividieren mit einem Vektor.</a:t>
                      </a:r>
                      <a:endParaRPr lang="de-DE" sz="4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975388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nrow()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gibt die Anzahl der Zeilen eines Data Frames oder einer Matrix zurück.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9416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575D88-242F-2399-0D08-5E7147E74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252597"/>
              </p:ext>
            </p:extLst>
          </p:nvPr>
        </p:nvGraphicFramePr>
        <p:xfrm>
          <a:off x="3513535" y="9521"/>
          <a:ext cx="3343275" cy="57240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523">
                  <a:extLst>
                    <a:ext uri="{9D8B030D-6E8A-4147-A177-3AD203B41FA5}">
                      <a16:colId xmlns:a16="http://schemas.microsoft.com/office/drawing/2014/main" val="1503369820"/>
                    </a:ext>
                  </a:extLst>
                </a:gridCol>
                <a:gridCol w="2213063">
                  <a:extLst>
                    <a:ext uri="{9D8B030D-6E8A-4147-A177-3AD203B41FA5}">
                      <a16:colId xmlns:a16="http://schemas.microsoft.com/office/drawing/2014/main" val="566821590"/>
                    </a:ext>
                  </a:extLst>
                </a:gridCol>
                <a:gridCol w="474689">
                  <a:extLst>
                    <a:ext uri="{9D8B030D-6E8A-4147-A177-3AD203B41FA5}">
                      <a16:colId xmlns:a16="http://schemas.microsoft.com/office/drawing/2014/main" val="3563581044"/>
                    </a:ext>
                  </a:extLst>
                </a:gridCol>
              </a:tblGrid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rnorm(5)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5 normalverteilte zufällige Zahlen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Lists and Data Frames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608996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dnorm(x, mean, sd)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Liefert die theoretische Dichtefunktion der Normalverteilung N(mean, sd).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823086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 rep("MS", 5)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string 5 mal in vector speichern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265014"/>
                  </a:ext>
                </a:extLst>
              </a:tr>
              <a:tr h="2355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 err="1">
                          <a:effectLst/>
                        </a:rPr>
                        <a:t>data.frame</a:t>
                      </a:r>
                      <a:r>
                        <a:rPr lang="en-GB" sz="400" u="none" strike="noStrike" dirty="0">
                          <a:effectLst/>
                        </a:rPr>
                        <a:t>(x = x, initials = initials)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create a data frame (</a:t>
                      </a:r>
                      <a:r>
                        <a:rPr lang="en-GB" sz="400" u="none" strike="noStrike" dirty="0" err="1">
                          <a:effectLst/>
                        </a:rPr>
                        <a:t>normale</a:t>
                      </a:r>
                      <a:r>
                        <a:rPr lang="en-GB" sz="400" u="none" strike="noStrike" dirty="0">
                          <a:effectLst/>
                        </a:rPr>
                        <a:t> </a:t>
                      </a:r>
                      <a:r>
                        <a:rPr lang="en-GB" sz="400" u="none" strike="noStrike" dirty="0" err="1">
                          <a:effectLst/>
                        </a:rPr>
                        <a:t>Tabelle</a:t>
                      </a:r>
                      <a:r>
                        <a:rPr lang="en-GB" sz="400" u="none" strike="noStrike" dirty="0">
                          <a:effectLst/>
                        </a:rPr>
                        <a:t>) </a:t>
                      </a:r>
                      <a:r>
                        <a:rPr lang="en-GB" sz="400" u="none" strike="noStrike" dirty="0" err="1">
                          <a:effectLst/>
                        </a:rPr>
                        <a:t>data.frame</a:t>
                      </a:r>
                      <a:r>
                        <a:rPr lang="en-GB" sz="400" u="none" strike="noStrike" dirty="0">
                          <a:effectLst/>
                        </a:rPr>
                        <a:t>() requires columns (vectors) of the same length; matrices with different dimensions cannot be combined directly without reshaping.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730186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DF$x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Select elements from data frame (selects x from DF)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588905"/>
                  </a:ext>
                </a:extLst>
              </a:tr>
              <a:tr h="144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read.csv("path/to/your/file.csv", </a:t>
                      </a:r>
                      <a:r>
                        <a:rPr lang="en-GB" sz="400" u="none" strike="noStrike" dirty="0" err="1">
                          <a:effectLst/>
                        </a:rPr>
                        <a:t>sep</a:t>
                      </a:r>
                      <a:r>
                        <a:rPr lang="en-GB" sz="400" u="none" strike="noStrike" dirty="0">
                          <a:effectLst/>
                        </a:rPr>
                        <a:t> = ";")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Reading a CSV File with a Different Delimiter (standard is ",")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Reading/Writing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103791"/>
                  </a:ext>
                </a:extLst>
              </a:tr>
              <a:tr h="214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write.csv(df, "D:\\Bobdata.csv", row.names=FALSE)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Export a Data Frame to a CSV File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96522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fp &lt;- tempfile(fileext = ".csv")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create a temporary file to write the contents to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210404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 selectDWD()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filtert und wählt passende DWD-Datensätze bzw. Stationen anhand von Kriterien wie Parameter, Zeitraum oder Stations-ID aus.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716338"/>
                  </a:ext>
                </a:extLst>
              </a:tr>
              <a:tr h="144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dataDWD(meta, read = FALSE)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lädt die zu den Metadaten meta gehörenden DWD-Dateien herunter, ohne sie direkt einzulesen, und gibt stattdessen Dateipfade bzw. Dateiinformationen zurück.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565440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readDWD(file)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liest eine DWD-Datendatei aus einer lokalen Datei ein und gibt die enthaltenen Wetterdaten als Data Frame/Tibble zurück.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124961"/>
                  </a:ext>
                </a:extLst>
              </a:tr>
              <a:tr h="2173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plot(DF2$x, DF2$y, pch = 19, main = "Scatter with LS line", xlab = "x", ylab = "y")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create a simple plot with descriptions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Plotting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619258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>
                          <a:effectLst/>
                        </a:rPr>
                        <a:t>hist(x, breaks, freq, main)</a:t>
                      </a:r>
                      <a:endParaRPr lang="en-GB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erstellt ein Histogramm, das die Häufigkeitsverteilung von numerischen Daten grafisch darstellt.</a:t>
                      </a:r>
                      <a:endParaRPr lang="de-DE" sz="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58635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abline(lm(y ~ x, data = DF2))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fitted least‑squares line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146599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curve(expr, add = TRUE)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Zeichnet eine Funktion (z. B. Dichtekurve dnorm) in ein bestehendes Diagramm.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163388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par(mar = c(4,4,2,1))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legt die Plot-Ränder in R fest (unten, links, oben, rechts) in Zeilenbreite.</a:t>
                      </a:r>
                      <a:endParaRPr lang="de-DE" sz="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502466"/>
                  </a:ext>
                </a:extLst>
              </a:tr>
              <a:tr h="144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matplot()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stellt mehrere Spalten einer Matrix gleichzeitig in einem Diagramm dar, typischerweise als Linien oder Punkte.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147785"/>
                  </a:ext>
                </a:extLst>
              </a:tr>
              <a:tr h="289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ggplot(bwt, aes(x = bwt)) +   geom_histogram(binwidth = 100) +   ggtitle("Age with width = 100 and ggplot")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erstellt mit ggplot2 ein Histogramm der Variable bwt, verwendet Klassenbreite 100 und setzt den Titel des Diagramms auf „Age with width = 100 and ggplot“.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14647"/>
                  </a:ext>
                </a:extLst>
              </a:tr>
              <a:tr h="144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ggplot(bwt, aes(x = bwt)) + stat_ecdf()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erstellt mit ggplot2 die empirische Verteilungsfunktion (ECDF) der Variable bwt, also den Anteil der Beobachtungen ≤ einem gegebenen Wert.</a:t>
                      </a:r>
                      <a:endParaRPr lang="de-DE" sz="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115714"/>
                  </a:ext>
                </a:extLst>
              </a:tr>
              <a:tr h="2173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 err="1">
                          <a:effectLst/>
                        </a:rPr>
                        <a:t>ggplot</a:t>
                      </a:r>
                      <a:r>
                        <a:rPr lang="en-GB" sz="400" u="none" strike="noStrike" dirty="0">
                          <a:effectLst/>
                        </a:rPr>
                        <a:t>(</a:t>
                      </a:r>
                      <a:r>
                        <a:rPr lang="en-GB" sz="400" u="none" strike="noStrike" dirty="0" err="1">
                          <a:effectLst/>
                        </a:rPr>
                        <a:t>aes</a:t>
                      </a:r>
                      <a:r>
                        <a:rPr lang="en-GB" sz="400" u="none" strike="noStrike" dirty="0">
                          <a:effectLst/>
                        </a:rPr>
                        <a:t>(x = </a:t>
                      </a:r>
                      <a:r>
                        <a:rPr lang="en-GB" sz="400" u="none" strike="noStrike" dirty="0" err="1">
                          <a:effectLst/>
                        </a:rPr>
                        <a:t>t_mean</a:t>
                      </a:r>
                      <a:r>
                        <a:rPr lang="en-GB" sz="400" u="none" strike="noStrike" dirty="0">
                          <a:effectLst/>
                        </a:rPr>
                        <a:t>, colour = season))+</a:t>
                      </a:r>
                      <a:br>
                        <a:rPr lang="en-GB" sz="400" u="none" strike="noStrike" dirty="0">
                          <a:effectLst/>
                        </a:rPr>
                      </a:br>
                      <a:r>
                        <a:rPr lang="en-GB" sz="400" u="none" strike="noStrike" dirty="0">
                          <a:effectLst/>
                        </a:rPr>
                        <a:t>  stat_ecdf(na.rm = TRUE)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erstellt mit ggplot2 empirische Verteilungsfunktionen (ECDFs) der Variable t_mean, getrennt nach season, und ignoriert NA-Werte.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440141"/>
                  </a:ext>
                </a:extLst>
              </a:tr>
              <a:tr h="284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>
                          <a:effectLst/>
                        </a:rPr>
                        <a:t>ggplot(aes(x = t_mean, colour = season))+</a:t>
                      </a:r>
                      <a:br>
                        <a:rPr lang="en-GB" sz="400" u="none" strike="noStrike">
                          <a:effectLst/>
                        </a:rPr>
                      </a:br>
                      <a:r>
                        <a:rPr lang="en-GB" sz="400" u="none" strike="noStrike">
                          <a:effectLst/>
                        </a:rPr>
                        <a:t>  geom_boxplot(na.rm = TRUE)</a:t>
                      </a:r>
                      <a:endParaRPr lang="en-GB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erstellt mit ggplot2 Boxplots der Variable t_mean, getrennt nach season, und ignoriert NA-Werte.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Plotting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234312"/>
                  </a:ext>
                </a:extLst>
              </a:tr>
              <a:tr h="2173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>
                          <a:effectLst/>
                        </a:rPr>
                        <a:t>ggplot(aes(x = wet, colour = season))+</a:t>
                      </a:r>
                      <a:br>
                        <a:rPr lang="en-GB" sz="400" u="none" strike="noStrike">
                          <a:effectLst/>
                        </a:rPr>
                      </a:br>
                      <a:r>
                        <a:rPr lang="en-GB" sz="400" u="none" strike="noStrike">
                          <a:effectLst/>
                        </a:rPr>
                        <a:t>  geom_bar()</a:t>
                      </a:r>
                      <a:endParaRPr lang="en-GB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erstellt mit ggplot2 ein Balkendiagramm, das die Häufigkeiten der Werte von wet darstellt, farblich getrennt nach season.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59004"/>
                  </a:ext>
                </a:extLst>
              </a:tr>
              <a:tr h="7758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ggplot(diag_tbl, aes(x = .fitted, y = .resid)) +</a:t>
                      </a:r>
                      <a:br>
                        <a:rPr lang="de-DE" sz="400" u="none" strike="noStrike">
                          <a:effectLst/>
                        </a:rPr>
                      </a:br>
                      <a:r>
                        <a:rPr lang="de-DE" sz="400" u="none" strike="noStrike">
                          <a:effectLst/>
                        </a:rPr>
                        <a:t>  geom_point() +</a:t>
                      </a:r>
                      <a:br>
                        <a:rPr lang="de-DE" sz="400" u="none" strike="noStrike">
                          <a:effectLst/>
                        </a:rPr>
                      </a:br>
                      <a:r>
                        <a:rPr lang="de-DE" sz="400" u="none" strike="noStrike">
                          <a:effectLst/>
                        </a:rPr>
                        <a:t>  geom_hline(yintercept = 0, linetype = "dashed") +</a:t>
                      </a:r>
                      <a:br>
                        <a:rPr lang="de-DE" sz="400" u="none" strike="noStrike">
                          <a:effectLst/>
                        </a:rPr>
                      </a:br>
                      <a:r>
                        <a:rPr lang="de-DE" sz="400" u="none" strike="noStrike">
                          <a:effectLst/>
                        </a:rPr>
                        <a:t>  labs(</a:t>
                      </a:r>
                      <a:br>
                        <a:rPr lang="de-DE" sz="400" u="none" strike="noStrike">
                          <a:effectLst/>
                        </a:rPr>
                      </a:br>
                      <a:r>
                        <a:rPr lang="de-DE" sz="400" u="none" strike="noStrike">
                          <a:effectLst/>
                        </a:rPr>
                        <a:t>    title = "Residuals vs Fitted",</a:t>
                      </a:r>
                      <a:br>
                        <a:rPr lang="de-DE" sz="400" u="none" strike="noStrike">
                          <a:effectLst/>
                        </a:rPr>
                      </a:br>
                      <a:r>
                        <a:rPr lang="de-DE" sz="400" u="none" strike="noStrike">
                          <a:effectLst/>
                        </a:rPr>
                        <a:t>    x = "Fitted values",</a:t>
                      </a:r>
                      <a:br>
                        <a:rPr lang="de-DE" sz="400" u="none" strike="noStrike">
                          <a:effectLst/>
                        </a:rPr>
                      </a:br>
                      <a:r>
                        <a:rPr lang="de-DE" sz="400" u="none" strike="noStrike">
                          <a:effectLst/>
                        </a:rPr>
                        <a:t>    y = "Residuals"</a:t>
                      </a:r>
                      <a:br>
                        <a:rPr lang="de-DE" sz="400" u="none" strike="noStrike">
                          <a:effectLst/>
                        </a:rPr>
                      </a:br>
                      <a:r>
                        <a:rPr lang="de-DE" sz="400" u="none" strike="noStrike">
                          <a:effectLst/>
                        </a:rPr>
                        <a:t>  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erstellt ein Residuen-gegen-Vorhersage-Diagramm, um Muster, Heteroskedastizität oder Modellfehler im linearen Regressionsmodell zu erkennen.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820866"/>
                  </a:ext>
                </a:extLst>
              </a:tr>
              <a:tr h="144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400" u="none" strike="noStrike" dirty="0" err="1">
                          <a:effectLst/>
                        </a:rPr>
                        <a:t>z_score</a:t>
                      </a:r>
                      <a:r>
                        <a:rPr lang="fr-FR" sz="400" u="none" strike="noStrike" dirty="0">
                          <a:effectLst/>
                        </a:rPr>
                        <a:t> &lt;- </a:t>
                      </a:r>
                      <a:r>
                        <a:rPr lang="fr-FR" sz="400" u="none" strike="noStrike" dirty="0" err="1">
                          <a:effectLst/>
                        </a:rPr>
                        <a:t>function</a:t>
                      </a:r>
                      <a:r>
                        <a:rPr lang="fr-FR" sz="400" u="none" strike="noStrike" dirty="0">
                          <a:effectLst/>
                        </a:rPr>
                        <a:t>(x) </a:t>
                      </a:r>
                      <a:br>
                        <a:rPr lang="fr-FR" sz="400" u="none" strike="noStrike" dirty="0">
                          <a:effectLst/>
                        </a:rPr>
                      </a:br>
                      <a:r>
                        <a:rPr lang="fr-FR" sz="400" u="none" strike="noStrike" dirty="0">
                          <a:effectLst/>
                        </a:rPr>
                        <a:t>{ CODE }</a:t>
                      </a:r>
                      <a:endParaRPr lang="fr-FR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funktion mit x als attribut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Control Flow and Functions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546299"/>
                  </a:ext>
                </a:extLst>
              </a:tr>
              <a:tr h="144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replicate(n, expr)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führt den Ausdruck expr n-mal aus und speichert die Ergebnisse (meist in einem Vektor oder einer Matrix)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956405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which(pm &gt; 0.5)[1] 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 liefert den Index des ersten Elements im Vektor pm, das größer als 0.5 ist.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249594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length()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gibt die Anzahl der Elemente eines Vektors, einer Liste oder eines ähnlichen Objekts zurück.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028727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tail(pmf_hat, 1)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gibt das letzte Element des Vektors oder Data Frames pmf_hat zurück.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104901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seq_along(grid)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erzeugt eine Zahlenfolge von 1 bis zur Länge von grid, also die passenden Indizes für grid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731784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select(-eor)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entfernt die Spalte eor aus einem Data Frame (typischerweise mit dplyr::select).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Pipeline Functions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983750"/>
                  </a:ext>
                </a:extLst>
              </a:tr>
              <a:tr h="144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na.omit()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entfernt alle Zeilen, die mindestens einen NA-Wert enthalten, aus einem Objekt (z. B. Data Frame oder Vektor).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427694"/>
                  </a:ext>
                </a:extLst>
              </a:tr>
              <a:tr h="144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mutate()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fügt neue Spalten zu einem Data Frame hinzu oder verändert bestehende Spalten, meist auf Basis bereits vorhandener Variablen (aus dplyr).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213750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select()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wählt gezielt Spalten aus einem Data Frame aus oder schließt bestimmte Spalten aus (typischerweise aus dem Paket dplyr).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576517"/>
                  </a:ext>
                </a:extLst>
              </a:tr>
              <a:tr h="1304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filter()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wählt Zeilen aus einem Data Frame aus, die eine oder mehrere logische Bedingungen erfüllen (typischerweise aus dem Paket dplyr).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191859"/>
                  </a:ext>
                </a:extLst>
              </a:tr>
              <a:tr h="144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filter(!is.na(wet))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entfernt alle Zeilen, in denen die Variable wet den Wert NA hat, und behält nur vollständige Beobachtungen für wet.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23091"/>
                  </a:ext>
                </a:extLst>
              </a:tr>
              <a:tr h="144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case_when()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erstellt neue Variablen anhand mehrerer Wenn-Dann-Bedingungen und weist je nach erfüllter Bedingung entsprechende Werte zu (aus dplyr).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9141367"/>
                  </a:ext>
                </a:extLst>
              </a:tr>
              <a:tr h="144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as_tibble() 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wandelt ein Objekt (z. B. Data Frame oder Matrix) in ein Tibble um, eine moderne, übersichtlichere Form eines Data Frames (aus tibble).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644261"/>
                  </a:ext>
                </a:extLst>
              </a:tr>
              <a:tr h="144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summarise(across(everything(), ~sum(is.na(.))))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zählt für jede Spalte eines Data Frames die Anzahl der NA-Werte und gibt das Ergebnis als eine Zeile zurück.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8271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2591E3-3B19-3E13-6C27-78453260A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477332"/>
              </p:ext>
            </p:extLst>
          </p:nvPr>
        </p:nvGraphicFramePr>
        <p:xfrm>
          <a:off x="6856810" y="9521"/>
          <a:ext cx="3049190" cy="55990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7862">
                  <a:extLst>
                    <a:ext uri="{9D8B030D-6E8A-4147-A177-3AD203B41FA5}">
                      <a16:colId xmlns:a16="http://schemas.microsoft.com/office/drawing/2014/main" val="3566663410"/>
                    </a:ext>
                  </a:extLst>
                </a:gridCol>
                <a:gridCol w="2018395">
                  <a:extLst>
                    <a:ext uri="{9D8B030D-6E8A-4147-A177-3AD203B41FA5}">
                      <a16:colId xmlns:a16="http://schemas.microsoft.com/office/drawing/2014/main" val="1489198000"/>
                    </a:ext>
                  </a:extLst>
                </a:gridCol>
                <a:gridCol w="432933">
                  <a:extLst>
                    <a:ext uri="{9D8B030D-6E8A-4147-A177-3AD203B41FA5}">
                      <a16:colId xmlns:a16="http://schemas.microsoft.com/office/drawing/2014/main" val="2846029588"/>
                    </a:ext>
                  </a:extLst>
                </a:gridCol>
              </a:tblGrid>
              <a:tr h="94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apply()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Wendet eine Funktion auf Zeilen oder Spalten einer Matrix oder eines Dataframes an.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The apply Family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496146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lapply()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Wendet eine Funktion auf jedes Listenelement an und gibt eine Liste zurück.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83519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sapply()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Wie lapply(), versucht aber das Ergebnis in einen Vektor oder eine Matrix zu vereinfachen.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553051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vapply()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Wie sapply(), aber mit vordefiniertem Rückgabetyp (sicherer). 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439749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tapply()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Wendet eine Funktion auf Gruppen eines Vektors an, die durch einen Faktor definiert sind.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460946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mapply()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Wendet eine Funktion auf mehrere Vektoren oder Listen gleichzeitig an (mehrere Argumente).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99912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rapply()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Rekursive Variante von lapply() für verschachtelte Listen.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634221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eapply()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Wendet eine Funktion auf alle Objekte in einem Environment an.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835722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fit &lt;- lm(y ~ x)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Erstellt ein lineares Regressionsmodell (y abhängig von x).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>
                          <a:effectLst/>
                        </a:rPr>
                        <a:t> Simple Linear Models and Diagnostics</a:t>
                      </a:r>
                      <a:endParaRPr lang="en-GB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129351"/>
                  </a:ext>
                </a:extLst>
              </a:tr>
              <a:tr h="94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summary(fit)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Zeigt detaillierte Modellzusammenfassung (Koeffizienten, R², Standardfehler etc.).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175472"/>
                  </a:ext>
                </a:extLst>
              </a:tr>
              <a:tr h="1802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tidy(fit)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wandelt die Ergebnisse eines Modellobjekts (z. B. aus lm()) in eine übersichtliche Tabellenform um, mit Koeffizienten, Standardfehlern, t-Werten und p-Werten (aus dem Paket broom).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963510"/>
                  </a:ext>
                </a:extLst>
              </a:tr>
              <a:tr h="1802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glance(fit)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liefert eine kompakte Zusammenfassung des Modells (z. B. R², adj. R², AIC, BIC, Residualstandardfehler) in einer einzigen Tabellenzeile (aus broom).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743823"/>
                  </a:ext>
                </a:extLst>
              </a:tr>
              <a:tr h="1802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 augment(fit)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ergänzt die ursprünglichen Daten um modellbezogene Werte, z. B. Vorhersagen, Residuen und Hebelwerte, und gibt sie als Tabelle zurück (aus broom).</a:t>
                      </a:r>
                      <a:endParaRPr lang="de-DE" sz="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478829"/>
                  </a:ext>
                </a:extLst>
              </a:tr>
              <a:tr h="1802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p &lt;- c("1" = 1/2, "2" = 1/3, "3" = 1/6)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setzt die Wahrscheinlichkeiten für die Ereignisse {1}, {2} und {3}.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Probabilities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683698"/>
                  </a:ext>
                </a:extLst>
              </a:tr>
              <a:tr h="94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P_12 = sum(p[c("1","2")])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wählt die Wahrscheinlichkeiten für die Ereignisse {1} und {2} aus. | Ergibt also c(1/2, 1/3).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649190"/>
                  </a:ext>
                </a:extLst>
              </a:tr>
              <a:tr h="204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choose(deck,cards)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die Anzahl der möglichen Kombinationen, wenn man cards Karten ohne Zurücklegen und ohne Reihenfolge aus einem deck von 52 Karten zieht.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386329"/>
                  </a:ext>
                </a:extLst>
              </a:tr>
              <a:tr h="313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400" u="none" strike="noStrike">
                          <a:effectLst/>
                        </a:rPr>
                        <a:t>dhyper(x, m=8, n=12, k=5)</a:t>
                      </a:r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berechnet die Wahrscheinlichkeitsdichte der hypergeometrischen Verteilung – also die Wahrscheinlichkeit, genau k Erfolge zu ziehen, wenn man 5 Objekte ohne Zurücklegen aus einer Gesamtmenge von 20 (8 Erfolge, 12 Misserfolge) zieht.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236023"/>
                  </a:ext>
                </a:extLst>
              </a:tr>
              <a:tr h="1992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pnorm(2)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gibt die Wahrscheinlichkeit an, dass eine standardnormalverteilte Zufallsvariable kleiner oder gleich 2 ist (also P(X≤2)P(X \le 2)P(X≤2)).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408415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pnorm(6) - pnorm(2)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Zwischen 2 und 7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1103025"/>
                  </a:ext>
                </a:extLst>
              </a:tr>
              <a:tr h="1842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ecdf(x)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erstellt die empirische Verteilungsfunktion der Daten in x, also eine Funktion, die für jeden Wert den Anteil der Beobachtungen ≤ diesem Wert angibt.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117781"/>
                  </a:ext>
                </a:extLst>
              </a:tr>
              <a:tr h="179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>
                          <a:effectLst/>
                        </a:rPr>
                        <a:t>sample(1:100,N,  replace = TRUE)</a:t>
                      </a:r>
                      <a:endParaRPr lang="en-GB" sz="4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wählt zufällig N verschiedene Zahlen aus dem Bereich 1 bis 100 aus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Random Numbers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550606"/>
                  </a:ext>
                </a:extLst>
              </a:tr>
              <a:tr h="1992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400" u="none" strike="noStrike">
                          <a:effectLst/>
                        </a:rPr>
                        <a:t>sample(c("H","T"), 3*N, TRUE)</a:t>
                      </a:r>
                      <a:endParaRPr lang="pt-BR" sz="4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 erzeugt eine Zufallsauswahl aus "H" und "T" (z. B. Kopf oder Zahl) mit insgesamt 3 × N Ziehungen, mit Zurücklegen.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409626"/>
                  </a:ext>
                </a:extLst>
              </a:tr>
              <a:tr h="1992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 rgeom(n, prob = p)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erzeugt n Zufallswerte aus der geometrischen Verteilung mit Erfolgswahrscheinlichkeit p (Anzahl der Fehlversuche vor dem ersten Erfolg).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405986"/>
                  </a:ext>
                </a:extLst>
              </a:tr>
              <a:tr h="1992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rbinom 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erzeugt Zufallszahlen aus der Binomialverteilung, also die Anzahl der Erfolge in einer festen Anzahl von Versuchen mit gegebener Erfolgswahrscheinlichkeit.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91846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runif(N)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erzeugt N gleichverteilte Zufallszahlen im Intervall [0,1]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353170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rexp(n, lambda)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erzeugt n Zufallswerte aus der Exponentialverteilung mit Rateparameter lambda.</a:t>
                      </a:r>
                      <a:endParaRPr lang="de-DE" sz="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420074"/>
                  </a:ext>
                </a:extLst>
              </a:tr>
              <a:tr h="1992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summary(bwt$bwt)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gibt eine statistische Zusammenfassung der Variable bwt aus, also Minimum, 1. Quartil, Median, Mittelwert, 3. Quartil und Maximum.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Data distribution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52546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quantile(bwt$lwt, 0.75)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berechnet das 75%-Quantil (3. Quartil) der Variable lwt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310760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quantile(bwt$lwt, 0.25)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berechnet das 25%-Quantil (1. Quartil) der Variable lwt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491242"/>
                  </a:ext>
                </a:extLst>
              </a:tr>
              <a:tr h="1992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(quantile(bwt$lwt, 0.75) - quantile(bwt$lwt, 0.25)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Interquartile Range (IQR), also die Spannweite zwischen dem 3. und 1. Quartil.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236520"/>
                  </a:ext>
                </a:extLst>
              </a:tr>
              <a:tr h="2988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cor.test(test,test2)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führt einen statistischen Test auf Korrelation zwischen den beiden numerischen Vektoren test und test2 durch und liefert Korrelationskoeffizient, p-Wert und Konfidenzintervall. positives r → positiver Zusammenhang |r| klein (~0.2) → schwacher Zusammenhang</a:t>
                      </a:r>
                      <a:endParaRPr lang="de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539772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278600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517806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615378"/>
                  </a:ext>
                </a:extLst>
              </a:tr>
              <a:tr h="1949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curve(</a:t>
                      </a:r>
                      <a:r>
                        <a:rPr lang="en-GB" sz="4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dnorm</a:t>
                      </a:r>
                      <a:r>
                        <a:rPr lang="en-GB" sz="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(x, 0, 1), add = TRUE)</a:t>
                      </a:r>
                      <a:endParaRPr lang="en-GB" sz="4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533137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names(vals)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400" u="none" strike="noStrike" dirty="0">
                          <a:effectLst/>
                        </a:rPr>
                        <a:t>gets or sets the names of </a:t>
                      </a:r>
                      <a:r>
                        <a:rPr lang="en-GB" sz="400" u="none" strike="noStrike" dirty="0" err="1">
                          <a:effectLst/>
                        </a:rPr>
                        <a:t>vals</a:t>
                      </a:r>
                      <a:endParaRPr lang="en-GB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008629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DE" sz="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861743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400" u="none" strike="noStrike">
                          <a:effectLst/>
                        </a:rPr>
                        <a:t>👉 Wenn du einfach nur jede Zeile aufsummieren willst → rowSums()</a:t>
                      </a:r>
                      <a:endParaRPr lang="de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783506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DE" sz="400" u="none" strike="noStrike">
                          <a:effectLst/>
                        </a:rPr>
                        <a:t> </a:t>
                      </a:r>
                      <a:endParaRPr lang="en-DE" sz="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400" u="none" strike="noStrike" dirty="0">
                          <a:effectLst/>
                        </a:rPr>
                        <a:t>👉 Wenn du Zeilen nach Gruppen zusammenfassen willst → rowsum()</a:t>
                      </a:r>
                      <a:endParaRPr lang="de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E" sz="400" u="none" strike="noStrike" dirty="0">
                          <a:effectLst/>
                        </a:rPr>
                        <a:t> </a:t>
                      </a:r>
                      <a:endParaRPr lang="en-DE" sz="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49814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F83294-6BD7-D1AE-FE85-BCEDD1E820D9}"/>
              </a:ext>
            </a:extLst>
          </p:cNvPr>
          <p:cNvCxnSpPr>
            <a:cxnSpLocks/>
          </p:cNvCxnSpPr>
          <p:nvPr/>
        </p:nvCxnSpPr>
        <p:spPr>
          <a:xfrm>
            <a:off x="3513535" y="-123825"/>
            <a:ext cx="0" cy="5722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A26CF-5D17-9547-93C6-09CCEBE12136}"/>
              </a:ext>
            </a:extLst>
          </p:cNvPr>
          <p:cNvCxnSpPr>
            <a:cxnSpLocks/>
          </p:cNvCxnSpPr>
          <p:nvPr/>
        </p:nvCxnSpPr>
        <p:spPr>
          <a:xfrm>
            <a:off x="6856809" y="-66675"/>
            <a:ext cx="0" cy="56651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CF5EBD2-0B31-2701-78D4-66AE4094040E}"/>
              </a:ext>
            </a:extLst>
          </p:cNvPr>
          <p:cNvSpPr txBox="1"/>
          <p:nvPr/>
        </p:nvSpPr>
        <p:spPr>
          <a:xfrm>
            <a:off x="79865" y="5581640"/>
            <a:ext cx="5197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noProof="0" dirty="0"/>
              <a:t>Geometric(p)</a:t>
            </a:r>
            <a:br>
              <a:rPr lang="en-US" sz="400" noProof="0" dirty="0"/>
            </a:br>
            <a:endParaRPr lang="en-US" sz="4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34383-B218-9B32-A604-CF67BD16BAED}"/>
              </a:ext>
            </a:extLst>
          </p:cNvPr>
          <p:cNvSpPr txBox="1"/>
          <p:nvPr/>
        </p:nvSpPr>
        <p:spPr>
          <a:xfrm>
            <a:off x="-17004" y="5707165"/>
            <a:ext cx="7135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" noProof="0" dirty="0"/>
              <a:t>Models the </a:t>
            </a:r>
            <a:r>
              <a:rPr lang="en-US" sz="400" b="1" noProof="0" dirty="0"/>
              <a:t>number of failures before the first success</a:t>
            </a:r>
            <a:r>
              <a:rPr lang="en-US" sz="400" noProof="0" dirty="0"/>
              <a:t> in repeated Bernoulli trials. </a:t>
            </a:r>
            <a:br>
              <a:rPr lang="en-US" sz="400" noProof="0" dirty="0"/>
            </a:br>
            <a:r>
              <a:rPr lang="en-US" sz="400" noProof="0" dirty="0"/>
              <a:t>Example: Number of times a die shows a non-six </a:t>
            </a:r>
            <a:r>
              <a:rPr lang="en-US" sz="400" u="sng" noProof="0" dirty="0"/>
              <a:t>before</a:t>
            </a:r>
            <a:r>
              <a:rPr lang="en-US" sz="400" noProof="0" dirty="0"/>
              <a:t> the first six (p = 1 6 ).</a:t>
            </a:r>
          </a:p>
          <a:p>
            <a:pPr algn="just"/>
            <a:endParaRPr lang="en-US" sz="4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CF2CC-CADB-367B-162A-949CF909A719}"/>
              </a:ext>
            </a:extLst>
          </p:cNvPr>
          <p:cNvSpPr txBox="1"/>
          <p:nvPr/>
        </p:nvSpPr>
        <p:spPr>
          <a:xfrm>
            <a:off x="-85471" y="5630221"/>
            <a:ext cx="850442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b="1" noProof="0" dirty="0" err="1"/>
              <a:t>rgeom</a:t>
            </a:r>
            <a:r>
              <a:rPr lang="en-US" sz="400" b="1" noProof="0" dirty="0"/>
              <a:t>(N, prob = </a:t>
            </a:r>
            <a:r>
              <a:rPr lang="en-US" sz="400" b="1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Probability</a:t>
            </a:r>
            <a:r>
              <a:rPr lang="en-US" sz="400" b="1" noProof="0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85BEBC-4068-4D92-76C7-C91A20896068}"/>
              </a:ext>
            </a:extLst>
          </p:cNvPr>
          <p:cNvSpPr txBox="1"/>
          <p:nvPr/>
        </p:nvSpPr>
        <p:spPr>
          <a:xfrm>
            <a:off x="793373" y="5566967"/>
            <a:ext cx="51526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noProof="0" dirty="0"/>
              <a:t>Exponential(λ)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CCAF5C-B3A5-CC47-1645-44037E8FB544}"/>
              </a:ext>
            </a:extLst>
          </p:cNvPr>
          <p:cNvSpPr txBox="1"/>
          <p:nvPr/>
        </p:nvSpPr>
        <p:spPr>
          <a:xfrm>
            <a:off x="674809" y="5701803"/>
            <a:ext cx="7523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" noProof="0" dirty="0"/>
              <a:t>Models </a:t>
            </a:r>
            <a:r>
              <a:rPr lang="en-US" sz="400" b="1" noProof="0" dirty="0"/>
              <a:t>waiting times between independent Poisson events</a:t>
            </a:r>
            <a:r>
              <a:rPr lang="en-US" sz="400" noProof="0" dirty="0"/>
              <a:t>; has the memoryless property. </a:t>
            </a:r>
          </a:p>
          <a:p>
            <a:pPr algn="just"/>
            <a:r>
              <a:rPr lang="en-US" sz="400" noProof="0" dirty="0"/>
              <a:t>Example: Time between two consecutive arrivals in a queue with average rate λ = 2 per minute.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FA1063-0EC4-C209-1CA3-B2780C936789}"/>
              </a:ext>
            </a:extLst>
          </p:cNvPr>
          <p:cNvSpPr txBox="1"/>
          <p:nvPr/>
        </p:nvSpPr>
        <p:spPr>
          <a:xfrm>
            <a:off x="599636" y="5630221"/>
            <a:ext cx="836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b="1" noProof="0" dirty="0" err="1"/>
              <a:t>rexp</a:t>
            </a:r>
            <a:r>
              <a:rPr lang="en-US" sz="400" b="1" noProof="0" dirty="0"/>
              <a:t>(</a:t>
            </a:r>
            <a:r>
              <a:rPr lang="en-US" sz="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vector length</a:t>
            </a:r>
            <a:r>
              <a:rPr lang="en-US" sz="400" b="1" noProof="0" dirty="0"/>
              <a:t>, rate = </a:t>
            </a:r>
            <a:r>
              <a:rPr lang="en-US" sz="4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λ</a:t>
            </a:r>
            <a:r>
              <a:rPr lang="en-US" sz="400" b="1" noProof="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0A5B40-5120-516D-E846-5931FAB0AC31}"/>
              </a:ext>
            </a:extLst>
          </p:cNvPr>
          <p:cNvSpPr txBox="1"/>
          <p:nvPr/>
        </p:nvSpPr>
        <p:spPr>
          <a:xfrm>
            <a:off x="1325885" y="5566967"/>
            <a:ext cx="7523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noProof="0" dirty="0"/>
              <a:t>Hypergeometric(N, M, n)</a:t>
            </a:r>
          </a:p>
          <a:p>
            <a:pPr algn="just"/>
            <a:r>
              <a:rPr lang="en-US" sz="400" noProof="0" dirty="0"/>
              <a:t>Models the </a:t>
            </a:r>
            <a:r>
              <a:rPr lang="en-US" sz="400" b="1" noProof="0" dirty="0"/>
              <a:t>number of successes in n draws from a finite population without</a:t>
            </a:r>
            <a:br>
              <a:rPr lang="en-US" sz="400" b="1" noProof="0" dirty="0"/>
            </a:br>
            <a:r>
              <a:rPr lang="en-US" sz="400" b="1" noProof="0" dirty="0"/>
              <a:t>replacement. </a:t>
            </a:r>
          </a:p>
          <a:p>
            <a:pPr algn="just"/>
            <a:r>
              <a:rPr lang="en-US" sz="400" noProof="0" dirty="0"/>
              <a:t>Example: Drawing n = 5 cards from a deck of N = 52 containing M = 13 hearts; X = number of hearts drawn.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BBF3C3-2F3F-BB6F-7B08-C4B67EBB17C5}"/>
              </a:ext>
            </a:extLst>
          </p:cNvPr>
          <p:cNvSpPr txBox="1"/>
          <p:nvPr/>
        </p:nvSpPr>
        <p:spPr>
          <a:xfrm>
            <a:off x="-82457" y="6332550"/>
            <a:ext cx="875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noProof="0" dirty="0"/>
              <a:t>Degenerate</a:t>
            </a:r>
          </a:p>
          <a:p>
            <a:pPr algn="just"/>
            <a:r>
              <a:rPr lang="en-US" sz="400" noProof="0" dirty="0"/>
              <a:t>Represents a deterministic outcome; used as a </a:t>
            </a:r>
            <a:r>
              <a:rPr lang="en-US" sz="400" b="1" noProof="0" dirty="0"/>
              <a:t>limiting case or baseline distribution</a:t>
            </a:r>
            <a:r>
              <a:rPr lang="en-US" sz="400" noProof="0" dirty="0"/>
              <a:t>. </a:t>
            </a:r>
          </a:p>
          <a:p>
            <a:pPr algn="just"/>
            <a:r>
              <a:rPr lang="en-US" sz="400" noProof="0" dirty="0"/>
              <a:t>Example: If X always equals 5, then P(X = 5) = 1.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95DDB15-59E9-B7B6-BE36-407EBA50C6E5}"/>
              </a:ext>
            </a:extLst>
          </p:cNvPr>
          <p:cNvGrpSpPr/>
          <p:nvPr/>
        </p:nvGrpSpPr>
        <p:grpSpPr>
          <a:xfrm>
            <a:off x="655108" y="6286578"/>
            <a:ext cx="905911" cy="1109733"/>
            <a:chOff x="4763885" y="927628"/>
            <a:chExt cx="2724973" cy="958420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F60C1EB-AF42-1391-227D-9E5623C9706D}"/>
                </a:ext>
              </a:extLst>
            </p:cNvPr>
            <p:cNvSpPr txBox="1"/>
            <p:nvPr/>
          </p:nvSpPr>
          <p:spPr>
            <a:xfrm>
              <a:off x="5320016" y="927628"/>
              <a:ext cx="1612712" cy="2392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" noProof="0" dirty="0"/>
                <a:t>Uniform[L, R]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792498-7BFA-3DDD-095A-46ACD05CBAFE}"/>
                </a:ext>
              </a:extLst>
            </p:cNvPr>
            <p:cNvSpPr txBox="1"/>
            <p:nvPr/>
          </p:nvSpPr>
          <p:spPr>
            <a:xfrm>
              <a:off x="4794858" y="1208444"/>
              <a:ext cx="2560034" cy="9303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400" noProof="0" dirty="0"/>
                <a:t>Models complete uncertainty within an interval, </a:t>
              </a:r>
              <a:r>
                <a:rPr lang="en-US" sz="400" b="1" noProof="0" dirty="0"/>
                <a:t>where all outcomes are equally likely</a:t>
              </a:r>
              <a:r>
                <a:rPr lang="en-US" sz="400" noProof="0" dirty="0"/>
                <a:t>. </a:t>
              </a:r>
            </a:p>
            <a:p>
              <a:pPr algn="just"/>
              <a:r>
                <a:rPr lang="en-US" sz="400" noProof="0" dirty="0"/>
                <a:t>Example: The position of a dart thrown uniformly at random along a stick of length 1, X ∼ Uniform[0, 1].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0373A9E-40E4-1667-F605-730450FC4D85}"/>
                </a:ext>
              </a:extLst>
            </p:cNvPr>
            <p:cNvSpPr txBox="1"/>
            <p:nvPr/>
          </p:nvSpPr>
          <p:spPr>
            <a:xfrm>
              <a:off x="4763885" y="2227921"/>
              <a:ext cx="2724973" cy="18606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" b="1" noProof="0" dirty="0" err="1"/>
                <a:t>runif</a:t>
              </a:r>
              <a:r>
                <a:rPr lang="en-US" sz="400" b="1" noProof="0" dirty="0"/>
                <a:t>(</a:t>
              </a:r>
              <a:r>
                <a:rPr lang="en-US" sz="400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vector length</a:t>
              </a:r>
              <a:r>
                <a:rPr lang="en-US" sz="400" b="1" noProof="0" dirty="0"/>
                <a:t>)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FBC4DAC-8029-D646-729B-61CC64DEBA17}"/>
              </a:ext>
            </a:extLst>
          </p:cNvPr>
          <p:cNvSpPr txBox="1"/>
          <p:nvPr/>
        </p:nvSpPr>
        <p:spPr>
          <a:xfrm>
            <a:off x="1351010" y="6240216"/>
            <a:ext cx="752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noProof="0" dirty="0"/>
              <a:t>Bernoulli(p)</a:t>
            </a:r>
          </a:p>
          <a:p>
            <a:pPr algn="just"/>
            <a:r>
              <a:rPr lang="en-US" sz="400" noProof="0" dirty="0"/>
              <a:t>Models a </a:t>
            </a:r>
            <a:r>
              <a:rPr lang="en-US" sz="400" b="1" noProof="0" dirty="0"/>
              <a:t>single binary outcome </a:t>
            </a:r>
            <a:r>
              <a:rPr lang="en-US" sz="400" noProof="0" dirty="0"/>
              <a:t>such as success/failure, yes/no, or coin toss. </a:t>
            </a:r>
            <a:br>
              <a:rPr lang="en-US" sz="400" noProof="0" dirty="0"/>
            </a:br>
            <a:r>
              <a:rPr lang="en-US" sz="400" noProof="0" dirty="0"/>
              <a:t>Example: Tossing a biased coin with success probability p = 0.7 gives P(X = 1) = 0.7.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CD8787-6DFF-D5D3-E629-5B6D90A04132}"/>
              </a:ext>
            </a:extLst>
          </p:cNvPr>
          <p:cNvGrpSpPr/>
          <p:nvPr/>
        </p:nvGrpSpPr>
        <p:grpSpPr>
          <a:xfrm>
            <a:off x="1923735" y="5566967"/>
            <a:ext cx="1047776" cy="1279317"/>
            <a:chOff x="4998571" y="927628"/>
            <a:chExt cx="2585497" cy="1104882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60835BA-9BB6-4288-533D-AE6FB842AF2E}"/>
                </a:ext>
              </a:extLst>
            </p:cNvPr>
            <p:cNvSpPr txBox="1"/>
            <p:nvPr/>
          </p:nvSpPr>
          <p:spPr>
            <a:xfrm>
              <a:off x="5420731" y="927628"/>
              <a:ext cx="1612713" cy="18606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" noProof="0" dirty="0"/>
                <a:t>Normal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539D1A2-742F-D955-EC3F-5C41E4ABC4F6}"/>
                </a:ext>
              </a:extLst>
            </p:cNvPr>
            <p:cNvSpPr txBox="1"/>
            <p:nvPr/>
          </p:nvSpPr>
          <p:spPr>
            <a:xfrm>
              <a:off x="4998571" y="1216718"/>
              <a:ext cx="2560031" cy="39871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400" noProof="0" dirty="0"/>
                <a:t>Values spread with the probability of the </a:t>
              </a:r>
              <a:r>
                <a:rPr lang="en-US" sz="400" b="1" noProof="0" dirty="0"/>
                <a:t>normalization curve.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B86A1A9-333D-62C5-857B-2D8B5B5FE930}"/>
                </a:ext>
              </a:extLst>
            </p:cNvPr>
            <p:cNvSpPr txBox="1"/>
            <p:nvPr/>
          </p:nvSpPr>
          <p:spPr>
            <a:xfrm>
              <a:off x="5075533" y="2141437"/>
              <a:ext cx="2508535" cy="98350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" b="1" noProof="0" dirty="0" err="1"/>
                <a:t>rnorm</a:t>
              </a:r>
              <a:r>
                <a:rPr lang="en-US" sz="400" b="1" noProof="0" dirty="0"/>
                <a:t>(</a:t>
              </a:r>
              <a:r>
                <a:rPr lang="en-US" sz="400" noProof="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</a:t>
              </a:r>
              <a:r>
                <a:rPr lang="en-US" sz="400" b="1" noProof="0" dirty="0" err="1"/>
                <a:t>,</a:t>
              </a:r>
              <a:r>
                <a:rPr lang="en-US" sz="400" noProof="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MEAN</a:t>
              </a:r>
              <a:r>
                <a:rPr lang="en-US" sz="400" b="1" noProof="0" dirty="0" err="1"/>
                <a:t>,</a:t>
              </a:r>
              <a:r>
                <a:rPr lang="en-US" sz="400" noProof="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Standard</a:t>
              </a:r>
              <a:r>
                <a:rPr lang="en-US" sz="400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Deviation</a:t>
              </a:r>
              <a:r>
                <a:rPr lang="en-US" sz="400" b="1" noProof="0" dirty="0"/>
                <a:t>)</a:t>
              </a:r>
            </a:p>
            <a:p>
              <a:pPr algn="ctr"/>
              <a:r>
                <a:rPr lang="en-US" sz="400" b="1" noProof="0" dirty="0" err="1"/>
                <a:t>dnorm</a:t>
              </a:r>
              <a:r>
                <a:rPr lang="en-US" sz="400" b="1" noProof="0" dirty="0"/>
                <a:t> </a:t>
              </a:r>
              <a:r>
                <a:rPr lang="en-US" sz="400" noProof="0" dirty="0"/>
                <a:t>for exactly one x</a:t>
              </a:r>
            </a:p>
            <a:p>
              <a:pPr algn="ctr"/>
              <a:r>
                <a:rPr lang="en-US" sz="400" b="1" noProof="0" dirty="0" err="1"/>
                <a:t>pnorm</a:t>
              </a:r>
              <a:r>
                <a:rPr lang="en-US" sz="400" b="1" noProof="0" dirty="0"/>
                <a:t> </a:t>
              </a:r>
              <a:r>
                <a:rPr lang="en-US" sz="400" noProof="0" dirty="0"/>
                <a:t>for WK &lt;= x</a:t>
              </a:r>
            </a:p>
            <a:p>
              <a:r>
                <a:rPr lang="en-US" sz="400" noProof="0" dirty="0"/>
                <a:t>Example:</a:t>
              </a:r>
            </a:p>
            <a:p>
              <a:r>
                <a:rPr lang="en-US" sz="400" noProof="0" dirty="0"/>
                <a:t>Smaller or equal 2:</a:t>
              </a:r>
            </a:p>
            <a:p>
              <a:pPr algn="ctr"/>
              <a:r>
                <a:rPr lang="en-US" sz="400" noProof="0" dirty="0" err="1"/>
                <a:t>pnorm</a:t>
              </a:r>
              <a:r>
                <a:rPr lang="en-US" sz="400" noProof="0" dirty="0"/>
                <a:t>(2)</a:t>
              </a:r>
            </a:p>
            <a:p>
              <a:r>
                <a:rPr lang="en-US" sz="400" noProof="0" dirty="0"/>
                <a:t>Bigger then 2:</a:t>
              </a:r>
            </a:p>
            <a:p>
              <a:pPr algn="ctr"/>
              <a:r>
                <a:rPr lang="en-US" sz="400" noProof="0" dirty="0"/>
                <a:t>1-pnorm(2)</a:t>
              </a:r>
            </a:p>
            <a:p>
              <a:r>
                <a:rPr lang="en-US" sz="400" dirty="0"/>
                <a:t>B</a:t>
              </a:r>
              <a:r>
                <a:rPr lang="en-US" sz="400" noProof="0" dirty="0" err="1"/>
                <a:t>etween</a:t>
              </a:r>
              <a:r>
                <a:rPr lang="en-US" sz="400" noProof="0" dirty="0"/>
                <a:t> 2 und 7:</a:t>
              </a:r>
            </a:p>
            <a:p>
              <a:pPr algn="ctr"/>
              <a:r>
                <a:rPr lang="en-US" sz="400" noProof="0" dirty="0" err="1"/>
                <a:t>pnorm</a:t>
              </a:r>
              <a:r>
                <a:rPr lang="en-US" sz="400" noProof="0" dirty="0"/>
                <a:t>(6) - </a:t>
              </a:r>
              <a:r>
                <a:rPr lang="en-US" sz="400" noProof="0" dirty="0" err="1"/>
                <a:t>pnorm</a:t>
              </a:r>
              <a:r>
                <a:rPr lang="en-US" sz="400" noProof="0" dirty="0"/>
                <a:t>(2)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7D99C81-9326-EBAA-06C0-7963E0E63FDC}"/>
              </a:ext>
            </a:extLst>
          </p:cNvPr>
          <p:cNvGrpSpPr/>
          <p:nvPr/>
        </p:nvGrpSpPr>
        <p:grpSpPr>
          <a:xfrm>
            <a:off x="1923735" y="6332550"/>
            <a:ext cx="1047776" cy="579031"/>
            <a:chOff x="4712388" y="612605"/>
            <a:chExt cx="2890685" cy="500077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8E2E9F-B813-2C4B-D7C9-1CEF3AF99804}"/>
                </a:ext>
              </a:extLst>
            </p:cNvPr>
            <p:cNvSpPr txBox="1"/>
            <p:nvPr/>
          </p:nvSpPr>
          <p:spPr>
            <a:xfrm>
              <a:off x="5474089" y="612605"/>
              <a:ext cx="1612712" cy="2392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" noProof="0" dirty="0"/>
                <a:t>Binomial(n, p)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70F3EB8-947B-22CC-80D7-5C92621F3E62}"/>
                </a:ext>
              </a:extLst>
            </p:cNvPr>
            <p:cNvSpPr txBox="1"/>
            <p:nvPr/>
          </p:nvSpPr>
          <p:spPr>
            <a:xfrm>
              <a:off x="4794859" y="1208442"/>
              <a:ext cx="2642502" cy="29239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400" noProof="0" dirty="0"/>
                <a:t>Models the </a:t>
              </a:r>
              <a:r>
                <a:rPr lang="en-US" sz="400" b="1" noProof="0" dirty="0"/>
                <a:t>number of successes in n independent Bernoulli trials</a:t>
              </a:r>
              <a:r>
                <a:rPr lang="en-US" sz="400" noProof="0" dirty="0"/>
                <a:t>.</a:t>
              </a:r>
            </a:p>
            <a:p>
              <a:pPr algn="just"/>
              <a:r>
                <a:rPr lang="en-US" sz="400" noProof="0" dirty="0"/>
                <a:t>Example: Number of heads in n = 10 tosses of a fair coin (p = 0.5)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E2556D3-0EF6-3A1B-DE1C-AD8B7178AD4B}"/>
                </a:ext>
              </a:extLst>
            </p:cNvPr>
            <p:cNvSpPr txBox="1"/>
            <p:nvPr/>
          </p:nvSpPr>
          <p:spPr>
            <a:xfrm>
              <a:off x="4712388" y="3752705"/>
              <a:ext cx="2890685" cy="18606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400" b="1" noProof="0" dirty="0" err="1"/>
                <a:t>rbinom</a:t>
              </a:r>
              <a:r>
                <a:rPr lang="en-US" sz="400" b="1" noProof="0" dirty="0"/>
                <a:t>(</a:t>
              </a:r>
              <a:r>
                <a:rPr lang="en-US" sz="400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vector length</a:t>
              </a:r>
              <a:r>
                <a:rPr lang="en-US" sz="400" b="1" noProof="0" dirty="0"/>
                <a:t>, </a:t>
              </a:r>
              <a:r>
                <a:rPr lang="en-US" sz="400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number of trials</a:t>
              </a:r>
              <a:r>
                <a:rPr lang="en-US" sz="400" b="1" noProof="0" dirty="0"/>
                <a:t>, </a:t>
              </a:r>
              <a:r>
                <a:rPr lang="en-US" sz="400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probability of success on each trial</a:t>
              </a:r>
              <a:r>
                <a:rPr lang="en-US" sz="400" b="1" noProof="0" dirty="0"/>
                <a:t>) 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D29DEF1-DB60-C2E3-56BF-5A41CEA539B0}"/>
              </a:ext>
            </a:extLst>
          </p:cNvPr>
          <p:cNvSpPr txBox="1"/>
          <p:nvPr/>
        </p:nvSpPr>
        <p:spPr>
          <a:xfrm>
            <a:off x="2834959" y="5749857"/>
            <a:ext cx="119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noProof="0" dirty="0"/>
              <a:t>Negative Binomial (</a:t>
            </a:r>
            <a:r>
              <a:rPr lang="en-US" sz="400" noProof="0" dirty="0" err="1"/>
              <a:t>NegBin</a:t>
            </a:r>
            <a:r>
              <a:rPr lang="en-US" sz="400" noProof="0" dirty="0"/>
              <a:t>)(r, p)</a:t>
            </a:r>
          </a:p>
          <a:p>
            <a:pPr algn="just"/>
            <a:r>
              <a:rPr lang="en-US" sz="400" noProof="0" dirty="0"/>
              <a:t>Counts the </a:t>
            </a:r>
            <a:r>
              <a:rPr lang="en-US" sz="400" b="1" noProof="0" dirty="0"/>
              <a:t>number of failures before r successes occur</a:t>
            </a:r>
            <a:r>
              <a:rPr lang="en-US" sz="400" noProof="0" dirty="0"/>
              <a:t>; generalizes the geometric law (r = 1).</a:t>
            </a:r>
          </a:p>
          <a:p>
            <a:pPr algn="just"/>
            <a:r>
              <a:rPr lang="en-US" sz="400" noProof="0" dirty="0"/>
              <a:t>Example: Number of defective items found before r = 3 acceptable items are produced, with p = 0.8.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35CF64-48D4-2D0A-16CD-38EFD9AC4CE2}"/>
              </a:ext>
            </a:extLst>
          </p:cNvPr>
          <p:cNvSpPr txBox="1"/>
          <p:nvPr/>
        </p:nvSpPr>
        <p:spPr>
          <a:xfrm>
            <a:off x="2834959" y="6178873"/>
            <a:ext cx="113101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" noProof="0" dirty="0"/>
              <a:t>Poisson(λ)</a:t>
            </a:r>
            <a:br>
              <a:rPr lang="en-US" sz="300" noProof="0" dirty="0"/>
            </a:br>
            <a:r>
              <a:rPr lang="en-US" sz="300" noProof="0" dirty="0"/>
              <a:t>Models counts of </a:t>
            </a:r>
            <a:r>
              <a:rPr lang="en-US" sz="300" b="1" noProof="0" dirty="0"/>
              <a:t>rare, independent events in a fixed interval </a:t>
            </a:r>
            <a:r>
              <a:rPr lang="en-US" sz="300" noProof="0" dirty="0"/>
              <a:t>of time or space. </a:t>
            </a:r>
          </a:p>
          <a:p>
            <a:pPr algn="just"/>
            <a:r>
              <a:rPr lang="en-US" sz="300" noProof="0" dirty="0"/>
              <a:t>Example: Number of emails received per hour with an average rate λ = 5. </a:t>
            </a:r>
          </a:p>
        </p:txBody>
      </p:sp>
    </p:spTree>
    <p:extLst>
      <p:ext uri="{BB962C8B-B14F-4D97-AF65-F5344CB8AC3E}">
        <p14:creationId xmlns:p14="http://schemas.microsoft.com/office/powerpoint/2010/main" val="3123684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A8979-6B9F-C527-4213-2C2907B40C40}"/>
              </a:ext>
            </a:extLst>
          </p:cNvPr>
          <p:cNvSpPr txBox="1"/>
          <p:nvPr/>
        </p:nvSpPr>
        <p:spPr>
          <a:xfrm>
            <a:off x="0" y="0"/>
            <a:ext cx="1809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/>
              <a:t>Corelation: </a:t>
            </a:r>
            <a:r>
              <a:rPr lang="en-GB" sz="800" b="1" dirty="0" err="1"/>
              <a:t>cor</a:t>
            </a:r>
            <a:r>
              <a:rPr lang="en-GB" sz="800" b="1" dirty="0"/>
              <a:t>(</a:t>
            </a:r>
            <a:r>
              <a:rPr lang="en-GB" sz="800" b="1" dirty="0" err="1"/>
              <a:t>x,y</a:t>
            </a:r>
            <a:r>
              <a:rPr lang="en-GB" sz="800" b="1" dirty="0"/>
              <a:t>)</a:t>
            </a:r>
            <a:br>
              <a:rPr lang="en-GB" sz="800" b="1" dirty="0"/>
            </a:br>
            <a:endParaRPr lang="en-DE" sz="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7BE8F0-D9F1-4F17-2CAD-A210DB832E17}"/>
              </a:ext>
            </a:extLst>
          </p:cNvPr>
          <p:cNvSpPr txBox="1"/>
          <p:nvPr/>
        </p:nvSpPr>
        <p:spPr>
          <a:xfrm>
            <a:off x="-39655" y="1338348"/>
            <a:ext cx="18892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1" dirty="0"/>
              <a:t>Sign:</a:t>
            </a:r>
            <a:endParaRPr lang="en-GB" sz="800" dirty="0"/>
          </a:p>
          <a:p>
            <a:r>
              <a:rPr lang="en-GB" sz="800" b="1" dirty="0"/>
              <a:t>Positive</a:t>
            </a:r>
            <a:r>
              <a:rPr lang="en-GB" sz="800" dirty="0"/>
              <a:t> → As the mother’s weight increases, birth weight tends to increase.</a:t>
            </a:r>
          </a:p>
          <a:p>
            <a:r>
              <a:rPr lang="en-GB" sz="800" b="1" dirty="0"/>
              <a:t>Negative</a:t>
            </a:r>
            <a:r>
              <a:rPr lang="en-GB" sz="800" dirty="0"/>
              <a:t> → Higher mother’s weight would be associated with lower birth weight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7C5984-5915-1302-7BE1-D1E0B10E3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897810"/>
              </p:ext>
            </p:extLst>
          </p:nvPr>
        </p:nvGraphicFramePr>
        <p:xfrm>
          <a:off x="-1" y="169277"/>
          <a:ext cx="2010170" cy="1227612"/>
        </p:xfrm>
        <a:graphic>
          <a:graphicData uri="http://schemas.openxmlformats.org/drawingml/2006/table">
            <a:tbl>
              <a:tblPr/>
              <a:tblGrid>
                <a:gridCol w="624863">
                  <a:extLst>
                    <a:ext uri="{9D8B030D-6E8A-4147-A177-3AD203B41FA5}">
                      <a16:colId xmlns:a16="http://schemas.microsoft.com/office/drawing/2014/main" val="1456364981"/>
                    </a:ext>
                  </a:extLst>
                </a:gridCol>
                <a:gridCol w="1385307">
                  <a:extLst>
                    <a:ext uri="{9D8B030D-6E8A-4147-A177-3AD203B41FA5}">
                      <a16:colId xmlns:a16="http://schemas.microsoft.com/office/drawing/2014/main" val="2881283515"/>
                    </a:ext>
                  </a:extLst>
                </a:gridCol>
              </a:tblGrid>
              <a:tr h="223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Correlation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649821"/>
                  </a:ext>
                </a:extLst>
              </a:tr>
              <a:tr h="223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00"/>
                        <a:t>~0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dirty="0"/>
                        <a:t>No linear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043026"/>
                  </a:ext>
                </a:extLst>
              </a:tr>
              <a:tr h="223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00" dirty="0"/>
                        <a:t>0.1 – 0.3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dirty="0"/>
                        <a:t>Weak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78262"/>
                  </a:ext>
                </a:extLst>
              </a:tr>
              <a:tr h="223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00"/>
                        <a:t>0.3 – 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Moderate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585484"/>
                  </a:ext>
                </a:extLst>
              </a:tr>
              <a:tr h="223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00" dirty="0"/>
                        <a:t>&gt; 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dirty="0"/>
                        <a:t>Strong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479560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6D01B24B-4398-7B04-D024-6F72536A5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269" y="11204"/>
            <a:ext cx="4085203" cy="10165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1B0773-9553-E4AF-CE0C-C832B3A716F8}"/>
              </a:ext>
            </a:extLst>
          </p:cNvPr>
          <p:cNvSpPr txBox="1"/>
          <p:nvPr/>
        </p:nvSpPr>
        <p:spPr>
          <a:xfrm>
            <a:off x="3258946" y="411757"/>
            <a:ext cx="31739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800" dirty="0"/>
              <a:t>β0​</a:t>
            </a:r>
            <a:r>
              <a:rPr lang="en-GB" sz="800" dirty="0"/>
              <a:t> = intercept</a:t>
            </a:r>
            <a:endParaRPr lang="en-DE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37EE7F-88F0-EF25-49F8-CEA87CEC5971}"/>
                  </a:ext>
                </a:extLst>
              </p:cNvPr>
              <p:cNvSpPr txBox="1"/>
              <p:nvPr/>
            </p:nvSpPr>
            <p:spPr>
              <a:xfrm>
                <a:off x="1849601" y="1073442"/>
                <a:ext cx="204039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800" dirty="0"/>
                  <a:t>In </a:t>
                </a:r>
                <a:r>
                  <a:rPr lang="de-DE" sz="800" b="1" u="sng" dirty="0"/>
                  <a:t>linear regression, the t-test for the slope </a:t>
                </a:r>
                <a:r>
                  <a:rPr lang="de-DE" sz="800" dirty="0"/>
                  <a:t>is automatically provided in the summary output. If the p-value is smaller than </a:t>
                </a:r>
                <a:r>
                  <a:rPr lang="el-GR" sz="800" dirty="0"/>
                  <a:t>α (</a:t>
                </a:r>
                <a:r>
                  <a:rPr lang="de-DE" sz="800" dirty="0"/>
                  <a:t>typically 0.05),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sz="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80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DE" sz="800" dirty="0"/>
                  <a:t>and conclude that a significant linear relationship exists; otherwise, do not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sz="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800" dirty="0"/>
                  <a:t>.</a:t>
                </a:r>
                <a:endParaRPr lang="en-DE" sz="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37EE7F-88F0-EF25-49F8-CEA87CEC5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601" y="1073442"/>
                <a:ext cx="2040397" cy="954107"/>
              </a:xfrm>
              <a:prstGeom prst="rect">
                <a:avLst/>
              </a:prstGeom>
              <a:blipFill>
                <a:blip r:embed="rId3"/>
                <a:stretch>
                  <a:fillRect b="-127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6786663-013A-CB29-5AAB-69AE24A4C5CA}"/>
              </a:ext>
            </a:extLst>
          </p:cNvPr>
          <p:cNvSpPr txBox="1"/>
          <p:nvPr/>
        </p:nvSpPr>
        <p:spPr>
          <a:xfrm>
            <a:off x="1849601" y="1919827"/>
            <a:ext cx="33949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If the null value is outside the 95% CI, the result is significant at α = 0.05.</a:t>
            </a:r>
            <a:endParaRPr lang="en-DE" sz="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E197ED-48A6-FDC9-9ED5-9097C1188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112" y="169277"/>
            <a:ext cx="989677" cy="1168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41AAC9C-19D7-C8D6-C8B9-BC2A94DA1C09}"/>
              </a:ext>
            </a:extLst>
          </p:cNvPr>
          <p:cNvSpPr txBox="1"/>
          <p:nvPr/>
        </p:nvSpPr>
        <p:spPr>
          <a:xfrm>
            <a:off x="8350171" y="255060"/>
            <a:ext cx="1448142" cy="414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plot(r ~ x,</a:t>
            </a:r>
          </a:p>
          <a:p>
            <a:pPr latinLnBrk="1"/>
            <a:r>
              <a:rPr lang="en-DE" sz="400" noProof="1"/>
              <a:t>     xlab = "Speed (mph)",</a:t>
            </a:r>
          </a:p>
          <a:p>
            <a:pPr latinLnBrk="1"/>
            <a:r>
              <a:rPr lang="en-DE" sz="400" noProof="1"/>
              <a:t>     ylab = "Standardized residual",</a:t>
            </a:r>
          </a:p>
          <a:p>
            <a:pPr latinLnBrk="1"/>
            <a:r>
              <a:rPr lang="en-DE" sz="400" noProof="1"/>
              <a:t>     main = "Standardized residuals vs speed")</a:t>
            </a:r>
          </a:p>
          <a:p>
            <a:pPr latinLnBrk="1"/>
            <a:r>
              <a:rPr lang="en-DE" sz="400" noProof="1"/>
              <a:t>abline(h = 0, lty = 2)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B0C5414-8A76-0DD2-7BDA-E47CCFF0D6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046" t="14085" r="3309" b="17226"/>
          <a:stretch>
            <a:fillRect/>
          </a:stretch>
        </p:blipFill>
        <p:spPr>
          <a:xfrm>
            <a:off x="9442203" y="258871"/>
            <a:ext cx="258513" cy="3038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475F589-C9AB-CFB3-40E9-FFD2137B42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8259" y="603236"/>
            <a:ext cx="794026" cy="1266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6E98750-B348-36FF-AEF0-5027BD156FAE}"/>
              </a:ext>
            </a:extLst>
          </p:cNvPr>
          <p:cNvSpPr txBox="1"/>
          <p:nvPr/>
        </p:nvSpPr>
        <p:spPr>
          <a:xfrm>
            <a:off x="8323892" y="669233"/>
            <a:ext cx="148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qqnorm(r, main = "Normal Q–Q plot of standardized residuals")</a:t>
            </a:r>
          </a:p>
          <a:p>
            <a:pPr latinLnBrk="1"/>
            <a:r>
              <a:rPr lang="en-DE" sz="400" noProof="1"/>
              <a:t>qqline(r)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3C1121-C5AA-FC3A-E3E6-61512E8605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3749" y="785658"/>
            <a:ext cx="657128" cy="3845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8AD845F-F885-F054-6C3E-908F90CF7AB1}"/>
                  </a:ext>
                </a:extLst>
              </p14:cNvPr>
              <p14:cNvContentPartPr/>
              <p14:nvPr/>
            </p14:nvContentPartPr>
            <p14:xfrm>
              <a:off x="8422478" y="219294"/>
              <a:ext cx="733320" cy="100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8AD845F-F885-F054-6C3E-908F90CF7AB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04478" y="183294"/>
                <a:ext cx="7689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1B450AA-E01F-744F-7C9D-D5F612BA7DD6}"/>
                  </a:ext>
                </a:extLst>
              </p14:cNvPr>
              <p14:cNvContentPartPr/>
              <p14:nvPr/>
            </p14:nvContentPartPr>
            <p14:xfrm>
              <a:off x="9367838" y="229014"/>
              <a:ext cx="900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1B450AA-E01F-744F-7C9D-D5F612BA7DD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349838" y="193014"/>
                <a:ext cx="446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6AE7BB6-2057-A271-E6B2-BC7E582583CF}"/>
                  </a:ext>
                </a:extLst>
              </p14:cNvPr>
              <p14:cNvContentPartPr/>
              <p14:nvPr/>
            </p14:nvContentPartPr>
            <p14:xfrm>
              <a:off x="9117638" y="226494"/>
              <a:ext cx="231120" cy="28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6AE7BB6-2057-A271-E6B2-BC7E582583C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99610" y="185351"/>
                <a:ext cx="266816" cy="847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DDBDF06-E395-9059-D8C8-64BF3EC2BF7B}"/>
                  </a:ext>
                </a:extLst>
              </p14:cNvPr>
              <p14:cNvContentPartPr/>
              <p14:nvPr/>
            </p14:nvContentPartPr>
            <p14:xfrm>
              <a:off x="8431838" y="655254"/>
              <a:ext cx="762120" cy="10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DDBDF06-E395-9059-D8C8-64BF3EC2BF7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13829" y="619254"/>
                <a:ext cx="797777" cy="81720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E60A9942-F54A-A403-C40C-A36B75D70A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28354" t="10597" b="40522"/>
          <a:stretch>
            <a:fillRect/>
          </a:stretch>
        </p:blipFill>
        <p:spPr>
          <a:xfrm>
            <a:off x="6683439" y="169277"/>
            <a:ext cx="1599390" cy="11236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349A00C-2E24-B2D4-C766-374744BE03E7}"/>
              </a:ext>
            </a:extLst>
          </p:cNvPr>
          <p:cNvSpPr txBox="1"/>
          <p:nvPr/>
        </p:nvSpPr>
        <p:spPr>
          <a:xfrm>
            <a:off x="6619984" y="272122"/>
            <a:ext cx="1422176" cy="65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pred_ci &lt;- predict(fit_lin, newdata = data.frame(speed = x0), interval = "confidence", level = 0.95)</a:t>
            </a:r>
          </a:p>
          <a:p>
            <a:pPr latinLnBrk="1"/>
            <a:r>
              <a:rPr lang="en-DE" sz="400" noProof="1"/>
              <a:t>pred_pi &lt;- predict(fit_lin, newdata = data.frame(speed = x0), interval = "prediction", level = 0.95)</a:t>
            </a:r>
          </a:p>
          <a:p>
            <a:pPr latinLnBrk="1"/>
            <a:endParaRPr lang="en-DE" sz="400" noProof="1"/>
          </a:p>
          <a:p>
            <a:pPr latinLnBrk="1"/>
            <a:r>
              <a:rPr lang="en-DE" sz="400" noProof="1"/>
              <a:t>list(manual_mean_CI = ci_mean,</a:t>
            </a:r>
          </a:p>
          <a:p>
            <a:pPr latinLnBrk="1"/>
            <a:r>
              <a:rPr lang="en-DE" sz="400" noProof="1"/>
              <a:t>     manual_pred_PI = pi_new,</a:t>
            </a:r>
          </a:p>
          <a:p>
            <a:pPr latinLnBrk="1"/>
            <a:r>
              <a:rPr lang="en-DE" sz="400" noProof="1"/>
              <a:t>     lm_mean_CI = as.numeric(pred_ci[1, c("lwr", "upr")]),</a:t>
            </a:r>
          </a:p>
          <a:p>
            <a:pPr latinLnBrk="1"/>
            <a:r>
              <a:rPr lang="en-DE" sz="400" noProof="1"/>
              <a:t>     lm_pred_PI = as.numeric(pred_pi[1, c("lwr", "upr")]))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FB1FD0D-FBC4-1524-279A-D8C959D8A15D}"/>
                  </a:ext>
                </a:extLst>
              </p14:cNvPr>
              <p14:cNvContentPartPr/>
              <p14:nvPr/>
            </p14:nvContentPartPr>
            <p14:xfrm>
              <a:off x="6701441" y="217819"/>
              <a:ext cx="1592073" cy="45719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FB1FD0D-FBC4-1524-279A-D8C959D8A15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83423" y="170195"/>
                <a:ext cx="1627749" cy="140491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F71FBA1-3344-1639-A268-892A1F39439E}"/>
              </a:ext>
            </a:extLst>
          </p:cNvPr>
          <p:cNvSpPr txBox="1"/>
          <p:nvPr/>
        </p:nvSpPr>
        <p:spPr>
          <a:xfrm>
            <a:off x="-53144" y="2243274"/>
            <a:ext cx="3726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u="sng" dirty="0"/>
              <a:t>Prediction intervals </a:t>
            </a:r>
            <a:r>
              <a:rPr lang="en-GB" sz="800" dirty="0"/>
              <a:t>are always wider than confidence intervals because they include individual variability.</a:t>
            </a:r>
            <a:endParaRPr lang="en-DE" sz="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0DB5E6A-0C9E-1CFE-8588-05D6B1999B21}"/>
              </a:ext>
            </a:extLst>
          </p:cNvPr>
          <p:cNvGrpSpPr/>
          <p:nvPr/>
        </p:nvGrpSpPr>
        <p:grpSpPr>
          <a:xfrm>
            <a:off x="6619493" y="1170221"/>
            <a:ext cx="3265147" cy="1446550"/>
            <a:chOff x="4900051" y="2912366"/>
            <a:chExt cx="3265147" cy="144655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F4713E7-9530-0EA1-90E9-6F5BB8388AB1}"/>
                </a:ext>
              </a:extLst>
            </p:cNvPr>
            <p:cNvSpPr txBox="1"/>
            <p:nvPr/>
          </p:nvSpPr>
          <p:spPr>
            <a:xfrm>
              <a:off x="4900051" y="2912366"/>
              <a:ext cx="326514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800" b="1" noProof="1"/>
                <a:t>In 1–2 sentences each, define (in your own words): - population, sample, parameter, statistic.</a:t>
              </a:r>
              <a:br>
                <a:rPr lang="en-DE" sz="800" b="1" noProof="1"/>
              </a:br>
              <a:r>
                <a:rPr lang="en-DE" sz="800" b="1" noProof="1"/>
                <a:t>Population:</a:t>
              </a:r>
              <a:r>
                <a:rPr lang="en-DE" sz="800" noProof="1"/>
                <a:t> is the entire group of individuals or observations that you are interested in studying and about which you want to draw conclusions. </a:t>
              </a:r>
              <a:r>
                <a:rPr lang="en-DE" sz="800" b="1" noProof="1"/>
                <a:t>Sample:</a:t>
              </a:r>
              <a:r>
                <a:rPr lang="en-DE" sz="800" noProof="1"/>
                <a:t> is a subset of the population that is actually observed or measured, chosen to represent the population.</a:t>
              </a:r>
            </a:p>
            <a:p>
              <a:r>
                <a:rPr lang="en-DE" sz="800" b="1" noProof="1"/>
                <a:t>Parameter:</a:t>
              </a:r>
              <a:r>
                <a:rPr lang="en-DE" sz="800" noProof="1"/>
                <a:t> is a numerical</a:t>
              </a:r>
              <a:r>
                <a:rPr lang="en-GB" sz="800" noProof="1"/>
                <a:t> </a:t>
              </a:r>
              <a:r>
                <a:rPr lang="en-DE" sz="800" noProof="1"/>
                <a:t>value that describes a characteristic of a population (for example, the true mean or variance), and it is usually unknown.</a:t>
              </a:r>
            </a:p>
            <a:p>
              <a:r>
                <a:rPr lang="en-DE" sz="800" b="1" noProof="1"/>
                <a:t>Statistic:</a:t>
              </a:r>
              <a:r>
                <a:rPr lang="en-DE" sz="800" noProof="1"/>
                <a:t> A statistic is a numerical value calculated from a sample, used to estimate or make inferences about a population parameter.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4A19D61-F77C-6704-3F54-3863D7BB3C3A}"/>
                    </a:ext>
                  </a:extLst>
                </p14:cNvPr>
                <p14:cNvContentPartPr/>
                <p14:nvPr/>
              </p14:nvContentPartPr>
              <p14:xfrm>
                <a:off x="5607465" y="3526760"/>
                <a:ext cx="245520" cy="2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4A19D61-F77C-6704-3F54-3863D7BB3C3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89465" y="3490760"/>
                  <a:ext cx="281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9AFE8A3-6707-5D72-4D3A-98A73CFEAC65}"/>
                    </a:ext>
                  </a:extLst>
                </p14:cNvPr>
                <p14:cNvContentPartPr/>
                <p14:nvPr/>
              </p14:nvContentPartPr>
              <p14:xfrm>
                <a:off x="5108000" y="3271867"/>
                <a:ext cx="193320" cy="2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9AFE8A3-6707-5D72-4D3A-98A73CFEAC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090000" y="3235867"/>
                  <a:ext cx="228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2AC49B3-D835-7B4B-B0B1-9CBE7A2B1ABD}"/>
                    </a:ext>
                  </a:extLst>
                </p14:cNvPr>
                <p14:cNvContentPartPr/>
                <p14:nvPr/>
              </p14:nvContentPartPr>
              <p14:xfrm>
                <a:off x="5108000" y="3754059"/>
                <a:ext cx="231120" cy="5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2AC49B3-D835-7B4B-B0B1-9CBE7A2B1AB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90000" y="3720177"/>
                  <a:ext cx="266760" cy="731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2D9A331-34AB-936B-8E3F-550761E351B5}"/>
                    </a:ext>
                  </a:extLst>
                </p14:cNvPr>
                <p14:cNvContentPartPr/>
                <p14:nvPr/>
              </p14:nvContentPartPr>
              <p14:xfrm>
                <a:off x="5071911" y="4110680"/>
                <a:ext cx="209520" cy="5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2D9A331-34AB-936B-8E3F-550761E351B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053911" y="4074680"/>
                  <a:ext cx="245160" cy="77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Rectangle 3">
            <a:extLst>
              <a:ext uri="{FF2B5EF4-FFF2-40B4-BE49-F238E27FC236}">
                <a16:creationId xmlns:a16="http://schemas.microsoft.com/office/drawing/2014/main" id="{26ADE929-AC44-282A-C58B-B6E5B1479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4853" y="1044955"/>
            <a:ext cx="24765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DE" altLang="en-DE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estimator</a:t>
            </a: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</a:t>
            </a:r>
            <a:r>
              <a:rPr kumimoji="0" lang="en-DE" altLang="en-DE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</a:t>
            </a: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the random variables </a:t>
            </a:r>
            <a:endParaRPr kumimoji="0" lang="en-GB" altLang="en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DE" altLang="en-DE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</a:t>
            </a: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</a:t>
            </a:r>
            <a:r>
              <a:rPr kumimoji="0" lang="en-DE" altLang="en-DE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</a:t>
            </a: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get when you plug your observed data into that formula.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FAF8970-BDE9-B4BA-1F44-DF2428BAB30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360" y="2565960"/>
            <a:ext cx="1997776" cy="32299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8EBF19A-FEC7-F14B-71FF-CBB311CC4804}"/>
              </a:ext>
            </a:extLst>
          </p:cNvPr>
          <p:cNvSpPr txBox="1"/>
          <p:nvPr/>
        </p:nvSpPr>
        <p:spPr>
          <a:xfrm>
            <a:off x="-53144" y="2762437"/>
            <a:ext cx="3096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A 95% confidence interval gives the range of plausible values for the true population mean.</a:t>
            </a:r>
            <a:endParaRPr lang="en-DE" sz="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A243F6-FDB1-1193-8215-58B0FE94592B}"/>
              </a:ext>
            </a:extLst>
          </p:cNvPr>
          <p:cNvSpPr txBox="1"/>
          <p:nvPr/>
        </p:nvSpPr>
        <p:spPr>
          <a:xfrm>
            <a:off x="-39655" y="3065939"/>
            <a:ext cx="3826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Higher confidence → wider CI. Larger sample → narrower CI.</a:t>
            </a:r>
            <a:endParaRPr lang="en-DE" sz="800" dirty="0"/>
          </a:p>
        </p:txBody>
      </p:sp>
    </p:spTree>
    <p:extLst>
      <p:ext uri="{BB962C8B-B14F-4D97-AF65-F5344CB8AC3E}">
        <p14:creationId xmlns:p14="http://schemas.microsoft.com/office/powerpoint/2010/main" val="1590437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E821E-8618-033A-742D-675E40CB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89">
            <a:extLst>
              <a:ext uri="{FF2B5EF4-FFF2-40B4-BE49-F238E27FC236}">
                <a16:creationId xmlns:a16="http://schemas.microsoft.com/office/drawing/2014/main" id="{2215DD91-0F6D-1050-EFA3-28E0DF675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896"/>
          <a:stretch>
            <a:fillRect/>
          </a:stretch>
        </p:blipFill>
        <p:spPr>
          <a:xfrm>
            <a:off x="1938973" y="319417"/>
            <a:ext cx="4085203" cy="5398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B6E6C7-433D-F7AD-210F-5EF76617C9A1}"/>
              </a:ext>
            </a:extLst>
          </p:cNvPr>
          <p:cNvSpPr txBox="1"/>
          <p:nvPr/>
        </p:nvSpPr>
        <p:spPr>
          <a:xfrm>
            <a:off x="0" y="0"/>
            <a:ext cx="1809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dirty="0"/>
              <a:t>Corelation: </a:t>
            </a:r>
            <a:r>
              <a:rPr lang="en-GB" sz="800" b="1" dirty="0" err="1"/>
              <a:t>cor</a:t>
            </a:r>
            <a:r>
              <a:rPr lang="en-GB" sz="800" b="1" dirty="0"/>
              <a:t>(</a:t>
            </a:r>
            <a:r>
              <a:rPr lang="en-GB" sz="800" b="1" dirty="0" err="1"/>
              <a:t>x,y</a:t>
            </a:r>
            <a:r>
              <a:rPr lang="en-GB" sz="800" b="1" dirty="0"/>
              <a:t>)</a:t>
            </a:r>
            <a:br>
              <a:rPr lang="en-GB" sz="800" b="1" dirty="0"/>
            </a:br>
            <a:endParaRPr lang="en-DE" sz="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EC628-C952-E381-C6D4-0633FBFAE11D}"/>
              </a:ext>
            </a:extLst>
          </p:cNvPr>
          <p:cNvSpPr txBox="1"/>
          <p:nvPr/>
        </p:nvSpPr>
        <p:spPr>
          <a:xfrm>
            <a:off x="-39655" y="1338348"/>
            <a:ext cx="18892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1" dirty="0"/>
              <a:t>Sign:</a:t>
            </a:r>
            <a:endParaRPr lang="en-GB" sz="800" dirty="0"/>
          </a:p>
          <a:p>
            <a:r>
              <a:rPr lang="en-GB" sz="800" b="1" dirty="0"/>
              <a:t>Positive</a:t>
            </a:r>
            <a:r>
              <a:rPr lang="en-GB" sz="800" dirty="0"/>
              <a:t> → As the mother’s weight increases, birth weight tends to increase.</a:t>
            </a:r>
          </a:p>
          <a:p>
            <a:r>
              <a:rPr lang="en-GB" sz="800" b="1" dirty="0"/>
              <a:t>Negative</a:t>
            </a:r>
            <a:r>
              <a:rPr lang="en-GB" sz="800" dirty="0"/>
              <a:t> → Higher mother’s weight would be associated with lower birth weight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44A565C-739C-93B7-E00F-82C01A77BE35}"/>
              </a:ext>
            </a:extLst>
          </p:cNvPr>
          <p:cNvGraphicFramePr>
            <a:graphicFrameLocks noGrp="1"/>
          </p:cNvGraphicFramePr>
          <p:nvPr/>
        </p:nvGraphicFramePr>
        <p:xfrm>
          <a:off x="-1" y="169277"/>
          <a:ext cx="2010170" cy="1227612"/>
        </p:xfrm>
        <a:graphic>
          <a:graphicData uri="http://schemas.openxmlformats.org/drawingml/2006/table">
            <a:tbl>
              <a:tblPr/>
              <a:tblGrid>
                <a:gridCol w="624863">
                  <a:extLst>
                    <a:ext uri="{9D8B030D-6E8A-4147-A177-3AD203B41FA5}">
                      <a16:colId xmlns:a16="http://schemas.microsoft.com/office/drawing/2014/main" val="1456364981"/>
                    </a:ext>
                  </a:extLst>
                </a:gridCol>
                <a:gridCol w="1385307">
                  <a:extLst>
                    <a:ext uri="{9D8B030D-6E8A-4147-A177-3AD203B41FA5}">
                      <a16:colId xmlns:a16="http://schemas.microsoft.com/office/drawing/2014/main" val="2881283515"/>
                    </a:ext>
                  </a:extLst>
                </a:gridCol>
              </a:tblGrid>
              <a:tr h="223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Correlation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649821"/>
                  </a:ext>
                </a:extLst>
              </a:tr>
              <a:tr h="223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00"/>
                        <a:t>~0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dirty="0"/>
                        <a:t>No linear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043026"/>
                  </a:ext>
                </a:extLst>
              </a:tr>
              <a:tr h="223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00" dirty="0"/>
                        <a:t>0.1 – 0.3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dirty="0"/>
                        <a:t>Weak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78262"/>
                  </a:ext>
                </a:extLst>
              </a:tr>
              <a:tr h="223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00"/>
                        <a:t>0.3 – 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/>
                        <a:t>Moderate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585484"/>
                  </a:ext>
                </a:extLst>
              </a:tr>
              <a:tr h="223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DE" sz="800" dirty="0"/>
                        <a:t>&gt; 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800" dirty="0"/>
                        <a:t>Strong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479560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B9328283-4DD7-3AD3-F347-673403BB7C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331" b="85873"/>
          <a:stretch>
            <a:fillRect/>
          </a:stretch>
        </p:blipFill>
        <p:spPr>
          <a:xfrm>
            <a:off x="1949745" y="44445"/>
            <a:ext cx="1416279" cy="1435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F635BA-44AD-2BDC-8892-FD0267FF1569}"/>
              </a:ext>
            </a:extLst>
          </p:cNvPr>
          <p:cNvSpPr txBox="1"/>
          <p:nvPr/>
        </p:nvSpPr>
        <p:spPr>
          <a:xfrm>
            <a:off x="3366024" y="-50849"/>
            <a:ext cx="31739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800" dirty="0"/>
              <a:t>β0​</a:t>
            </a:r>
            <a:r>
              <a:rPr lang="en-GB" sz="800" dirty="0"/>
              <a:t> = intercept</a:t>
            </a:r>
            <a:endParaRPr lang="en-DE" sz="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FFD903-B1BD-8C71-4B39-8CE8A85F8FB9}"/>
                  </a:ext>
                </a:extLst>
              </p:cNvPr>
              <p:cNvSpPr txBox="1"/>
              <p:nvPr/>
            </p:nvSpPr>
            <p:spPr>
              <a:xfrm>
                <a:off x="1873521" y="822330"/>
                <a:ext cx="48279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800" dirty="0"/>
                  <a:t>In </a:t>
                </a:r>
                <a:r>
                  <a:rPr lang="de-DE" sz="800" b="1" u="sng" dirty="0"/>
                  <a:t>linear regression, the t-test for the slope </a:t>
                </a:r>
                <a:r>
                  <a:rPr lang="de-DE" sz="800" dirty="0"/>
                  <a:t>is automatically provided in the summary output. If the p-value is smaller than </a:t>
                </a:r>
                <a:r>
                  <a:rPr lang="el-GR" sz="800" dirty="0"/>
                  <a:t>α (</a:t>
                </a:r>
                <a:r>
                  <a:rPr lang="de-DE" sz="800" dirty="0"/>
                  <a:t>typically 0.05),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sz="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80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ar-AE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8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DE" sz="800" dirty="0"/>
                  <a:t>and conclude that a significant linear relationship exists; otherwise, do not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ar-AE" sz="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800" dirty="0"/>
                  <a:t>.</a:t>
                </a:r>
                <a:endParaRPr lang="en-DE" sz="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FFD903-B1BD-8C71-4B39-8CE8A85F8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521" y="822330"/>
                <a:ext cx="4827920" cy="461665"/>
              </a:xfrm>
              <a:prstGeom prst="rect">
                <a:avLst/>
              </a:prstGeom>
              <a:blipFill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9CDA34E5-D750-6D3F-CF04-158DF165B75F}"/>
              </a:ext>
            </a:extLst>
          </p:cNvPr>
          <p:cNvSpPr txBox="1"/>
          <p:nvPr/>
        </p:nvSpPr>
        <p:spPr>
          <a:xfrm>
            <a:off x="1876257" y="1213907"/>
            <a:ext cx="33949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/>
              <a:t>If the null value is outside the 95% CI, the result is significant at α = 0.05.</a:t>
            </a:r>
            <a:endParaRPr lang="en-DE" sz="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7E30FBD-DE68-FD3A-8337-F7E019EEC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112" y="169277"/>
            <a:ext cx="989677" cy="1168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47765B2-E051-426E-B933-DC8F290FE3F0}"/>
              </a:ext>
            </a:extLst>
          </p:cNvPr>
          <p:cNvSpPr txBox="1"/>
          <p:nvPr/>
        </p:nvSpPr>
        <p:spPr>
          <a:xfrm>
            <a:off x="8350171" y="255060"/>
            <a:ext cx="1448142" cy="414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plot(r ~ x,</a:t>
            </a:r>
          </a:p>
          <a:p>
            <a:pPr latinLnBrk="1"/>
            <a:r>
              <a:rPr lang="en-DE" sz="400" noProof="1"/>
              <a:t>     xlab = "Speed (mph)",</a:t>
            </a:r>
          </a:p>
          <a:p>
            <a:pPr latinLnBrk="1"/>
            <a:r>
              <a:rPr lang="en-DE" sz="400" noProof="1"/>
              <a:t>     ylab = "Standardized residual",</a:t>
            </a:r>
          </a:p>
          <a:p>
            <a:pPr latinLnBrk="1"/>
            <a:r>
              <a:rPr lang="en-DE" sz="400" noProof="1"/>
              <a:t>     main = "Standardized residuals vs speed")</a:t>
            </a:r>
          </a:p>
          <a:p>
            <a:pPr latinLnBrk="1"/>
            <a:r>
              <a:rPr lang="en-DE" sz="400" noProof="1"/>
              <a:t>abline(h = 0, lty = 2)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4A5E9A7-C85E-4164-EF2B-8CF4F09C08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046" t="14085" r="3309" b="17226"/>
          <a:stretch>
            <a:fillRect/>
          </a:stretch>
        </p:blipFill>
        <p:spPr>
          <a:xfrm>
            <a:off x="9442203" y="258871"/>
            <a:ext cx="258513" cy="3038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7057A7E-66CA-77F6-F40D-9F6CFB5C95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8259" y="603236"/>
            <a:ext cx="794026" cy="1266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F57D4C2-C6DC-DECE-B4B8-83364FA278B4}"/>
              </a:ext>
            </a:extLst>
          </p:cNvPr>
          <p:cNvSpPr txBox="1"/>
          <p:nvPr/>
        </p:nvSpPr>
        <p:spPr>
          <a:xfrm>
            <a:off x="8323892" y="669233"/>
            <a:ext cx="14815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400" noProof="1"/>
              <a:t>qqnorm(r, main = "Normal Q–Q plot of standardized residuals")</a:t>
            </a:r>
          </a:p>
          <a:p>
            <a:pPr latinLnBrk="1"/>
            <a:r>
              <a:rPr lang="en-DE" sz="400" noProof="1"/>
              <a:t>qqline(r)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76A3EC8-019C-7085-D935-38CEF8652D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3749" y="785658"/>
            <a:ext cx="657128" cy="38456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A8092EC-D913-60CA-EAAC-805214038ED2}"/>
                  </a:ext>
                </a:extLst>
              </p14:cNvPr>
              <p14:cNvContentPartPr/>
              <p14:nvPr/>
            </p14:nvContentPartPr>
            <p14:xfrm>
              <a:off x="8422478" y="219294"/>
              <a:ext cx="733320" cy="10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A8092EC-D913-60CA-EAAC-805214038E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04478" y="183294"/>
                <a:ext cx="7689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1410D49-566B-52C3-2708-B5090B67E0C1}"/>
                  </a:ext>
                </a:extLst>
              </p14:cNvPr>
              <p14:cNvContentPartPr/>
              <p14:nvPr/>
            </p14:nvContentPartPr>
            <p14:xfrm>
              <a:off x="9367838" y="229014"/>
              <a:ext cx="900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1410D49-566B-52C3-2708-B5090B67E0C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349838" y="193014"/>
                <a:ext cx="446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4C73822-D392-DAD5-A35B-98834BEBEC0F}"/>
                  </a:ext>
                </a:extLst>
              </p14:cNvPr>
              <p14:cNvContentPartPr/>
              <p14:nvPr/>
            </p14:nvContentPartPr>
            <p14:xfrm>
              <a:off x="9117638" y="226494"/>
              <a:ext cx="231120" cy="28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4C73822-D392-DAD5-A35B-98834BEBEC0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99610" y="185351"/>
                <a:ext cx="266816" cy="847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4B37AAF-491F-9806-9CCE-F9C78FBB78D6}"/>
                  </a:ext>
                </a:extLst>
              </p14:cNvPr>
              <p14:cNvContentPartPr/>
              <p14:nvPr/>
            </p14:nvContentPartPr>
            <p14:xfrm>
              <a:off x="8431838" y="655254"/>
              <a:ext cx="762120" cy="10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4B37AAF-491F-9806-9CCE-F9C78FBB78D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13829" y="619254"/>
                <a:ext cx="797777" cy="81720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0A0BC0F6-8825-A536-C5A9-14C69927C8F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28354" t="10597" b="40522"/>
          <a:stretch>
            <a:fillRect/>
          </a:stretch>
        </p:blipFill>
        <p:spPr>
          <a:xfrm>
            <a:off x="6683439" y="169277"/>
            <a:ext cx="1599390" cy="11236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430CD88-B62A-64A8-D4EB-B246CBA16E04}"/>
              </a:ext>
            </a:extLst>
          </p:cNvPr>
          <p:cNvSpPr txBox="1"/>
          <p:nvPr/>
        </p:nvSpPr>
        <p:spPr>
          <a:xfrm>
            <a:off x="6571727" y="240558"/>
            <a:ext cx="1904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DE" sz="800" noProof="1"/>
              <a:t>pred_ci &lt;- predict(fit_lin, newdata = data.frame(speed = x0), interval = "confidence", level = 0.95)</a:t>
            </a:r>
          </a:p>
          <a:p>
            <a:pPr latinLnBrk="1"/>
            <a:r>
              <a:rPr lang="en-DE" sz="800" noProof="1"/>
              <a:t>pred_pi &lt;- predict(fit_lin, newdata = data.frame(speed = x0), interval = "prediction", level = 0.95)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3382A22-D687-8CE9-4E71-A6E214DF3194}"/>
                  </a:ext>
                </a:extLst>
              </p14:cNvPr>
              <p14:cNvContentPartPr/>
              <p14:nvPr/>
            </p14:nvContentPartPr>
            <p14:xfrm>
              <a:off x="6756104" y="222286"/>
              <a:ext cx="1592073" cy="45719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3382A22-D687-8CE9-4E71-A6E214DF319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38086" y="174662"/>
                <a:ext cx="1627749" cy="140491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BC607C28-6F87-0730-FF34-5B257AB249A0}"/>
              </a:ext>
            </a:extLst>
          </p:cNvPr>
          <p:cNvSpPr txBox="1"/>
          <p:nvPr/>
        </p:nvSpPr>
        <p:spPr>
          <a:xfrm>
            <a:off x="1892525" y="1344468"/>
            <a:ext cx="3726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u="sng" dirty="0"/>
              <a:t>Prediction intervals </a:t>
            </a:r>
            <a:r>
              <a:rPr lang="en-GB" sz="800" dirty="0"/>
              <a:t>are always wider than confidence intervals because they include individual variability.</a:t>
            </a:r>
            <a:endParaRPr lang="en-DE" sz="8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3D19502-CE13-3E4E-12FD-454754502616}"/>
              </a:ext>
            </a:extLst>
          </p:cNvPr>
          <p:cNvGrpSpPr/>
          <p:nvPr/>
        </p:nvGrpSpPr>
        <p:grpSpPr>
          <a:xfrm>
            <a:off x="6619493" y="1170221"/>
            <a:ext cx="3265147" cy="1446550"/>
            <a:chOff x="4900051" y="2912366"/>
            <a:chExt cx="3265147" cy="144655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BFFADE7-4C01-D8B3-2D11-B1EDF409DA7E}"/>
                </a:ext>
              </a:extLst>
            </p:cNvPr>
            <p:cNvSpPr txBox="1"/>
            <p:nvPr/>
          </p:nvSpPr>
          <p:spPr>
            <a:xfrm>
              <a:off x="4900051" y="2912366"/>
              <a:ext cx="326514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800" b="1" noProof="1"/>
                <a:t>In 1–2 sentences each, define (in your own words): - population, sample, parameter, statistic.</a:t>
              </a:r>
              <a:br>
                <a:rPr lang="en-DE" sz="800" b="1" noProof="1"/>
              </a:br>
              <a:r>
                <a:rPr lang="en-DE" sz="800" b="1" noProof="1"/>
                <a:t>Population:</a:t>
              </a:r>
              <a:r>
                <a:rPr lang="en-DE" sz="800" noProof="1"/>
                <a:t> is the entire group of individuals or observations that you are interested in studying and about which you want to draw conclusions. </a:t>
              </a:r>
              <a:r>
                <a:rPr lang="en-DE" sz="800" b="1" noProof="1"/>
                <a:t>Sample:</a:t>
              </a:r>
              <a:r>
                <a:rPr lang="en-DE" sz="800" noProof="1"/>
                <a:t> is a subset of the population that is actually observed or measured, chosen to represent the population.</a:t>
              </a:r>
            </a:p>
            <a:p>
              <a:r>
                <a:rPr lang="en-DE" sz="800" b="1" noProof="1"/>
                <a:t>Parameter:</a:t>
              </a:r>
              <a:r>
                <a:rPr lang="en-DE" sz="800" noProof="1"/>
                <a:t> is a numerical</a:t>
              </a:r>
              <a:r>
                <a:rPr lang="en-GB" sz="800" noProof="1"/>
                <a:t> </a:t>
              </a:r>
              <a:r>
                <a:rPr lang="en-DE" sz="800" noProof="1"/>
                <a:t>value that describes a characteristic of a population (for example, the true mean or variance), and it is usually unknown.</a:t>
              </a:r>
            </a:p>
            <a:p>
              <a:r>
                <a:rPr lang="en-DE" sz="800" b="1" noProof="1"/>
                <a:t>Statistic:</a:t>
              </a:r>
              <a:r>
                <a:rPr lang="en-DE" sz="800" noProof="1"/>
                <a:t> A statistic is a numerical value calculated from a sample, used to estimate or make inferences about a population parameter.</a:t>
              </a:r>
            </a:p>
          </p:txBody>
        </p:sp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DEA5D04-65DC-29F5-4EAB-8409B75C883D}"/>
                    </a:ext>
                  </a:extLst>
                </p14:cNvPr>
                <p14:cNvContentPartPr/>
                <p14:nvPr/>
              </p14:nvContentPartPr>
              <p14:xfrm>
                <a:off x="5607465" y="3526760"/>
                <a:ext cx="245520" cy="28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DEA5D04-65DC-29F5-4EAB-8409B75C883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589465" y="3490760"/>
                  <a:ext cx="281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3607ED9-C6B5-3F2A-5B5F-7C68F45395D1}"/>
                    </a:ext>
                  </a:extLst>
                </p14:cNvPr>
                <p14:cNvContentPartPr/>
                <p14:nvPr/>
              </p14:nvContentPartPr>
              <p14:xfrm>
                <a:off x="5108000" y="3271867"/>
                <a:ext cx="193320" cy="2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3607ED9-C6B5-3F2A-5B5F-7C68F45395D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090000" y="3235867"/>
                  <a:ext cx="228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0F460B2-ED18-E979-F959-D9367DE7E310}"/>
                    </a:ext>
                  </a:extLst>
                </p14:cNvPr>
                <p14:cNvContentPartPr/>
                <p14:nvPr/>
              </p14:nvContentPartPr>
              <p14:xfrm>
                <a:off x="5108000" y="3754059"/>
                <a:ext cx="231120" cy="5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0F460B2-ED18-E979-F959-D9367DE7E31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90000" y="3720177"/>
                  <a:ext cx="266760" cy="731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3B018B4-1811-17E9-3D89-A98D2133AE3E}"/>
                    </a:ext>
                  </a:extLst>
                </p14:cNvPr>
                <p14:cNvContentPartPr/>
                <p14:nvPr/>
              </p14:nvContentPartPr>
              <p14:xfrm>
                <a:off x="5071911" y="4110680"/>
                <a:ext cx="209520" cy="5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3B018B4-1811-17E9-3D89-A98D2133AE3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053911" y="4074680"/>
                  <a:ext cx="245160" cy="77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Rectangle 3">
            <a:extLst>
              <a:ext uri="{FF2B5EF4-FFF2-40B4-BE49-F238E27FC236}">
                <a16:creationId xmlns:a16="http://schemas.microsoft.com/office/drawing/2014/main" id="{A3F8B1EF-B1B9-E3C6-AC43-0A8759D41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0705" y="-19054"/>
            <a:ext cx="275064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DE" altLang="en-DE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estimator</a:t>
            </a: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</a:t>
            </a:r>
            <a:r>
              <a:rPr kumimoji="0" lang="en-DE" altLang="en-DE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</a:t>
            </a: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the random variables </a:t>
            </a:r>
            <a:endParaRPr kumimoji="0" lang="en-GB" altLang="en-DE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DE" altLang="en-DE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</a:t>
            </a: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</a:t>
            </a:r>
            <a:r>
              <a:rPr kumimoji="0" lang="en-DE" altLang="en-DE" sz="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</a:t>
            </a:r>
            <a:r>
              <a:rPr kumimoji="0" lang="en-DE" altLang="en-DE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get when you plug your observed data into that formula.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176BA74-BEF4-26E3-8AA4-DD277B4E7DA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83798" y="1626533"/>
            <a:ext cx="1997776" cy="32299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B73DB89-D711-C333-D499-9911FE352686}"/>
              </a:ext>
            </a:extLst>
          </p:cNvPr>
          <p:cNvSpPr txBox="1"/>
          <p:nvPr/>
        </p:nvSpPr>
        <p:spPr>
          <a:xfrm>
            <a:off x="3961680" y="1502251"/>
            <a:ext cx="2657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A 95% confidence interval gives the range of plausible values for the true population mean.</a:t>
            </a:r>
            <a:endParaRPr lang="en-DE" sz="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AE0EED-B3C0-ACBB-375B-51E066BC3857}"/>
              </a:ext>
            </a:extLst>
          </p:cNvPr>
          <p:cNvSpPr txBox="1"/>
          <p:nvPr/>
        </p:nvSpPr>
        <p:spPr>
          <a:xfrm>
            <a:off x="3981574" y="1710228"/>
            <a:ext cx="3826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Higher confidence → wider CI. Larger sample → narrower CI.</a:t>
            </a:r>
            <a:endParaRPr lang="en-DE" sz="8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AA21F74-9DB5-60FA-ED8F-46BAE82976D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5942" y="2265657"/>
            <a:ext cx="2079807" cy="125555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A30CBD3F-AF7F-3042-8125-1BCFF583A82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26193" y="2685697"/>
            <a:ext cx="2079807" cy="899775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4A23A05-F9C1-B05A-0675-E93011B116A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607771" y="1877416"/>
            <a:ext cx="2021867" cy="1084904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7D1EFA3E-F3CB-9D77-8515-684E6C3C20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042721" y="1949527"/>
            <a:ext cx="2525681" cy="878498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8E576858-6D6E-3021-C102-588B04DDC9CF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701812" y="4402420"/>
            <a:ext cx="1869647" cy="1669922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48EB8CEE-41E8-B798-A78A-AAB91AB7E64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530805" y="3864673"/>
            <a:ext cx="1990002" cy="1176649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9267DC20-FE25-A935-6F7C-235B49DADA06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5942" y="3480689"/>
            <a:ext cx="2418246" cy="1203576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74C41B80-EDD1-A09B-00EF-CB94B354FC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43" t="21499" r="29689" b="60432"/>
          <a:stretch>
            <a:fillRect/>
          </a:stretch>
        </p:blipFill>
        <p:spPr>
          <a:xfrm>
            <a:off x="1947885" y="157905"/>
            <a:ext cx="1481594" cy="183675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3F93E698-1641-E989-54B7-28C62607B97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043754" y="2805730"/>
            <a:ext cx="1965988" cy="1049296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A004C4F4-00A1-165C-A7FC-E00E33FDDF6C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12520" y="2962320"/>
            <a:ext cx="2089039" cy="1220045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F9AB462A-5E76-6C7F-EDF2-8A3AA10BB73A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079139" y="2986213"/>
            <a:ext cx="1783108" cy="108490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05FB9B07-D027-0904-D846-870CCCFEDE4B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45368" y="3585472"/>
            <a:ext cx="2079807" cy="799084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E2ACD5FF-E395-E975-EA68-7FA00D9E7E10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568402" y="4210258"/>
            <a:ext cx="2474137" cy="111802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604CEA8C-E0F3-7F0C-73B1-50FAC9BDCBB3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4964" y="4684265"/>
            <a:ext cx="2418246" cy="996674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D6210787-8A27-EF3D-AAC4-1C69885BAE4B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512232" y="5041322"/>
            <a:ext cx="2089039" cy="770176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484393C4-3331-8B27-75EA-489C7D684D66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582041" y="5328278"/>
            <a:ext cx="2209312" cy="933581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5F223F25-F3CA-1FA0-3120-89A552138D7B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0" y="5639780"/>
            <a:ext cx="2418246" cy="1117324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E7A72CE2-CDD5-F891-4615-F82631A0DB30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707531" y="6072342"/>
            <a:ext cx="3198469" cy="755119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7D3AB74-AE85-5E20-995C-62B5B291EC4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531423" y="5811499"/>
            <a:ext cx="2069848" cy="95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235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49625-368C-3AC5-33D6-64DE0DBA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C6C5E3-C4FB-9702-96F1-AC6DAB0A0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181698"/>
              </p:ext>
            </p:extLst>
          </p:nvPr>
        </p:nvGraphicFramePr>
        <p:xfrm>
          <a:off x="1" y="9522"/>
          <a:ext cx="3513534" cy="29305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2905">
                  <a:extLst>
                    <a:ext uri="{9D8B030D-6E8A-4147-A177-3AD203B41FA5}">
                      <a16:colId xmlns:a16="http://schemas.microsoft.com/office/drawing/2014/main" val="638238951"/>
                    </a:ext>
                  </a:extLst>
                </a:gridCol>
                <a:gridCol w="2710629">
                  <a:extLst>
                    <a:ext uri="{9D8B030D-6E8A-4147-A177-3AD203B41FA5}">
                      <a16:colId xmlns:a16="http://schemas.microsoft.com/office/drawing/2014/main" val="3697114364"/>
                    </a:ext>
                  </a:extLst>
                </a:gridCol>
              </a:tblGrid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floor(x)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rundet ab.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387352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seq(0,1,0.01)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Zahlenfolge von 0 bis 1 in Schritten von 0,01.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531568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max()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größten Wert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076764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sqrt()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Quadratwurzel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32869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abs()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Abstand zur 0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273392"/>
                  </a:ext>
                </a:extLst>
              </a:tr>
              <a:tr h="2174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mean(x%%3==0 | x%%5==0)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relative Häufigkeit der Elemente in x, die durch 3 oder 5 teilbar sind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561645"/>
                  </a:ext>
                </a:extLst>
              </a:tr>
              <a:tr h="21741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mean(A &amp; C)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gemeinsame Wahrscheinlichkeit (Schnittmenge) beider Bedingungen.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864160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iseven &lt;- x %% 2 == 0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logical Vector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05746"/>
                  </a:ext>
                </a:extLst>
              </a:tr>
              <a:tr h="1032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which.max()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liefert den Index des größten Werts im Vektor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320619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factor(other)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converts vector in factors (same elements get the same number)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306799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table(other)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frequency table (insert factors)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769441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prop.table(other, modifyer)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proportion table (modifier = 1 -&gt; row-wise ; modifier = 2 -&gt; column-wise) (insert counts)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940729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rowSums(M)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berechnet die Summe der Werte jeder Zeile der Matrix oder des Data Frames M.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191191"/>
                  </a:ext>
                </a:extLst>
              </a:tr>
              <a:tr h="1087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nrow()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gibt die Anzahl der Zeilen eines Data Frames oder einer Matrix zurück.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87" marR="3587" marT="35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99416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CF14C2-6B25-CCDE-47C2-89B67AD85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12513"/>
              </p:ext>
            </p:extLst>
          </p:nvPr>
        </p:nvGraphicFramePr>
        <p:xfrm>
          <a:off x="3513536" y="9522"/>
          <a:ext cx="3799287" cy="631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7214">
                  <a:extLst>
                    <a:ext uri="{9D8B030D-6E8A-4147-A177-3AD203B41FA5}">
                      <a16:colId xmlns:a16="http://schemas.microsoft.com/office/drawing/2014/main" val="1503369820"/>
                    </a:ext>
                  </a:extLst>
                </a:gridCol>
                <a:gridCol w="1312073">
                  <a:extLst>
                    <a:ext uri="{9D8B030D-6E8A-4147-A177-3AD203B41FA5}">
                      <a16:colId xmlns:a16="http://schemas.microsoft.com/office/drawing/2014/main" val="5668215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abline(lm(y ~ x, data = DF2))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fitted least‑squares line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146599"/>
                  </a:ext>
                </a:extLst>
              </a:tr>
              <a:tr h="289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ggplot(bwt, aes(x = bwt)) +   geom_histogram(binwidth = 100) +   ggtitle("Age with width = 100 and ggplot")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erstellt mit ggplot2 ein Histogramm der Variable bwt, verwendet Klassenbreite 100 und setzt den Titel des Diagramms auf „Age with width = 100 and ggplot“.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14647"/>
                  </a:ext>
                </a:extLst>
              </a:tr>
              <a:tr h="144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ggplot(bwt, aes(x = bwt)) + stat_ecdf()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ecdf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115714"/>
                  </a:ext>
                </a:extLst>
              </a:tr>
              <a:tr h="2173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u="none" strike="noStrike" dirty="0" err="1">
                          <a:effectLst/>
                        </a:rPr>
                        <a:t>ggplot</a:t>
                      </a:r>
                      <a:r>
                        <a:rPr lang="en-GB" sz="900" u="none" strike="noStrike" dirty="0">
                          <a:effectLst/>
                        </a:rPr>
                        <a:t>(</a:t>
                      </a:r>
                      <a:r>
                        <a:rPr lang="en-GB" sz="900" u="none" strike="noStrike" dirty="0" err="1">
                          <a:effectLst/>
                        </a:rPr>
                        <a:t>aes</a:t>
                      </a:r>
                      <a:r>
                        <a:rPr lang="en-GB" sz="900" u="none" strike="noStrike" dirty="0">
                          <a:effectLst/>
                        </a:rPr>
                        <a:t>(x = </a:t>
                      </a:r>
                      <a:r>
                        <a:rPr lang="en-GB" sz="900" u="none" strike="noStrike" dirty="0" err="1">
                          <a:effectLst/>
                        </a:rPr>
                        <a:t>t_mean</a:t>
                      </a:r>
                      <a:r>
                        <a:rPr lang="en-GB" sz="900" u="none" strike="noStrike" dirty="0">
                          <a:effectLst/>
                        </a:rPr>
                        <a:t>, colour = season))+</a:t>
                      </a:r>
                      <a:br>
                        <a:rPr lang="en-GB" sz="900" u="none" strike="noStrike" dirty="0">
                          <a:effectLst/>
                        </a:rPr>
                      </a:br>
                      <a:r>
                        <a:rPr lang="en-GB" sz="900" u="none" strike="noStrike" dirty="0">
                          <a:effectLst/>
                        </a:rPr>
                        <a:t>  stat_ecdf(na.rm = TRUE)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Ecdf getrennt nach season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440141"/>
                  </a:ext>
                </a:extLst>
              </a:tr>
              <a:tr h="2844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ggplot(aes(x = t_mean, colour = season))+</a:t>
                      </a:r>
                      <a:br>
                        <a:rPr lang="en-GB" sz="900" u="none" strike="noStrike">
                          <a:effectLst/>
                        </a:rPr>
                      </a:br>
                      <a:r>
                        <a:rPr lang="en-GB" sz="900" u="none" strike="noStrike">
                          <a:effectLst/>
                        </a:rPr>
                        <a:t>  geom_boxplot(na.rm = TRUE)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boxplot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234312"/>
                  </a:ext>
                </a:extLst>
              </a:tr>
              <a:tr h="2173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ggplot(aes(x = wet, colour = season))+</a:t>
                      </a:r>
                      <a:br>
                        <a:rPr lang="en-GB" sz="900" u="none" strike="noStrike">
                          <a:effectLst/>
                        </a:rPr>
                      </a:br>
                      <a:r>
                        <a:rPr lang="en-GB" sz="900" u="none" strike="noStrike">
                          <a:effectLst/>
                        </a:rPr>
                        <a:t>  geom_bar()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balkendiagramm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59004"/>
                  </a:ext>
                </a:extLst>
              </a:tr>
              <a:tr h="7758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ggplot(diag_tbl, aes(x = .fitted, y = .resid)) +</a:t>
                      </a:r>
                      <a:br>
                        <a:rPr lang="de-DE" sz="900" u="none" strike="noStrike" dirty="0">
                          <a:effectLst/>
                        </a:rPr>
                      </a:br>
                      <a:r>
                        <a:rPr lang="de-DE" sz="900" u="none" strike="noStrike" dirty="0">
                          <a:effectLst/>
                        </a:rPr>
                        <a:t>  geom_point() + geom_hline(yintercept = 0, linetype = "dashed") +</a:t>
                      </a:r>
                      <a:br>
                        <a:rPr lang="de-DE" sz="900" u="none" strike="noStrike" dirty="0">
                          <a:effectLst/>
                        </a:rPr>
                      </a:br>
                      <a:r>
                        <a:rPr lang="de-DE" sz="900" u="none" strike="noStrike" dirty="0">
                          <a:effectLst/>
                        </a:rPr>
                        <a:t>  labs(  title = "Residuals vs Fitted", x = "Fitted values", y = "Residuals")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Residuen gegen Vorhersage Diagramm.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820866"/>
                  </a:ext>
                </a:extLst>
              </a:tr>
              <a:tr h="144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u="none" strike="noStrike" dirty="0" err="1">
                          <a:effectLst/>
                        </a:rPr>
                        <a:t>z_score</a:t>
                      </a:r>
                      <a:r>
                        <a:rPr lang="fr-FR" sz="900" u="none" strike="noStrike" dirty="0">
                          <a:effectLst/>
                        </a:rPr>
                        <a:t> &lt;- </a:t>
                      </a:r>
                      <a:r>
                        <a:rPr lang="fr-FR" sz="900" u="none" strike="noStrike" dirty="0" err="1">
                          <a:effectLst/>
                        </a:rPr>
                        <a:t>function</a:t>
                      </a:r>
                      <a:r>
                        <a:rPr lang="fr-FR" sz="900" u="none" strike="noStrike" dirty="0">
                          <a:effectLst/>
                        </a:rPr>
                        <a:t>(x) </a:t>
                      </a:r>
                      <a:br>
                        <a:rPr lang="fr-FR" sz="900" u="none" strike="noStrike" dirty="0">
                          <a:effectLst/>
                        </a:rPr>
                      </a:br>
                      <a:r>
                        <a:rPr lang="fr-FR" sz="900" u="none" strike="noStrike" dirty="0">
                          <a:effectLst/>
                        </a:rPr>
                        <a:t>{ CODE }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funktion mit x als attribut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546299"/>
                  </a:ext>
                </a:extLst>
              </a:tr>
              <a:tr h="144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replicate(n, expr)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führt den Ausdruck expr n-mal aus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956405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which(pm &gt; 0.5)[1] 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 liefert den Index des ersten Elements im Vektor pm, das größer als 0.5 ist.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249594"/>
                  </a:ext>
                </a:extLst>
              </a:tr>
              <a:tr h="1440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na.omit()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entfernt alle Zeilen, die mindestens einen NA-Wert enthalten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427694"/>
                  </a:ext>
                </a:extLst>
              </a:tr>
              <a:tr h="144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mutate()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fügt neue Spalten zu einem Data Frame hinzu oder verändert bestehende Spalten, 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213750"/>
                  </a:ext>
                </a:extLst>
              </a:tr>
              <a:tr h="73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select()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wählt gezielt Spalten aus einem Data Frame aus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576517"/>
                  </a:ext>
                </a:extLst>
              </a:tr>
              <a:tr h="1304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filter()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wählt Zeilen aus einem Data Frame aus, die eine oder mehrere logische Bedingungen erfüllen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191859"/>
                  </a:ext>
                </a:extLst>
              </a:tr>
              <a:tr h="144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summarise(across(everything(), ~sum(is.na(.))))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zählt für jede Spalte eines Data Frames die Anzahl der NA-Werte und gibt das Ergebnis als eine Zeile zurück.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8271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BCF50C-E7F7-4C2D-C8C8-15742DE5BC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320371"/>
              </p:ext>
            </p:extLst>
          </p:nvPr>
        </p:nvGraphicFramePr>
        <p:xfrm>
          <a:off x="7312823" y="9522"/>
          <a:ext cx="2616257" cy="6490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4528">
                  <a:extLst>
                    <a:ext uri="{9D8B030D-6E8A-4147-A177-3AD203B41FA5}">
                      <a16:colId xmlns:a16="http://schemas.microsoft.com/office/drawing/2014/main" val="3566663410"/>
                    </a:ext>
                  </a:extLst>
                </a:gridCol>
                <a:gridCol w="1921729">
                  <a:extLst>
                    <a:ext uri="{9D8B030D-6E8A-4147-A177-3AD203B41FA5}">
                      <a16:colId xmlns:a16="http://schemas.microsoft.com/office/drawing/2014/main" val="1489198000"/>
                    </a:ext>
                  </a:extLst>
                </a:gridCol>
              </a:tblGrid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sapply()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versucht aber das Ergebnis in einen Vektor oder eine Matrix zu vereinfachen.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553051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tapply()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Wendet eine Funktion auf Gruppen eines Vektors an, die durch einen Faktor definiert sind.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460946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fit &lt;- lm(y ~ x)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Erstellt ein lineares Regressionsmodell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129351"/>
                  </a:ext>
                </a:extLst>
              </a:tr>
              <a:tr h="94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summary(fit)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 (Koeffizienten, R², Standardfehler etc.).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175472"/>
                  </a:ext>
                </a:extLst>
              </a:tr>
              <a:tr h="1802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p &lt;- c("1" = 1/2, "2" = 1/3, "3" = 1/6)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setzt die Wahrscheinlichkeiten für die Ereignisse {1}, {2} und {3}.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683698"/>
                  </a:ext>
                </a:extLst>
              </a:tr>
              <a:tr h="946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P_12 = sum(p[c("1","2")])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wählt die Wahrscheinlichkeiten für die Ereignisse {1} und {2} aus. | Ergibt also c(1/2, 1/3).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649190"/>
                  </a:ext>
                </a:extLst>
              </a:tr>
              <a:tr h="2041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choose(deck,cards)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die Anzahl der möglichen Kombinationen, wenn man cards Karten ohne Zurücklegen und ohne Reihenfolge aus einem deck von 52 Karten zieht.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386329"/>
                  </a:ext>
                </a:extLst>
              </a:tr>
              <a:tr h="1992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pnorm(2)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gibt die Wahrscheinlichkeit an, dass eine standardnormalverteilte Zufallsvariable kleiner oder gleich 2 ist (also P(X≤2)P(X \le 2)P(X≤2)).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408415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pnorm(6) - pnorm(2)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Zwischen 2 und 7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103025"/>
                  </a:ext>
                </a:extLst>
              </a:tr>
              <a:tr h="1842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ecdf(x)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erstellt die empirische Verteilungsfunktion der Daten in x, also eine Funktion, die für jeden Wert den Anteil der Beobachtungen ≤ diesem Wert angibt.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117781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quantile(bwt$lwt, 0.75)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berechnet das 75%-Quantil (3. Quartil) der Variable lwt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310760"/>
                  </a:ext>
                </a:extLst>
              </a:tr>
              <a:tr h="1992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(quantile(bwt$lwt, 0.75) - quantile(bwt$lwt, 0.25)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Interquartile Range (IQR), also die Spannweite zwischen dem 3. und 1. Quartil.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236520"/>
                  </a:ext>
                </a:extLst>
              </a:tr>
              <a:tr h="2988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cor.test(test,test2)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führt einen statistischen Test auf Korrelation zwischen den beiden numerischen Vektoren test und test2 durch und liefert Korrelationskoeffizient, p-Wert und Konfidenzintervall. positives r → positiver Zusammenhang |r| klein (~0.2) → schwacher Zusammenhang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539772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names(vals)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gets or sets the names of </a:t>
                      </a:r>
                      <a:r>
                        <a:rPr lang="en-GB" sz="900" u="none" strike="noStrike" dirty="0" err="1">
                          <a:effectLst/>
                        </a:rPr>
                        <a:t>vals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00862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B446557-3B3A-42E8-12E9-6D5E5B6FA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431864"/>
              </p:ext>
            </p:extLst>
          </p:nvPr>
        </p:nvGraphicFramePr>
        <p:xfrm>
          <a:off x="0" y="2940246"/>
          <a:ext cx="3513534" cy="1658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48666">
                  <a:extLst>
                    <a:ext uri="{9D8B030D-6E8A-4147-A177-3AD203B41FA5}">
                      <a16:colId xmlns:a16="http://schemas.microsoft.com/office/drawing/2014/main" val="559467142"/>
                    </a:ext>
                  </a:extLst>
                </a:gridCol>
                <a:gridCol w="2264868">
                  <a:extLst>
                    <a:ext uri="{9D8B030D-6E8A-4147-A177-3AD203B41FA5}">
                      <a16:colId xmlns:a16="http://schemas.microsoft.com/office/drawing/2014/main" val="3213410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 rep("MS", 5)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string 5 mal in vector speichern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593406"/>
                  </a:ext>
                </a:extLst>
              </a:tr>
              <a:tr h="1449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read.csv("path/to/your/file.csv", sep = ";")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Reading a CSV File with a Different Delimiter (standard is ",")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929454"/>
                  </a:ext>
                </a:extLst>
              </a:tr>
              <a:tr h="2142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write.csv(df, "D:\\Bobdata.csv", row.names=FALSE)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Export a Data Frame to a CSV File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275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fp &lt;- tempfile(fileext = ".csv")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create a temporary file to write the contents to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596338"/>
                  </a:ext>
                </a:extLst>
              </a:tr>
              <a:tr h="2173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>
                          <a:effectLst/>
                        </a:rPr>
                        <a:t>plot(DF2$x, DF2$y, pch = 19, main = "Scatter with LS line", xlab = "x", ylab = "y")</a:t>
                      </a:r>
                      <a:endParaRPr lang="de-DE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create a simple plot with descriptions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69156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9459DA0-2C94-C351-4366-DACAB3F57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175505"/>
              </p:ext>
            </p:extLst>
          </p:nvPr>
        </p:nvGraphicFramePr>
        <p:xfrm>
          <a:off x="0" y="4875822"/>
          <a:ext cx="3513536" cy="6883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0146">
                  <a:extLst>
                    <a:ext uri="{9D8B030D-6E8A-4147-A177-3AD203B41FA5}">
                      <a16:colId xmlns:a16="http://schemas.microsoft.com/office/drawing/2014/main" val="4216787210"/>
                    </a:ext>
                  </a:extLst>
                </a:gridCol>
                <a:gridCol w="1213390">
                  <a:extLst>
                    <a:ext uri="{9D8B030D-6E8A-4147-A177-3AD203B41FA5}">
                      <a16:colId xmlns:a16="http://schemas.microsoft.com/office/drawing/2014/main" val="37466759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hist(x, breaks, </a:t>
                      </a:r>
                      <a:r>
                        <a:rPr lang="en-GB" sz="900" u="none" strike="noStrike" dirty="0" err="1">
                          <a:effectLst/>
                        </a:rPr>
                        <a:t>freq</a:t>
                      </a:r>
                      <a:r>
                        <a:rPr lang="en-GB" sz="900" u="none" strike="noStrike" dirty="0">
                          <a:effectLst/>
                        </a:rPr>
                        <a:t>, main)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erstellt ein Histogramm, das die Häufigkeitsverteilung von numerischen Daten grafisch darstellt.</a:t>
                      </a:r>
                      <a:endParaRPr lang="de-DE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56" marR="2556" marT="255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292865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4FFEE25-BE35-81EE-D690-6BDA6DCC6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381249"/>
              </p:ext>
            </p:extLst>
          </p:nvPr>
        </p:nvGraphicFramePr>
        <p:xfrm>
          <a:off x="3513535" y="6318424"/>
          <a:ext cx="3799287" cy="383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8206">
                  <a:extLst>
                    <a:ext uri="{9D8B030D-6E8A-4147-A177-3AD203B41FA5}">
                      <a16:colId xmlns:a16="http://schemas.microsoft.com/office/drawing/2014/main" val="2933402335"/>
                    </a:ext>
                  </a:extLst>
                </a:gridCol>
                <a:gridCol w="2931081">
                  <a:extLst>
                    <a:ext uri="{9D8B030D-6E8A-4147-A177-3AD203B41FA5}">
                      <a16:colId xmlns:a16="http://schemas.microsoft.com/office/drawing/2014/main" val="1858693849"/>
                    </a:ext>
                  </a:extLst>
                </a:gridCol>
              </a:tblGrid>
              <a:tr h="3834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sapply()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Wie lapply(), versucht aber das Ergebnis in einen Vektor oder eine Matrix zu vereinfachen.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430996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207C2C6-2CD5-4EE5-950B-FD54C2373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625981"/>
              </p:ext>
            </p:extLst>
          </p:nvPr>
        </p:nvGraphicFramePr>
        <p:xfrm>
          <a:off x="0" y="5564178"/>
          <a:ext cx="3513534" cy="280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13534">
                  <a:extLst>
                    <a:ext uri="{9D8B030D-6E8A-4147-A177-3AD203B41FA5}">
                      <a16:colId xmlns:a16="http://schemas.microsoft.com/office/drawing/2014/main" val="2392407"/>
                    </a:ext>
                  </a:extLst>
                </a:gridCol>
              </a:tblGrid>
              <a:tr h="996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 Wenn du einfach nur jede Zeile aufsummieren willst → rowSums()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0311205"/>
                  </a:ext>
                </a:extLst>
              </a:tr>
              <a:tr h="9960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900" u="none" strike="noStrike" dirty="0">
                          <a:effectLst/>
                        </a:rPr>
                        <a:t>Wenn du Zeilen nach Gruppen zusammenfassen willst → rowsum()</a:t>
                      </a:r>
                      <a:endParaRPr lang="de-DE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160" marR="3160" marT="316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885276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B8575922-8C2E-4C5F-4627-F7B0FDDC8B3D}"/>
              </a:ext>
            </a:extLst>
          </p:cNvPr>
          <p:cNvGrpSpPr/>
          <p:nvPr/>
        </p:nvGrpSpPr>
        <p:grpSpPr>
          <a:xfrm>
            <a:off x="-634660" y="5815315"/>
            <a:ext cx="2678890" cy="568140"/>
            <a:chOff x="-439241" y="3386038"/>
            <a:chExt cx="2678890" cy="56814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66647B-862B-C930-888C-4C702E7C33B1}"/>
                </a:ext>
              </a:extLst>
            </p:cNvPr>
            <p:cNvSpPr txBox="1"/>
            <p:nvPr/>
          </p:nvSpPr>
          <p:spPr>
            <a:xfrm>
              <a:off x="547834" y="3386038"/>
              <a:ext cx="16372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noProof="0" dirty="0"/>
                <a:t>Geometric(p)</a:t>
              </a:r>
              <a:br>
                <a:rPr lang="en-US" sz="800" noProof="0" dirty="0"/>
              </a:br>
              <a:endParaRPr lang="en-US" sz="800" noProof="0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5CBA825-84E0-4A7E-2B96-D8E80D1EE342}"/>
                </a:ext>
              </a:extLst>
            </p:cNvPr>
            <p:cNvSpPr txBox="1"/>
            <p:nvPr/>
          </p:nvSpPr>
          <p:spPr>
            <a:xfrm>
              <a:off x="-439241" y="3509467"/>
              <a:ext cx="267889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noProof="0" dirty="0" err="1"/>
                <a:t>rgeom</a:t>
              </a:r>
              <a:r>
                <a:rPr lang="en-US" sz="800" b="1" noProof="0" dirty="0"/>
                <a:t>(N, prob = </a:t>
              </a:r>
              <a:r>
                <a:rPr lang="en-US" sz="800" b="1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Probability</a:t>
              </a:r>
              <a:r>
                <a:rPr lang="en-US" sz="800" b="1" noProof="0" dirty="0"/>
                <a:t>)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370FEE7-22E8-6425-5AFF-2D32837079C0}"/>
                </a:ext>
              </a:extLst>
            </p:cNvPr>
            <p:cNvSpPr txBox="1"/>
            <p:nvPr/>
          </p:nvSpPr>
          <p:spPr>
            <a:xfrm>
              <a:off x="155978" y="3615624"/>
              <a:ext cx="204566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800" dirty="0"/>
                <a:t>curve(</a:t>
              </a:r>
              <a:r>
                <a:rPr lang="en-GB" sz="800" dirty="0" err="1"/>
                <a:t>dgeom</a:t>
              </a:r>
              <a:r>
                <a:rPr lang="en-GB" sz="800" dirty="0"/>
                <a:t>(floor(x), prob = 0.3), from = 0, to = 20, add = TRUE)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4C1358A-81F2-6C2B-8068-15F9F07DFF64}"/>
              </a:ext>
            </a:extLst>
          </p:cNvPr>
          <p:cNvGrpSpPr/>
          <p:nvPr/>
        </p:nvGrpSpPr>
        <p:grpSpPr>
          <a:xfrm>
            <a:off x="-212808" y="6388445"/>
            <a:ext cx="1739684" cy="417041"/>
            <a:chOff x="2350886" y="3320491"/>
            <a:chExt cx="2392403" cy="4170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8EC3043-91D0-C271-6217-091D14AC5890}"/>
                </a:ext>
              </a:extLst>
            </p:cNvPr>
            <p:cNvSpPr txBox="1"/>
            <p:nvPr/>
          </p:nvSpPr>
          <p:spPr>
            <a:xfrm>
              <a:off x="2350886" y="3411285"/>
              <a:ext cx="239240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noProof="0" dirty="0" err="1"/>
                <a:t>rexp</a:t>
              </a:r>
              <a:r>
                <a:rPr lang="en-US" sz="800" b="1" noProof="0" dirty="0"/>
                <a:t>(</a:t>
              </a:r>
              <a:r>
                <a:rPr lang="en-US" sz="800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vector length</a:t>
              </a:r>
              <a:r>
                <a:rPr lang="en-US" sz="800" b="1" noProof="0" dirty="0"/>
                <a:t>, rate = </a:t>
              </a:r>
              <a:r>
                <a:rPr lang="en-US" sz="800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λ</a:t>
              </a:r>
              <a:r>
                <a:rPr lang="en-US" sz="800" b="1" noProof="0" dirty="0"/>
                <a:t>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01E4BC-B113-14E1-E0AA-1139F974F782}"/>
                </a:ext>
              </a:extLst>
            </p:cNvPr>
            <p:cNvSpPr txBox="1"/>
            <p:nvPr/>
          </p:nvSpPr>
          <p:spPr>
            <a:xfrm>
              <a:off x="3126271" y="3320491"/>
              <a:ext cx="147286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noProof="0" dirty="0"/>
                <a:t>Exponential(λ)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856CC8D-6F55-B7C2-E58B-CB343B004DEA}"/>
                </a:ext>
              </a:extLst>
            </p:cNvPr>
            <p:cNvSpPr txBox="1"/>
            <p:nvPr/>
          </p:nvSpPr>
          <p:spPr>
            <a:xfrm>
              <a:off x="2562274" y="3522088"/>
              <a:ext cx="192562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DE" sz="800" dirty="0"/>
                <a:t>curve(</a:t>
              </a:r>
              <a:r>
                <a:rPr lang="en-DE" sz="800" dirty="0" err="1"/>
                <a:t>dexp</a:t>
              </a:r>
              <a:r>
                <a:rPr lang="en-DE" sz="800" dirty="0"/>
                <a:t>(x, rate = 0.5), add = TRUE)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CAF3D3A-120F-A59B-0172-B56BD339CE50}"/>
              </a:ext>
            </a:extLst>
          </p:cNvPr>
          <p:cNvGrpSpPr/>
          <p:nvPr/>
        </p:nvGrpSpPr>
        <p:grpSpPr>
          <a:xfrm>
            <a:off x="1857782" y="5798196"/>
            <a:ext cx="1727827" cy="449357"/>
            <a:chOff x="4661406" y="3288175"/>
            <a:chExt cx="2244882" cy="449357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A24F9DB-8772-FA26-F31B-F489DB9B5F7D}"/>
                </a:ext>
              </a:extLst>
            </p:cNvPr>
            <p:cNvSpPr txBox="1"/>
            <p:nvPr/>
          </p:nvSpPr>
          <p:spPr>
            <a:xfrm>
              <a:off x="5365186" y="3288175"/>
              <a:ext cx="12819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noProof="0" dirty="0"/>
                <a:t>Uniform[L, R]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A2911C6-E5F4-63A5-8802-6275033A86B6}"/>
                </a:ext>
              </a:extLst>
            </p:cNvPr>
            <p:cNvSpPr txBox="1"/>
            <p:nvPr/>
          </p:nvSpPr>
          <p:spPr>
            <a:xfrm>
              <a:off x="4661406" y="3398978"/>
              <a:ext cx="216603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noProof="0" dirty="0" err="1"/>
                <a:t>runif</a:t>
              </a:r>
              <a:r>
                <a:rPr lang="en-US" sz="800" b="1" noProof="0" dirty="0"/>
                <a:t>(</a:t>
              </a:r>
              <a:r>
                <a:rPr lang="en-US" sz="800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vector length</a:t>
              </a:r>
              <a:r>
                <a:rPr lang="en-US" sz="800" b="1" noProof="0" dirty="0"/>
                <a:t>)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7F3CDD7-A2F4-D3EA-C24E-7F11F6832898}"/>
                </a:ext>
              </a:extLst>
            </p:cNvPr>
            <p:cNvSpPr txBox="1"/>
            <p:nvPr/>
          </p:nvSpPr>
          <p:spPr>
            <a:xfrm>
              <a:off x="4759373" y="3507902"/>
              <a:ext cx="214691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DE" sz="800" dirty="0"/>
                <a:t>curve(</a:t>
              </a:r>
              <a:r>
                <a:rPr lang="en-DE" sz="800" dirty="0" err="1"/>
                <a:t>dunif</a:t>
              </a:r>
              <a:r>
                <a:rPr lang="en-DE" sz="800" dirty="0"/>
                <a:t>(x, min = 0, max = 1), add = TRUE)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6F5332A-0BE3-F1E0-55FF-7FCDA2BD60D5}"/>
              </a:ext>
            </a:extLst>
          </p:cNvPr>
          <p:cNvGrpSpPr/>
          <p:nvPr/>
        </p:nvGrpSpPr>
        <p:grpSpPr>
          <a:xfrm>
            <a:off x="1333197" y="6351494"/>
            <a:ext cx="2107418" cy="467563"/>
            <a:chOff x="173676" y="4396167"/>
            <a:chExt cx="2107418" cy="46756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1CF3957-5672-BBA7-859C-A49F19608C3B}"/>
                </a:ext>
              </a:extLst>
            </p:cNvPr>
            <p:cNvGrpSpPr/>
            <p:nvPr/>
          </p:nvGrpSpPr>
          <p:grpSpPr>
            <a:xfrm>
              <a:off x="173676" y="4396167"/>
              <a:ext cx="2107418" cy="447283"/>
              <a:chOff x="5081801" y="927628"/>
              <a:chExt cx="2508535" cy="3862964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57D3260-70BC-0ABB-DEB9-0BD10CE5D078}"/>
                  </a:ext>
                </a:extLst>
              </p:cNvPr>
              <p:cNvSpPr txBox="1"/>
              <p:nvPr/>
            </p:nvSpPr>
            <p:spPr>
              <a:xfrm>
                <a:off x="5081801" y="1866667"/>
                <a:ext cx="2508535" cy="2923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 noProof="0" dirty="0" err="1"/>
                  <a:t>rnorm</a:t>
                </a:r>
                <a:r>
                  <a:rPr lang="en-US" sz="800" b="1" noProof="0" dirty="0"/>
                  <a:t>(</a:t>
                </a:r>
                <a:r>
                  <a:rPr lang="en-US" sz="800" noProof="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n</a:t>
                </a:r>
                <a:r>
                  <a:rPr lang="en-US" sz="800" b="1" noProof="0" dirty="0" err="1"/>
                  <a:t>,</a:t>
                </a:r>
                <a:r>
                  <a:rPr lang="en-US" sz="800" noProof="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MEAN</a:t>
                </a:r>
                <a:r>
                  <a:rPr lang="en-US" sz="800" b="1" noProof="0" dirty="0" err="1"/>
                  <a:t>,</a:t>
                </a:r>
                <a:r>
                  <a:rPr lang="en-US" sz="800" noProof="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Standard</a:t>
                </a:r>
                <a:r>
                  <a:rPr lang="en-US" sz="800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Deviation</a:t>
                </a:r>
                <a:r>
                  <a:rPr lang="en-US" sz="800" b="1" noProof="0" dirty="0"/>
                  <a:t>)</a:t>
                </a:r>
              </a:p>
              <a:p>
                <a:endParaRPr lang="en-US" sz="800" noProof="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13517C7-A227-D62A-DCAB-CDC2F471BD8C}"/>
                  </a:ext>
                </a:extLst>
              </p:cNvPr>
              <p:cNvSpPr txBox="1"/>
              <p:nvPr/>
            </p:nvSpPr>
            <p:spPr>
              <a:xfrm>
                <a:off x="5420731" y="927628"/>
                <a:ext cx="1612713" cy="1860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noProof="0" dirty="0"/>
                  <a:t>Normal</a:t>
                </a: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3C3A478-BE8F-5D82-6CCD-8A95C1383555}"/>
                </a:ext>
              </a:extLst>
            </p:cNvPr>
            <p:cNvSpPr txBox="1"/>
            <p:nvPr/>
          </p:nvSpPr>
          <p:spPr>
            <a:xfrm>
              <a:off x="365810" y="4648286"/>
              <a:ext cx="166475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800" dirty="0"/>
                <a:t>curve(</a:t>
              </a:r>
              <a:r>
                <a:rPr lang="en-GB" sz="800" dirty="0" err="1"/>
                <a:t>dnorm</a:t>
              </a:r>
              <a:r>
                <a:rPr lang="en-GB" sz="800" dirty="0"/>
                <a:t>(x, 0, 1), add = TRUE)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7622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750</TotalTime>
  <Words>10642</Words>
  <Application>Microsoft Office PowerPoint</Application>
  <PresentationFormat>A4 Paper (210x297 mm)</PresentationFormat>
  <Paragraphs>731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Arial Unicode MS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Gutzeit</dc:creator>
  <cp:lastModifiedBy>Ben Gutzeit</cp:lastModifiedBy>
  <cp:revision>4</cp:revision>
  <cp:lastPrinted>2026-02-02T10:44:12Z</cp:lastPrinted>
  <dcterms:created xsi:type="dcterms:W3CDTF">2026-01-22T17:04:04Z</dcterms:created>
  <dcterms:modified xsi:type="dcterms:W3CDTF">2026-02-04T21:49:15Z</dcterms:modified>
</cp:coreProperties>
</file>